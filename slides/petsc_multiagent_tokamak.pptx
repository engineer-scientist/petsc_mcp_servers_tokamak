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6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694"/>
  </p:normalViewPr>
  <p:slideViewPr>
    <p:cSldViewPr snapToGrid="0" showGuides="1">
      <p:cViewPr varScale="1">
        <p:scale>
          <a:sx n="156" d="100"/>
          <a:sy n="156" d="100"/>
        </p:scale>
        <p:origin x="1184" y="168"/>
      </p:cViewPr>
      <p:guideLst>
        <p:guide pos="396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51B2D-8B53-F842-85C8-79563F24CCA1}" type="datetimeFigureOut">
              <a:rPr lang="en-US" smtClean="0"/>
              <a:t>3/27/25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37472-F350-E648-BF73-5FBCC1A16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1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7.jpe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A47E31-79AA-6498-BB50-34DBC4F5E4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4566547"/>
            <a:ext cx="1581735" cy="548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B4A7C-9367-147A-F4E6-9D55ED706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4488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30F12D-B614-7EB2-5E16-F4CD0DB2A5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0684"/>
            <a:ext cx="9144000" cy="44993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329" y="923382"/>
            <a:ext cx="5002306" cy="2057400"/>
          </a:xfrm>
          <a:solidFill>
            <a:schemeClr val="accent2">
              <a:alpha val="85000"/>
            </a:schemeClr>
          </a:solidFill>
        </p:spPr>
        <p:txBody>
          <a:bodyPr lIns="228600" rIns="182880" bIns="0" anchor="ctr" anchorCtr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B593A0-1381-9E08-C43E-02227E369EC8}"/>
              </a:ext>
            </a:extLst>
          </p:cNvPr>
          <p:cNvSpPr/>
          <p:nvPr userDrawn="1"/>
        </p:nvSpPr>
        <p:spPr>
          <a:xfrm>
            <a:off x="-1271" y="923382"/>
            <a:ext cx="2286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840A56-6BA9-8FE9-4544-1F2426DC07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9542" y="923382"/>
            <a:ext cx="3911600" cy="2057400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3552" y="243457"/>
            <a:ext cx="2562036" cy="67094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MONTH DAY, YEAR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8C1237-9E9A-A9B9-D997-F971E7E40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90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F23F5504-504E-35E3-02E6-1E4869CD6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90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64C7D51-4165-B55A-4253-6B2637C72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4286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F0DE6988-954D-993F-40F1-7BB0D8A8E0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286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BBA2D86-84B3-B15A-ACC9-771B8BA77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1867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9F09511A-BF35-DDA5-9473-7AD4769E5B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867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DF84A2-97DD-B454-FC08-EA8AE492B4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5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A47E31-79AA-6498-BB50-34DBC4F5E4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236900"/>
            <a:ext cx="1581914" cy="548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329" y="914400"/>
            <a:ext cx="5002306" cy="2057400"/>
          </a:xfrm>
          <a:solidFill>
            <a:schemeClr val="accent2"/>
          </a:solidFill>
        </p:spPr>
        <p:txBody>
          <a:bodyPr lIns="228600" rIns="182880" bIns="0" anchor="ctr" anchorCtr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B593A0-1381-9E08-C43E-02227E369EC8}"/>
              </a:ext>
            </a:extLst>
          </p:cNvPr>
          <p:cNvSpPr/>
          <p:nvPr userDrawn="1"/>
        </p:nvSpPr>
        <p:spPr>
          <a:xfrm>
            <a:off x="-1271" y="914400"/>
            <a:ext cx="2286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840A56-6BA9-8FE9-4544-1F2426DC07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9542" y="914400"/>
            <a:ext cx="3911600" cy="2057400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3552" y="238125"/>
            <a:ext cx="4765990" cy="6762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1" cap="all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one line subhead, </a:t>
            </a:r>
            <a:r>
              <a:rPr lang="en-US" dirty="0" err="1"/>
              <a:t>url</a:t>
            </a:r>
            <a:r>
              <a:rPr lang="en-US" dirty="0"/>
              <a:t> or date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8C1237-9E9A-A9B9-D997-F971E7E40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90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F23F5504-504E-35E3-02E6-1E4869CD6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90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64C7D51-4165-B55A-4253-6B2637C72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565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F0DE6988-954D-993F-40F1-7BB0D8A8E0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565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BBA2D86-84B3-B15A-ACC9-771B8BA77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1867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9F09511A-BF35-DDA5-9473-7AD4769E5B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867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34AD4-28D0-93A6-9DF2-B7249F6616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18671" y="4298950"/>
            <a:ext cx="2720529" cy="4206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 dirty="0"/>
              <a:t>Presentation Date</a:t>
            </a:r>
          </a:p>
          <a:p>
            <a:pPr lvl="0"/>
            <a:r>
              <a:rPr lang="en-US" dirty="0"/>
              <a:t>City, State (presentation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55E8F-31B4-9906-E183-E3D6FF6BBD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8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4488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0684"/>
            <a:ext cx="9144000" cy="4499372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6CA2449B-096C-80E6-9654-D9E3FA712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71" y="0"/>
            <a:ext cx="8840471" cy="4488688"/>
          </a:xfrm>
        </p:spPr>
        <p:txBody>
          <a:bodyPr lIns="457200" bIns="18288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in section break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B3E30E-2B22-CE97-1F6D-EFD55575A7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4566547"/>
            <a:ext cx="1581914" cy="548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74AC7F-2AEC-798E-8861-0B2D883969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7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, Sub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1F04F-3CF4-D566-EF9D-9CDCD0B981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476E8C9-921B-17FC-9AEA-348F1AA2B0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31925"/>
            <a:ext cx="7315200" cy="3273425"/>
          </a:xfrm>
        </p:spPr>
        <p:txBody>
          <a:bodyPr/>
          <a:lstStyle/>
          <a:p>
            <a:pPr lvl="0"/>
            <a:r>
              <a:rPr lang="en-US" dirty="0"/>
              <a:t>Click to add 1st-level bullet. Click an icon below to add table, graph or other imagery.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828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</p:spTree>
    <p:extLst>
      <p:ext uri="{BB962C8B-B14F-4D97-AF65-F5344CB8AC3E}">
        <p14:creationId xmlns:p14="http://schemas.microsoft.com/office/powerpoint/2010/main" val="143321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984334"/>
            <a:ext cx="4085546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28673" y="1984334"/>
            <a:ext cx="4110527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435694"/>
            <a:ext cx="4085546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8673" y="1435694"/>
            <a:ext cx="4110527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12588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3175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3175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9152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7534E44-91EA-211B-EF04-8BE09DECD7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9152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363329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555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7555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391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7534E44-91EA-211B-EF04-8BE09DECD7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391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8AC771-2E8E-7334-4620-6CED5E4A62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12280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E75F18B-928B-D8CD-3AFB-13FF334E0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12280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24722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3E177C-05C2-2929-E159-59F77C2B05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5BD39A8-85FE-CB4E-DA30-754FE0F059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5145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6BFCC75-DA07-6A20-4D5D-105B7F301F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E55B475-E521-6A8A-893B-8CC38F9BE3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5145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FB5CAF5-E85F-409D-2880-F0B6067F61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5718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7E8E80F-1B5F-5D3E-2409-0CF04DE318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45718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66346B3-56E4-FB00-E652-E796F6986D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37786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8A2202FD-33BC-0BA1-F754-345C59A68C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7786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EB459E5-6A74-A385-F343-520C27E1C2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83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0070C8D-6CB9-4F0F-A4BF-CBB734703C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83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</p:spTree>
    <p:extLst>
      <p:ext uri="{BB962C8B-B14F-4D97-AF65-F5344CB8AC3E}">
        <p14:creationId xmlns:p14="http://schemas.microsoft.com/office/powerpoint/2010/main" val="327377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4 block big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628" y="1657348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31138" y="1657349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4492F8F-BB13-4522-9262-D3D4E3E358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962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9A5E982-F2D5-FC63-C9EC-95A25009EE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3113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</p:spTree>
    <p:extLst>
      <p:ext uri="{BB962C8B-B14F-4D97-AF65-F5344CB8AC3E}">
        <p14:creationId xmlns:p14="http://schemas.microsoft.com/office/powerpoint/2010/main" val="400889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3 colum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3711575"/>
            <a:ext cx="2679698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02949" y="3711575"/>
            <a:ext cx="2679695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9500" y="3711575"/>
            <a:ext cx="2679700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117CC75-B838-68D6-2E0E-876246E59A7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7199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4614E93-F67D-FFB0-1593-0C05E96A4F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295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F202DA5-E559-E016-1658-76A0FFD0A7A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950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9A614F-1746-5E7E-6E40-C0C352E3B87C}"/>
              </a:ext>
            </a:extLst>
          </p:cNvPr>
          <p:cNvCxnSpPr/>
          <p:nvPr userDrawn="1"/>
        </p:nvCxnSpPr>
        <p:spPr>
          <a:xfrm>
            <a:off x="321992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24D771-DA9F-AFF7-8014-770E6875CD71}"/>
              </a:ext>
            </a:extLst>
          </p:cNvPr>
          <p:cNvCxnSpPr/>
          <p:nvPr userDrawn="1"/>
        </p:nvCxnSpPr>
        <p:spPr>
          <a:xfrm>
            <a:off x="607849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4BDB185A-767C-30D3-5FC4-487AEE46B025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9144000" cy="5143500"/>
          </a:xfrm>
          <a:solidFill>
            <a:schemeClr val="tx1"/>
          </a:solidFill>
        </p:spPr>
        <p:txBody>
          <a:bodyPr lIns="0" tIns="137160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VIDEO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9493A-47CC-919A-B438-67612BC54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in all caps 28pt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2503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8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AD80AF-1545-2888-DC5C-2ACBBB58F5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586265" y="1304924"/>
            <a:ext cx="5971470" cy="2336662"/>
            <a:chOff x="4398" y="-378"/>
            <a:chExt cx="1104" cy="4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CD385B-D85D-B64D-C7C5-0741D4FDA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-378"/>
              <a:ext cx="1104" cy="432"/>
            </a:xfrm>
            <a:prstGeom prst="rect">
              <a:avLst/>
            </a:prstGeom>
            <a:noFill/>
            <a:ln w="0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565DEB9-167C-3795-A7E1-78040F365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8" y="-264"/>
              <a:ext cx="194" cy="168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FE0E757-FE52-0454-B46D-2E78143B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-60"/>
              <a:ext cx="28" cy="34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232BC4C-7669-EF14-BF72-E10264276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6" y="-60"/>
              <a:ext cx="31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9CB1566-3B6F-D974-B99B-98362F89B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8EB310-A2A0-95FF-5EA7-C095B7DE6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-60"/>
              <a:ext cx="7" cy="34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66B2319-5837-09EE-F1F7-D88A4F547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5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3CE8EC-1722-1CDF-4233-5020330DE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E8FFFD1-62A4-349B-CC3F-92AB9CA1C9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8" y="-60"/>
              <a:ext cx="31" cy="34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E84AAD6-D7E3-BA42-F46F-C703A1E12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37E8A8B-0E42-BBAB-948B-135BA959A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CB36C56-30D2-744F-C850-901ED90BE8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60"/>
              <a:ext cx="31" cy="34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40A1785-166A-8C92-FEC2-E6E478BBF6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7" y="-60"/>
              <a:ext cx="23" cy="34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D14BA40-FA0A-AEE8-AAB4-A326F9913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7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53EFE26-AADB-5300-83B9-45257C4CF1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6" y="-60"/>
              <a:ext cx="24" cy="34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9A2957D-AF01-C662-87B7-53C079509D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5" y="-60"/>
              <a:ext cx="31" cy="34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4F28FD7-5217-9241-6FC8-3E7395B83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13" y="-60"/>
              <a:ext cx="24" cy="34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9D481BF-CB2D-A7C3-4C4D-511365071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5" y="-60"/>
              <a:ext cx="30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F294EDE-59D8-BED8-7D48-96D6C020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A351A76-FF7A-054E-DAC1-AE30A3924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1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5153723-E9C0-3E32-FDFC-B9C26DD0C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5" y="-230"/>
              <a:ext cx="115" cy="132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173713A-E6BD-D8B0-6BA4-46555FEBE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197"/>
              <a:ext cx="47" cy="99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B3DBC03-9BE5-866F-6785-87A56284F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4" y="-197"/>
              <a:ext cx="94" cy="151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4CB488D-89A1-9496-B5EA-6DDDCE7C66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2" y="-197"/>
              <a:ext cx="90" cy="101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2B6D05-26D1-7D26-324D-082520DB6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-198"/>
              <a:ext cx="78" cy="100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998B92-58EA-387E-5784-4DDD979F4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-198"/>
              <a:ext cx="77" cy="100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56C46F5-2C31-BDC3-35E1-7087BBFFE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197"/>
              <a:ext cx="81" cy="101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13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 DO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8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6EAD72-ACE3-58B2-05E0-199FBEA355E2}"/>
              </a:ext>
            </a:extLst>
          </p:cNvPr>
          <p:cNvGrpSpPr/>
          <p:nvPr userDrawn="1"/>
        </p:nvGrpSpPr>
        <p:grpSpPr>
          <a:xfrm>
            <a:off x="1016153" y="2179943"/>
            <a:ext cx="3176801" cy="852400"/>
            <a:chOff x="921159" y="2169231"/>
            <a:chExt cx="2098944" cy="563189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92F3FF0-EF03-9DDD-3A6F-6752ED1603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1033" y="2169231"/>
              <a:ext cx="459070" cy="397545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A9B6C0B-D8E0-FBEC-188A-90B324FB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932" y="2651964"/>
              <a:ext cx="66258" cy="80456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D34245F-91F6-675D-0161-975607FB4E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0754" y="2651964"/>
              <a:ext cx="73357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B80F258-676D-38DD-F768-1F7009400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843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3FB4BC-8E86-BF21-E7DB-50A6AD93E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200" y="2651964"/>
              <a:ext cx="16564" cy="80456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558D9F5-8DA3-2C55-EF2C-4E3C8B9372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7695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6A1F83F-2FA7-029D-A639-6622C6438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616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B924EC1-D62D-244C-1910-578F30F44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0438" y="2651964"/>
              <a:ext cx="73357" cy="80456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E569B6-DF89-6FCC-1D71-EEAB95E1C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359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E8D1774-4E0C-F3E6-24B8-B74121382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280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8B4D9F1-53D7-1C4F-12DF-A312FAD3F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651964"/>
              <a:ext cx="73357" cy="80456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DF51265-9C31-4D79-2138-F19670D244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9360" y="2651964"/>
              <a:ext cx="54426" cy="80456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6E538D9-F0E9-42CF-5DCB-3D4EBD4CCA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0350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BF2FBD0-8400-6675-E82F-4B90633079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2637" y="2651964"/>
              <a:ext cx="56792" cy="80456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2D30328-A51C-53FB-8209-564E27CAB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3241" y="2651964"/>
              <a:ext cx="73357" cy="80456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FD16D5B-931B-0128-A1A4-90E97E7BBD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3162" y="2651964"/>
              <a:ext cx="56792" cy="80456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2876C20-FE73-31D0-67F2-EB7917ABD7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1261" y="2651964"/>
              <a:ext cx="70990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CFFAEC3-759A-B591-0853-1280BD83E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984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22D4BAB-F924-B047-CC79-84D282515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420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A1F35CF-3769-19E3-4BF1-534257665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159" y="2249686"/>
              <a:ext cx="272129" cy="312357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5CC2208-1754-ACCD-8285-B18BC9479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050" y="2327776"/>
              <a:ext cx="111218" cy="234268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B7587BD-FD32-E10C-E06B-69806FAF85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4734" y="2327776"/>
              <a:ext cx="222436" cy="357317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86C3A47-966E-8DF9-31DC-730F1AA8E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6635" y="2327776"/>
              <a:ext cx="212971" cy="239000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AE29258-C776-91F7-ACDE-D7872520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368" y="2325409"/>
              <a:ext cx="184575" cy="236634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5B86B4B-65CC-8B99-06C6-97CDE959A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101" y="2325409"/>
              <a:ext cx="182208" cy="236634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917A3ED-11CD-D5A1-975B-A2A055B7A6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327776"/>
              <a:ext cx="191674" cy="239000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A4D4FE-067F-9CAF-8873-A2B16F48B3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7401" y="2160184"/>
            <a:ext cx="3336661" cy="95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7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74652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Headline in all caps 28pt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5608"/>
            <a:ext cx="7315200" cy="32697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10063" y="4891056"/>
            <a:ext cx="523875" cy="1100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D5998-E33A-DA32-910D-D06CB262005E}"/>
              </a:ext>
            </a:extLst>
          </p:cNvPr>
          <p:cNvSpPr/>
          <p:nvPr userDrawn="1"/>
        </p:nvSpPr>
        <p:spPr>
          <a:xfrm>
            <a:off x="0" y="-2"/>
            <a:ext cx="228600" cy="5143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C6D3E52-9083-DC08-10B3-FB4576900BEF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03235" y="4808444"/>
            <a:ext cx="776895" cy="2694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48B5C0-033F-F29C-4316-1C704BB1EFD7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0" y="4827893"/>
            <a:ext cx="1499616" cy="18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0" r:id="rId3"/>
    <p:sldLayoutId id="2147483662" r:id="rId4"/>
    <p:sldLayoutId id="2147483668" r:id="rId5"/>
    <p:sldLayoutId id="2147483671" r:id="rId6"/>
    <p:sldLayoutId id="2147483678" r:id="rId7"/>
    <p:sldLayoutId id="2147483682" r:id="rId8"/>
    <p:sldLayoutId id="2147483679" r:id="rId9"/>
    <p:sldLayoutId id="2147483683" r:id="rId10"/>
    <p:sldLayoutId id="2147483680" r:id="rId11"/>
    <p:sldLayoutId id="2147483681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marL="0" marR="0" indent="0" algn="l" defTabSz="6858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2800" b="1" i="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64592" indent="-164592" algn="l" defTabSz="6858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5603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7850" indent="-142875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2013" indent="-25603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31875" indent="-16459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»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C35EA4"/>
          </p15:clr>
        </p15:guide>
        <p15:guide id="2" orient="horz" pos="1620" userDrawn="1">
          <p15:clr>
            <a:srgbClr val="C35EA4"/>
          </p15:clr>
        </p15:guide>
        <p15:guide id="3" pos="144" userDrawn="1">
          <p15:clr>
            <a:srgbClr val="C35EA4"/>
          </p15:clr>
        </p15:guide>
        <p15:guide id="4" pos="288" userDrawn="1">
          <p15:clr>
            <a:srgbClr val="C35EA4"/>
          </p15:clr>
        </p15:guide>
        <p15:guide id="5" orient="horz" pos="576" userDrawn="1">
          <p15:clr>
            <a:srgbClr val="C35EA4"/>
          </p15:clr>
        </p15:guide>
        <p15:guide id="6" orient="horz" pos="2964" userDrawn="1">
          <p15:clr>
            <a:srgbClr val="C35EA4"/>
          </p15:clr>
        </p15:guide>
        <p15:guide id="7" pos="5568" userDrawn="1">
          <p15:clr>
            <a:srgbClr val="C35EA4"/>
          </p15:clr>
        </p15:guide>
        <p15:guide id="8" orient="horz" pos="902" userDrawn="1">
          <p15:clr>
            <a:srgbClr val="C35EA4"/>
          </p15:clr>
        </p15:guide>
        <p15:guide id="9" orient="horz" pos="780" userDrawn="1">
          <p15:clr>
            <a:srgbClr val="C35EA4"/>
          </p15:clr>
        </p15:guide>
        <p15:guide id="10" orient="horz" pos="150" userDrawn="1">
          <p15:clr>
            <a:srgbClr val="C35EA4"/>
          </p15:clr>
        </p15:guide>
        <p15:guide id="11" orient="horz" pos="3132" userDrawn="1">
          <p15:clr>
            <a:srgbClr val="C35EA4"/>
          </p15:clr>
        </p15:guide>
        <p15:guide id="12" orient="horz" pos="1044" userDrawn="1">
          <p15:clr>
            <a:srgbClr val="C35E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Problem-to-Solution Generation</a:t>
            </a:r>
          </a:p>
          <a:p>
            <a:r>
              <a:t>for a Tokamak Fusion-Plasma Simulation</a:t>
            </a:r>
          </a:p>
        </p:txBody>
      </p:sp>
      <p:pic>
        <p:nvPicPr>
          <p:cNvPr id="3" name="Picture Placeholder 2" descr="schematic of nuclear fusion power plant.pn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5895" b="5895"/>
          <a:stretch>
            <a:fillRect/>
          </a:stretch>
        </p:blipFill>
        <p:spPr/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hierarchical multi-agent PETSc system — applied and verified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Presenter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[PRESENTER NAME]</a:t>
            </a:r>
          </a:p>
          <a:p>
            <a:r>
              <a:t>Summer 2026 Intern, Argonne National Laboratory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Event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Argonne Summer 2026</a:t>
            </a:r>
          </a:p>
          <a:p>
            <a:r>
              <a:t>Intern Presentation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Date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fusion energy needs trustworthy simulation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Fusion could be a near-limitless clean energy source — if we can confine the plasma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>
          <a:xfrm>
            <a:off x="457200" y="1463040"/>
            <a:ext cx="4754880" cy="3291840"/>
          </a:xfrm>
        </p:spPr>
        <p:txBody>
          <a:bodyPr wrap="square"/>
          <a:lstStyle/>
          <a:p>
            <a:pPr/>
            <a:r>
              <a:rPr sz="1500"/>
              <a:t>Fusion fuses light nuclei (deuterium + tritium) to release energy — the reaction that powers the Sun.</a:t>
            </a:r>
          </a:p>
          <a:p>
            <a:pPr/>
            <a:r>
              <a:rPr sz="1500"/>
              <a:t>A tokamak confines a ~150-million-°C plasma in a magnetic “cage” long enough to fuse.</a:t>
            </a:r>
          </a:p>
          <a:p>
            <a:pPr/>
            <a:r>
              <a:rPr sz="1500"/>
              <a:t>Getting there is a simulation problem: predict the plasma before building costly hardware.</a:t>
            </a:r>
          </a:p>
          <a:p>
            <a:pPr/>
            <a:r>
              <a:rPr sz="1500"/>
              <a:t>Simulations must be trustworthy — a plausible-looking wrong answer is worse than none.</a:t>
            </a:r>
          </a:p>
        </p:txBody>
      </p:sp>
      <p:pic>
        <p:nvPicPr>
          <p:cNvPr id="5" name="Picture 4" descr="DT nuclear fusion schematic (GG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554480"/>
            <a:ext cx="27432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4343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5A5A"/>
                </a:solidFill>
              </a:rPr>
              <a:t>Deuterium–tritium fusion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modeling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Turning fusion physics into correct, fast HPC code needs scarce, implicit expertise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>
          <a:xfrm>
            <a:off x="457200" y="1463040"/>
            <a:ext cx="4754880" cy="3291840"/>
          </a:xfrm>
        </p:spPr>
        <p:txBody>
          <a:bodyPr wrap="square"/>
          <a:lstStyle/>
          <a:p>
            <a:pPr/>
            <a:r>
              <a:rPr sz="1500"/>
              <a:t>Numerical methods: choose grids, discretizations, and solvers that actually converge.</a:t>
            </a:r>
          </a:p>
          <a:p>
            <a:pPr/>
            <a:r>
              <a:rPr sz="1500"/>
              <a:t>Libraries &amp; parallelism: express it in PETSc and run on many CPU cores / GPUs.</a:t>
            </a:r>
          </a:p>
          <a:p>
            <a:pPr/>
            <a:r>
              <a:rPr sz="1500"/>
              <a:t>Verification: prove the computed answer is right, not merely plausible.</a:t>
            </a:r>
          </a:p>
          <a:p>
            <a:pPr/>
            <a:r>
              <a:rPr sz="1500"/>
              <a:t>Question: can a multi-agent AI system automate this whole path — and can we trust it?</a:t>
            </a:r>
          </a:p>
        </p:txBody>
      </p:sp>
      <p:pic>
        <p:nvPicPr>
          <p:cNvPr id="5" name="Picture 4" descr="doe-explains-tokama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86797"/>
            <a:ext cx="3383280" cy="24785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4343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5A5A"/>
                </a:solidFill>
              </a:rPr>
              <a:t>Tokamak magnetic confinement (U.S. DOE)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Grad–Shafranov equilibrium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Axisymmetric ideal-MHD force balance for the poloidal flux ψ(R,Z)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>
          <a:xfrm>
            <a:off x="457200" y="1463040"/>
            <a:ext cx="4754880" cy="3291840"/>
          </a:xfrm>
        </p:spPr>
        <p:txBody>
          <a:bodyPr wrap="square"/>
          <a:lstStyle/>
          <a:p>
            <a:pPr/>
            <a:r>
              <a:rPr sz="1500"/>
              <a:t>Δ*ψ = −μ₀R² p′(ψ) − F F′(ψ) — elliptic, nonlinear, time-independent.</a:t>
            </a:r>
          </a:p>
          <a:p>
            <a:pPr/>
            <a:r>
              <a:rPr sz="1500"/>
              <a:t>Its solution gives the flux surfaces, magnetic axis, and safety factor q.</a:t>
            </a:r>
          </a:p>
          <a:p>
            <a:pPr/>
            <a:r>
              <a:rPr sz="1500"/>
              <a:t>A natural PETSc SNES (nonlinear solver) problem.</a:t>
            </a:r>
          </a:p>
          <a:p>
            <a:pPr/>
            <a:r>
              <a:rPr sz="1500"/>
              <a:t>Verifiable: a manufactured exact solution gives a rigorous convergence test.</a:t>
            </a:r>
          </a:p>
        </p:txBody>
      </p:sp>
      <p:pic>
        <p:nvPicPr>
          <p:cNvPr id="5" name="Picture 4" descr="gs_flux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382" y="1554480"/>
            <a:ext cx="2351314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4343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5A5A"/>
                </a:solidFill>
              </a:rPr>
              <a:t>Flux surfaces of the verified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system: a 3-layer multi-agent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PETSc’s Model-Context-Protocol (MCP) agents, coordinated end to end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/>
            <a:r>
              <a:rPr sz="1500"/>
              <a:t>Problem definition — Mathematical Modeling agent → strong/weak form, name, time-dependence.</a:t>
            </a:r>
          </a:p>
          <a:p>
            <a:pPr/>
            <a:r>
              <a:rPr sz="1500"/>
              <a:t>Agent execution — Numerical Analysis agent → grid, discretization, solver (SNES).</a:t>
            </a:r>
          </a:p>
          <a:p>
            <a:pPr/>
            <a:r>
              <a:rPr sz="1500"/>
              <a:t>Agent execution — HPC Code Generation agent → writes, compiles &amp; runs PETSc C.</a:t>
            </a:r>
          </a:p>
          <a:p>
            <a:pPr/>
            <a:r>
              <a:rPr sz="1500"/>
              <a:t>Execution substrate — compile-run agent (make / run on the real machine).</a:t>
            </a:r>
          </a:p>
          <a:p>
            <a:pPr/>
            <a:r>
              <a:rPr sz="1500"/>
              <a:t>All agents run against Argonne’s Argo gateway (Claude Opus 4.8).</a:t>
            </a:r>
          </a:p>
          <a:p>
            <a:pPr/>
            <a:r>
              <a:rPr sz="1500"/>
              <a:t>A project-owned driver records every artifact with provenance (reproducible, resumable).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pipeline in 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From one English prompt to a compiled, running solver — with no human edits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/>
            <a:r>
              <a:rPr sz="1500"/>
              <a:t>Prompt: “the Grad-Shafranov equilibrium for the plasma in a tokamak.”</a:t>
            </a:r>
          </a:p>
          <a:p>
            <a:pPr/>
            <a:r>
              <a:rPr sz="1500"/>
              <a:t>Modeling agent → identified ‘Grad-Shafranov equation’; time-dependent = False.</a:t>
            </a:r>
          </a:p>
          <a:p>
            <a:pPr/>
            <a:r>
              <a:rPr sz="1500"/>
              <a:t>Numerical Analysis agent → nonlinear solve with SNES on a structured grid.</a:t>
            </a:r>
          </a:p>
          <a:p>
            <a:pPr/>
            <a:r>
              <a:rPr sz="1500"/>
              <a:t>Code Generation agent → 267-line PETSc program (DMDA + SNES + true Jacobian).</a:t>
            </a:r>
          </a:p>
          <a:p>
            <a:pPr/>
            <a:r>
              <a:rPr sz="1500"/>
              <a:t>Compiled and ran on 1 and 4 MPI ranks — no human edits.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agent-generated PETSc solver (excerpt)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 true-Jacobian finite-difference SNES residual — written by the Code Generation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8229600" cy="301752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008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39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F1F1F"/>
                </a:solidFill>
                <a:latin typeface="Consolas"/>
              </a:rPr>
              <a:t>static PetscErrorCode FormFunction(SNES snes, Vec X, Vec F, void *ctx){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  /* Delta*_h psi = (psi_E-2psi_C+psi_W)/hR^2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                  - (1/R)(psi_E-psi_W)/(2hR)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                  + (psi_N-2psi_C+psi_S)/hZ^2   */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  f[j][i] = dRR - dR1/R + dZZ - ForcingF(user,R,Z);   /* residual */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SNESSetFunction(snes, r, FormFunction, &amp;user);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SNESSetJacobian(snes, J, J, FormJacobian, &amp;user);   /* true Jacobian */</a:t>
            </a:r>
          </a:p>
          <a:p>
            <a:r>
              <a:rPr sz="1200">
                <a:solidFill>
                  <a:srgbClr val="1F1F1F"/>
                </a:solidFill>
                <a:latin typeface="Consolas"/>
              </a:rPr>
              <a:t>SNESSolve(snes, NULL, x);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Verification: it is actually right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Method of manufactured solutions — a measured order of accuracy, not just plausible output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>
          <a:xfrm>
            <a:off x="457200" y="1463040"/>
            <a:ext cx="4754880" cy="3291840"/>
          </a:xfrm>
        </p:spPr>
        <p:txBody>
          <a:bodyPr wrap="square"/>
          <a:lstStyle/>
          <a:p>
            <a:pPr/>
            <a:r>
              <a:rPr sz="1500"/>
              <a:t>Known exact ψ → check the numerical error as the grid refines.</a:t>
            </a:r>
          </a:p>
          <a:p>
            <a:pPr/>
            <a:r>
              <a:rPr sz="1500"/>
              <a:t>Max-norm error = 1.32e-05 on the finest 257² grid.</a:t>
            </a:r>
          </a:p>
          <a:p>
            <a:pPr/>
            <a:r>
              <a:rPr sz="1500"/>
              <a:t>Observed order of accuracy p = 2.00, 2.00, 2.00 (expected 2 for central differences).</a:t>
            </a:r>
          </a:p>
          <a:p>
            <a:pPr/>
            <a:r>
              <a:rPr sz="1500"/>
              <a:t>SNES converged: CONVERGED_FNORM_RELATIVE.</a:t>
            </a:r>
          </a:p>
        </p:txBody>
      </p:sp>
      <p:pic>
        <p:nvPicPr>
          <p:cNvPr id="5" name="Picture 4" descr="gs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57349"/>
            <a:ext cx="3383280" cy="25374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0" y="434340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5A5A5A"/>
                </a:solidFill>
              </a:rPr>
              <a:t>Manufactured-solution convergence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Decision-gate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Correctness, human effort, and efficiency — the numbers behind the demo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/>
            <a:r>
              <a:rPr sz="1500"/>
              <a:t>Correctness: model identified ✓, compiled &amp; ran ✓, 2nd-order convergence ✓.</a:t>
            </a:r>
          </a:p>
          <a:p>
            <a:pPr/>
            <a:r>
              <a:rPr sz="1500"/>
              <a:t>Human effort: 0 lines of solver code hand-written — it was generated.</a:t>
            </a:r>
          </a:p>
          <a:p>
            <a:pPr/>
            <a:r>
              <a:rPr sz="1500"/>
              <a:t>Efficiency: total wall-clock ≈ 450.8 s; code-gen used 5 tool calls.</a:t>
            </a:r>
          </a:p>
          <a:p>
            <a:pPr/>
            <a:r>
              <a:rPr sz="1500"/>
              <a:t>≈ 23 LLM completions across the whole pipeline.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Fully autonomous: the built-in orchestrator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shipped LLM orchestrator drives all four agents itself — no Python driver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/>
            <a:r>
              <a:rPr sz="1500"/>
              <a:t>Given only the prompt, an inner Claude agent sequenced all four MCP servers on its own.</a:t>
            </a:r>
          </a:p>
          <a:p>
            <a:pPr/>
            <a:r>
              <a:rPr sz="1500"/>
              <a:t>It independently chose a Solov’ev Grad–Shafranov model and a DMPLEX + PetscFE finite-element solve.</a:t>
            </a:r>
          </a:p>
          <a:p>
            <a:pPr/>
            <a:r>
              <a:rPr sz="1500"/>
              <a:t>The generated code compiled cleanly and ran: 225 DOFs, L2 norm ψ = 2.04, return code 0.</a:t>
            </a:r>
          </a:p>
          <a:p>
            <a:pPr/>
            <a:r>
              <a:rPr sz="1500"/>
              <a:t>It surfaced a real upstream bug — a hardcoded iteration cap flagged a converged run as failure.</a:t>
            </a:r>
          </a:p>
          <a:p>
            <a:pPr/>
            <a:r>
              <a:rPr sz="1500"/>
              <a:t>We fixed it and contributed the patch; the re-run finished: “I have completed the orchestration.”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built and contributed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Reusable tooling around the agents, plus fixes contributed back upstream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/>
            <a:r>
              <a:rPr sz="1500"/>
              <a:t>A project-owned orchestration driver with full artifact provenance (resumable).</a:t>
            </a:r>
          </a:p>
          <a:p>
            <a:pPr/>
            <a:r>
              <a:rPr sz="1500"/>
              <a:t>Verification + post-processing (convergence, flux surfaces) and a metrics harness.</a:t>
            </a:r>
          </a:p>
          <a:p>
            <a:pPr/>
            <a:r>
              <a:rPr sz="1500"/>
              <a:t>Four fixes contributed back to the open PETSc multi-agent system:</a:t>
            </a:r>
          </a:p>
          <a:p>
            <a:pPr lvl="1"/>
            <a:r>
              <a:rPr sz="1300"/>
              <a:t>CWD-independent server resolution; portable stdio interpreter</a:t>
            </a:r>
          </a:p>
          <a:p>
            <a:pPr lvl="1"/>
            <a:r>
              <a:rPr sz="1300"/>
              <a:t>graceful operation without the documentation / RAG services</a:t>
            </a:r>
          </a:p>
          <a:p>
            <a:pPr lvl="1"/>
            <a:r>
              <a:rPr sz="1300"/>
              <a:t>code-generation and orchestrator loops that reliably capture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 &amp;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 verification-driven multi-agent path from prompt to trustworthy HPC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/>
            <a:r>
              <a:rPr sz="1500"/>
              <a:t>A multi-agent system generated a correct, verified PETSc fusion-MHD solver from a prompt.</a:t>
            </a:r>
          </a:p>
          <a:p>
            <a:pPr/>
            <a:r>
              <a:rPr sz="1500"/>
              <a:t>Both the Python driver and the fully-autonomous orchestrator succeeded end to end.</a:t>
            </a:r>
          </a:p>
          <a:p>
            <a:pPr/>
            <a:r>
              <a:rPr sz="1500"/>
              <a:t>Verification-driven: convergence + exact-solution checks, not just plausible output.</a:t>
            </a:r>
          </a:p>
          <a:p>
            <a:pPr/>
            <a:r>
              <a:rPr sz="1500"/>
              <a:t>Next: shaped real-machine equilibria (Solov’ev / Cerfon–Freidberg), q-profile, GPU scale-up.</a:t>
            </a:r>
          </a:p>
          <a:p>
            <a:pPr/>
            <a:r>
              <a:rPr sz="1500"/>
              <a:t>Code + docs: github.com/engineer-scientist/petsc_mcp_servers_tokamak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gonne">
      <a:dk1>
        <a:srgbClr val="000000"/>
      </a:dk1>
      <a:lt1>
        <a:srgbClr val="FFFFFF"/>
      </a:lt1>
      <a:dk2>
        <a:srgbClr val="0082CA"/>
      </a:dk2>
      <a:lt2>
        <a:srgbClr val="F8B200"/>
      </a:lt2>
      <a:accent1>
        <a:srgbClr val="77B300"/>
      </a:accent1>
      <a:accent2>
        <a:srgbClr val="00609C"/>
      </a:accent2>
      <a:accent3>
        <a:srgbClr val="5B0091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304</TotalTime>
  <Words>3</Words>
  <Application>Microsoft Macintosh PowerPoint</Application>
  <PresentationFormat>On-screen Show (16:9)</PresentationFormat>
  <Paragraphs>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System Font Regular</vt:lpstr>
      <vt:lpstr>Wingdings</vt:lpstr>
      <vt:lpstr>Office Theme</vt:lpstr>
      <vt:lpstr>PowerPoint Presentation</vt:lpstr>
      <vt:lpstr>PowerPoint Presentation</vt:lpstr>
      <vt:lpstr>Section break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Soroko, Sonya</dc:creator>
  <cp:lastModifiedBy>Hotz, Cara Carpenter</cp:lastModifiedBy>
  <cp:revision>25</cp:revision>
  <dcterms:created xsi:type="dcterms:W3CDTF">2024-02-05T17:42:20Z</dcterms:created>
  <dcterms:modified xsi:type="dcterms:W3CDTF">2025-03-27T23:00:25Z</dcterms:modified>
</cp:coreProperties>
</file>