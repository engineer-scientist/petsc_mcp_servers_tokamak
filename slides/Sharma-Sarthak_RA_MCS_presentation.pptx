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70" r:id="rId3"/>
    <p:sldId id="257" r:id="rId4"/>
    <p:sldId id="272" r:id="rId5"/>
    <p:sldId id="269" r:id="rId6"/>
    <p:sldId id="258" r:id="rId7"/>
    <p:sldId id="259" r:id="rId8"/>
    <p:sldId id="260" r:id="rId9"/>
    <p:sldId id="271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3" r:id="rId18"/>
    <p:sldId id="274" r:id="rId19"/>
    <p:sldId id="268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60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9655"/>
    <p:restoredTop sz="94694"/>
  </p:normalViewPr>
  <p:slideViewPr>
    <p:cSldViewPr snapToGrid="0" showGuides="1">
      <p:cViewPr varScale="1">
        <p:scale>
          <a:sx n="138" d="100"/>
          <a:sy n="138" d="100"/>
        </p:scale>
        <p:origin x="1176" y="120"/>
      </p:cViewPr>
      <p:guideLst>
        <p:guide pos="396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251B2D-8B53-F842-85C8-79563F24CCA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37472-F350-E648-BF73-5FBCC1A16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212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BA47E31-79AA-6498-BB50-34DBC4F5E4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8785" y="4566547"/>
            <a:ext cx="1581735" cy="5486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BB4A7C-9367-147A-F4E6-9D55ED7060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2729" cy="44886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30F12D-B614-7EB2-5E16-F4CD0DB2A5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38"/>
          <a:stretch/>
        </p:blipFill>
        <p:spPr>
          <a:xfrm>
            <a:off x="0" y="-10684"/>
            <a:ext cx="9144000" cy="44993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7329" y="923382"/>
            <a:ext cx="5002306" cy="2057400"/>
          </a:xfrm>
          <a:solidFill>
            <a:schemeClr val="accent2">
              <a:alpha val="85000"/>
            </a:schemeClr>
          </a:solidFill>
        </p:spPr>
        <p:txBody>
          <a:bodyPr lIns="228600" rIns="182880" bIns="0" anchor="ctr" anchorCtr="0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 Cover option B </a:t>
            </a:r>
            <a:br>
              <a:rPr lang="en-US" dirty="0"/>
            </a:br>
            <a:r>
              <a:rPr lang="en-US" dirty="0"/>
              <a:t>can be up to four </a:t>
            </a:r>
            <a:br>
              <a:rPr lang="en-US" dirty="0"/>
            </a:br>
            <a:r>
              <a:rPr lang="en-US" dirty="0"/>
              <a:t>or five lines of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593A0-1381-9E08-C43E-02227E369EC8}"/>
              </a:ext>
            </a:extLst>
          </p:cNvPr>
          <p:cNvSpPr/>
          <p:nvPr userDrawn="1"/>
        </p:nvSpPr>
        <p:spPr>
          <a:xfrm>
            <a:off x="-1271" y="923382"/>
            <a:ext cx="228600" cy="2057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endParaRPr lang="en-US" sz="100">
              <a:solidFill>
                <a:schemeClr val="accent1"/>
              </a:solidFill>
            </a:endParaRP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F840A56-6BA9-8FE9-4544-1F2426DC070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29542" y="923382"/>
            <a:ext cx="3911600" cy="2057400"/>
          </a:xfrm>
          <a:solidFill>
            <a:schemeClr val="bg1">
              <a:lumMod val="75000"/>
            </a:schemeClr>
          </a:solidFill>
        </p:spPr>
        <p:txBody>
          <a:bodyPr tIns="182880"/>
          <a:lstStyle>
            <a:lvl1pPr marL="0" indent="0" algn="ctr">
              <a:buFontTx/>
              <a:buNone/>
              <a:defRPr/>
            </a:lvl1pPr>
          </a:lstStyle>
          <a:p>
            <a:r>
              <a:rPr lang="en-US" dirty="0"/>
              <a:t>Click icon to insert an image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63552" y="243457"/>
            <a:ext cx="2562036" cy="67094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1" cap="all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MONTH DAY, YEAR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1B8C1237-9E9A-A9B9-D997-F971E7E40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901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5" name="Text Placeholder 45">
            <a:extLst>
              <a:ext uri="{FF2B5EF4-FFF2-40B4-BE49-F238E27FC236}">
                <a16:creationId xmlns:a16="http://schemas.microsoft.com/office/drawing/2014/main" id="{F23F5504-504E-35E3-02E6-1E4869CD6A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9901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864C7D51-4165-B55A-4253-6B2637C720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4286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F0DE6988-954D-993F-40F1-7BB0D8A8E06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4286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BBA2D86-84B3-B15A-ACC9-771B8BA779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18671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9F09511A-BF35-DDA5-9473-7AD4769E5BD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18671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84A2-97DD-B454-FC08-EA8AE492B4A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553" y="4706759"/>
            <a:ext cx="2301685" cy="28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53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BA47E31-79AA-6498-BB50-34DBC4F5E4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8785" y="236900"/>
            <a:ext cx="1581914" cy="5486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7329" y="914400"/>
            <a:ext cx="5002306" cy="2057400"/>
          </a:xfrm>
          <a:solidFill>
            <a:schemeClr val="accent2"/>
          </a:solidFill>
        </p:spPr>
        <p:txBody>
          <a:bodyPr lIns="228600" rIns="182880" bIns="0" anchor="ctr" anchorCtr="0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 Cover option B </a:t>
            </a:r>
            <a:br>
              <a:rPr lang="en-US" dirty="0"/>
            </a:br>
            <a:r>
              <a:rPr lang="en-US" dirty="0"/>
              <a:t>can be up to four </a:t>
            </a:r>
            <a:br>
              <a:rPr lang="en-US" dirty="0"/>
            </a:br>
            <a:r>
              <a:rPr lang="en-US" dirty="0"/>
              <a:t>or five lines of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593A0-1381-9E08-C43E-02227E369EC8}"/>
              </a:ext>
            </a:extLst>
          </p:cNvPr>
          <p:cNvSpPr/>
          <p:nvPr userDrawn="1"/>
        </p:nvSpPr>
        <p:spPr>
          <a:xfrm>
            <a:off x="-1271" y="914400"/>
            <a:ext cx="228600" cy="2057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endParaRPr lang="en-US" sz="100">
              <a:solidFill>
                <a:schemeClr val="accent1"/>
              </a:solidFill>
            </a:endParaRP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F840A56-6BA9-8FE9-4544-1F2426DC070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29542" y="914400"/>
            <a:ext cx="3911600" cy="2057400"/>
          </a:xfrm>
          <a:solidFill>
            <a:schemeClr val="bg1">
              <a:lumMod val="75000"/>
            </a:schemeClr>
          </a:solidFill>
        </p:spPr>
        <p:txBody>
          <a:bodyPr tIns="182880"/>
          <a:lstStyle>
            <a:lvl1pPr marL="0" indent="0" algn="ctr">
              <a:buFontTx/>
              <a:buNone/>
              <a:defRPr/>
            </a:lvl1pPr>
          </a:lstStyle>
          <a:p>
            <a:r>
              <a:rPr lang="en-US" dirty="0"/>
              <a:t>Click icon to insert an image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63552" y="238125"/>
            <a:ext cx="4765990" cy="67627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sz="1600" b="1" cap="all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Optional one line subhead, </a:t>
            </a:r>
            <a:r>
              <a:rPr lang="en-US" dirty="0" err="1"/>
              <a:t>url</a:t>
            </a:r>
            <a:r>
              <a:rPr lang="en-US" dirty="0"/>
              <a:t> or date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1B8C1237-9E9A-A9B9-D997-F971E7E40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901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5" name="Text Placeholder 45">
            <a:extLst>
              <a:ext uri="{FF2B5EF4-FFF2-40B4-BE49-F238E27FC236}">
                <a16:creationId xmlns:a16="http://schemas.microsoft.com/office/drawing/2014/main" id="{F23F5504-504E-35E3-02E6-1E4869CD6A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9901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864C7D51-4165-B55A-4253-6B2637C720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15651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F0DE6988-954D-993F-40F1-7BB0D8A8E06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15651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BBA2D86-84B3-B15A-ACC9-771B8BA779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18671" y="3229520"/>
            <a:ext cx="2692871" cy="295275"/>
          </a:xfrm>
        </p:spPr>
        <p:txBody>
          <a:bodyPr lIns="0" bIns="0" anchor="b">
            <a:normAutofit/>
          </a:bodyPr>
          <a:lstStyle>
            <a:lvl1pPr marL="0" indent="0"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  <a:lvl3pPr marL="0" indent="0">
              <a:spcBef>
                <a:spcPts val="1800"/>
              </a:spcBef>
              <a:buNone/>
              <a:defRPr/>
            </a:lvl3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9F09511A-BF35-DDA5-9473-7AD4769E5BD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18671" y="3533777"/>
            <a:ext cx="2692871" cy="685800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0" indent="0">
              <a:spcBef>
                <a:spcPts val="1800"/>
              </a:spcBef>
              <a:buNone/>
              <a:defRPr/>
            </a:lvl2pPr>
          </a:lstStyle>
          <a:p>
            <a:r>
              <a:rPr lang="en-US" dirty="0"/>
              <a:t>Add Presenter Title</a:t>
            </a:r>
            <a:br>
              <a:rPr lang="en-US" dirty="0"/>
            </a:br>
            <a:r>
              <a:rPr lang="en-US" dirty="0"/>
              <a:t>Optional Line 2</a:t>
            </a:r>
            <a:br>
              <a:rPr lang="en-US" dirty="0"/>
            </a:br>
            <a:r>
              <a:rPr lang="en-US" dirty="0"/>
              <a:t>Optional Line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434AD4-28D0-93A6-9DF2-B7249F6616B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18671" y="4298950"/>
            <a:ext cx="2720529" cy="4206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 dirty="0"/>
              <a:t>Presentation Date</a:t>
            </a:r>
          </a:p>
          <a:p>
            <a:pPr lvl="0"/>
            <a:r>
              <a:rPr lang="en-US" dirty="0"/>
              <a:t>City, State (presentation location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E55E8F-31B4-9906-E183-E3D6FF6BBD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553" y="4706759"/>
            <a:ext cx="2301685" cy="28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784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*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A3DEC59-F5CF-CEAA-802E-33C6505C44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2729" cy="44886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0802B6-4722-244C-B8A6-46B69A03D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38"/>
          <a:stretch/>
        </p:blipFill>
        <p:spPr>
          <a:xfrm>
            <a:off x="0" y="-10684"/>
            <a:ext cx="9144000" cy="449937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6CA2449B-096C-80E6-9654-D9E3FA712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271" y="0"/>
            <a:ext cx="8840471" cy="4488688"/>
          </a:xfrm>
        </p:spPr>
        <p:txBody>
          <a:bodyPr lIns="457200" bIns="182880"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Type in section break title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FB3E30E-2B22-CE97-1F6D-EFD55575A7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8785" y="4566547"/>
            <a:ext cx="1581914" cy="5486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74AC7F-2AEC-798E-8861-0B2D8839696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553" y="4706759"/>
            <a:ext cx="2301685" cy="28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675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, Sub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61F04F-3CF4-D566-EF9D-9CDCD0B981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476E8C9-921B-17FC-9AEA-348F1AA2B0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431925"/>
            <a:ext cx="7315200" cy="3273425"/>
          </a:xfrm>
        </p:spPr>
        <p:txBody>
          <a:bodyPr/>
          <a:lstStyle/>
          <a:p>
            <a:pPr lvl="0"/>
            <a:r>
              <a:rPr lang="en-US" dirty="0"/>
              <a:t>Click to add 1st-level bullet. Click an icon below to add table, graph or other imagery.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5828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</p:spTree>
    <p:extLst>
      <p:ext uri="{BB962C8B-B14F-4D97-AF65-F5344CB8AC3E}">
        <p14:creationId xmlns:p14="http://schemas.microsoft.com/office/powerpoint/2010/main" val="143321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C0DE28-2C3E-0EAF-93C5-37D6D8C0C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984334"/>
            <a:ext cx="4085546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7E01C83-966B-62F9-D4BF-6F48E204A5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28673" y="1984334"/>
            <a:ext cx="4110527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51BF1D2-8C7B-AE42-B2C5-BF7A4CD55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435694"/>
            <a:ext cx="4085546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CC8EC55-CB52-3EB0-0CD2-2FD334FE87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8673" y="1435694"/>
            <a:ext cx="4110527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</p:spTree>
    <p:extLst>
      <p:ext uri="{BB962C8B-B14F-4D97-AF65-F5344CB8AC3E}">
        <p14:creationId xmlns:p14="http://schemas.microsoft.com/office/powerpoint/2010/main" val="12588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C0DE28-2C3E-0EAF-93C5-37D6D8C0C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99" y="1984334"/>
            <a:ext cx="267004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7E01C83-966B-62F9-D4BF-6F48E204A5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13175" y="1984334"/>
            <a:ext cx="267004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51BF1D2-8C7B-AE42-B2C5-BF7A4CD55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435694"/>
            <a:ext cx="267004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CC8EC55-CB52-3EB0-0CD2-2FD334FE87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13175" y="1435694"/>
            <a:ext cx="267004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AD342F2D-DDFA-2AD9-2E71-9106C80229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69152" y="1984334"/>
            <a:ext cx="267004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7534E44-91EA-211B-EF04-8BE09DECD7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9152" y="1435694"/>
            <a:ext cx="267004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</p:spTree>
    <p:extLst>
      <p:ext uri="{BB962C8B-B14F-4D97-AF65-F5344CB8AC3E}">
        <p14:creationId xmlns:p14="http://schemas.microsoft.com/office/powerpoint/2010/main" val="3633295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C0DE28-2C3E-0EAF-93C5-37D6D8C0C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99" y="1984334"/>
            <a:ext cx="202996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7E01C83-966B-62F9-D4BF-6F48E204A5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75559" y="1984334"/>
            <a:ext cx="202996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51BF1D2-8C7B-AE42-B2C5-BF7A4CD55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435694"/>
            <a:ext cx="202996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CC8EC55-CB52-3EB0-0CD2-2FD334FE87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575559" y="1435694"/>
            <a:ext cx="202996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AD342F2D-DDFA-2AD9-2E71-9106C80229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693919" y="1984334"/>
            <a:ext cx="202996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7534E44-91EA-211B-EF04-8BE09DECD7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93919" y="1435694"/>
            <a:ext cx="202996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E8AC771-2E8E-7334-4620-6CED5E4A62C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812280" y="1984334"/>
            <a:ext cx="2029968" cy="2721016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9E75F18B-928B-D8CD-3AFB-13FF334E04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12280" y="1435694"/>
            <a:ext cx="2029968" cy="548640"/>
          </a:xfrm>
          <a:solidFill>
            <a:schemeClr val="tx2"/>
          </a:solidFill>
        </p:spPr>
        <p:txBody>
          <a:bodyPr lIns="137160" bIns="91440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Headline/Topic</a:t>
            </a:r>
          </a:p>
        </p:txBody>
      </p:sp>
    </p:spTree>
    <p:extLst>
      <p:ext uri="{BB962C8B-B14F-4D97-AF65-F5344CB8AC3E}">
        <p14:creationId xmlns:p14="http://schemas.microsoft.com/office/powerpoint/2010/main" val="24722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5D3E177C-05C2-2929-E159-59F77C2B0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99" y="2163445"/>
            <a:ext cx="1600200" cy="2541905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 marL="0" indent="0">
              <a:buNone/>
              <a:defRPr sz="1400" b="0"/>
            </a:lvl1pPr>
            <a:lvl2pPr marL="207518" indent="0">
              <a:buNone/>
              <a:defRPr sz="1400" b="1"/>
            </a:lvl2pPr>
            <a:lvl3pPr marL="434975" indent="0">
              <a:buNone/>
              <a:defRPr sz="1400" b="1"/>
            </a:lvl3pPr>
            <a:lvl4pPr marL="605981" indent="0">
              <a:buNone/>
              <a:defRPr sz="1400" b="1"/>
            </a:lvl4pPr>
            <a:lvl5pPr marL="867283" indent="0">
              <a:buNone/>
              <a:defRPr sz="1400" b="1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85BD39A8-85FE-CB4E-DA30-754FE0F059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51459" y="2163445"/>
            <a:ext cx="1600200" cy="2541905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 marL="0" indent="0">
              <a:buNone/>
              <a:defRPr sz="1400" b="0"/>
            </a:lvl1pPr>
            <a:lvl2pPr marL="207518" indent="0">
              <a:buNone/>
              <a:defRPr sz="1400" b="1"/>
            </a:lvl2pPr>
            <a:lvl3pPr marL="434975" indent="0">
              <a:buNone/>
              <a:defRPr sz="1400" b="1"/>
            </a:lvl3pPr>
            <a:lvl4pPr marL="605981" indent="0">
              <a:buNone/>
              <a:defRPr sz="1400" b="1"/>
            </a:lvl4pPr>
            <a:lvl5pPr marL="867283" indent="0">
              <a:buNone/>
              <a:defRPr sz="1400" b="1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36BFCC75-DA07-6A20-4D5D-105B7F301F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435693"/>
            <a:ext cx="1600200" cy="727751"/>
          </a:xfrm>
          <a:solidFill>
            <a:schemeClr val="tx2"/>
          </a:solidFill>
        </p:spPr>
        <p:txBody>
          <a:bodyPr lIns="137160" rIns="91440" bIns="64008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 Topic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AE55B475-E521-6A8A-893B-8CC38F9BE3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51459" y="1435693"/>
            <a:ext cx="1600200" cy="727751"/>
          </a:xfrm>
          <a:solidFill>
            <a:schemeClr val="tx2"/>
          </a:solidFill>
        </p:spPr>
        <p:txBody>
          <a:bodyPr lIns="137160" rIns="91440" bIns="64008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 Topic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DFB5CAF5-E85F-409D-2880-F0B6067F61B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45718" y="2163445"/>
            <a:ext cx="1600200" cy="2541905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 marL="0" indent="0">
              <a:buNone/>
              <a:defRPr sz="1400" b="0"/>
            </a:lvl1pPr>
            <a:lvl2pPr marL="207518" indent="0">
              <a:buNone/>
              <a:defRPr sz="1400" b="1"/>
            </a:lvl2pPr>
            <a:lvl3pPr marL="434975" indent="0">
              <a:buNone/>
              <a:defRPr sz="1400" b="1"/>
            </a:lvl3pPr>
            <a:lvl4pPr marL="605981" indent="0">
              <a:buNone/>
              <a:defRPr sz="1400" b="1"/>
            </a:lvl4pPr>
            <a:lvl5pPr marL="867283" indent="0">
              <a:buNone/>
              <a:defRPr sz="1400" b="1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17E8E80F-1B5F-5D3E-2409-0CF04DE318F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45718" y="1435693"/>
            <a:ext cx="1600200" cy="727751"/>
          </a:xfrm>
          <a:solidFill>
            <a:schemeClr val="tx2"/>
          </a:solidFill>
        </p:spPr>
        <p:txBody>
          <a:bodyPr lIns="137160" rIns="91440" bIns="64008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 Topic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66346B3-56E4-FB00-E652-E796F6986D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537786" y="2163445"/>
            <a:ext cx="1600200" cy="2541905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 marL="0" indent="0">
              <a:buNone/>
              <a:defRPr sz="1400" b="0"/>
            </a:lvl1pPr>
            <a:lvl2pPr marL="207518" indent="0">
              <a:buNone/>
              <a:defRPr sz="1400" b="1"/>
            </a:lvl2pPr>
            <a:lvl3pPr marL="434975" indent="0">
              <a:buNone/>
              <a:defRPr sz="1400" b="1"/>
            </a:lvl3pPr>
            <a:lvl4pPr marL="605981" indent="0">
              <a:buNone/>
              <a:defRPr sz="1400" b="1"/>
            </a:lvl4pPr>
            <a:lvl5pPr marL="867283" indent="0">
              <a:buNone/>
              <a:defRPr sz="1400" b="1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8A2202FD-33BC-0BA1-F754-345C59A68C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37786" y="1435693"/>
            <a:ext cx="1600200" cy="727751"/>
          </a:xfrm>
          <a:solidFill>
            <a:schemeClr val="tx2"/>
          </a:solidFill>
        </p:spPr>
        <p:txBody>
          <a:bodyPr lIns="137160" rIns="91440" bIns="64008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 Topic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5EB459E5-6A74-A385-F343-520C27E1C2C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238399" y="2163445"/>
            <a:ext cx="1600200" cy="2541905"/>
          </a:xfrm>
          <a:solidFill>
            <a:schemeClr val="bg1">
              <a:lumMod val="85000"/>
            </a:schemeClr>
          </a:solidFill>
        </p:spPr>
        <p:txBody>
          <a:bodyPr lIns="137160" tIns="91440" rIns="91440" bIns="45720">
            <a:normAutofit/>
          </a:bodyPr>
          <a:lstStyle>
            <a:lvl1pPr marL="0" indent="0">
              <a:buNone/>
              <a:defRPr sz="1400" b="0"/>
            </a:lvl1pPr>
            <a:lvl2pPr marL="207518" indent="0">
              <a:buNone/>
              <a:defRPr sz="1400" b="1"/>
            </a:lvl2pPr>
            <a:lvl3pPr marL="434975" indent="0">
              <a:buNone/>
              <a:defRPr sz="1400" b="1"/>
            </a:lvl3pPr>
            <a:lvl4pPr marL="605981" indent="0">
              <a:buNone/>
              <a:defRPr sz="1400" b="1"/>
            </a:lvl4pPr>
            <a:lvl5pPr marL="867283" indent="0">
              <a:buNone/>
              <a:defRPr sz="1400" b="1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50070C8D-6CB9-4F0F-A4BF-CBB734703C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238399" y="1435693"/>
            <a:ext cx="1600200" cy="727751"/>
          </a:xfrm>
          <a:solidFill>
            <a:schemeClr val="tx2"/>
          </a:solidFill>
        </p:spPr>
        <p:txBody>
          <a:bodyPr lIns="137160" rIns="91440" bIns="64008" anchor="b" anchorCtr="0"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Headline/ Topic</a:t>
            </a:r>
          </a:p>
        </p:txBody>
      </p:sp>
    </p:spTree>
    <p:extLst>
      <p:ext uri="{BB962C8B-B14F-4D97-AF65-F5344CB8AC3E}">
        <p14:creationId xmlns:p14="http://schemas.microsoft.com/office/powerpoint/2010/main" val="3273774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4 block big id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51BF1D2-8C7B-AE42-B2C5-BF7A4CD55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628" y="1657348"/>
            <a:ext cx="3723118" cy="1426464"/>
          </a:xfrm>
          <a:solidFill>
            <a:schemeClr val="tx2"/>
          </a:solidFill>
        </p:spPr>
        <p:txBody>
          <a:bodyPr lIns="182880" tIns="182880" rIns="91440" bIns="91440" anchor="t" anchorCtr="0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Big idea/Topic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CC8EC55-CB52-3EB0-0CD2-2FD334FE87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31138" y="1657349"/>
            <a:ext cx="3723118" cy="1426464"/>
          </a:xfrm>
          <a:solidFill>
            <a:schemeClr val="tx2"/>
          </a:solidFill>
        </p:spPr>
        <p:txBody>
          <a:bodyPr lIns="182880" tIns="182880" rIns="91440" bIns="91440" anchor="t" anchorCtr="0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Big idea/Topic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4492F8F-BB13-4522-9262-D3D4E3E358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9628" y="3174781"/>
            <a:ext cx="3723118" cy="1426464"/>
          </a:xfrm>
          <a:solidFill>
            <a:schemeClr val="tx2"/>
          </a:solidFill>
        </p:spPr>
        <p:txBody>
          <a:bodyPr lIns="182880" tIns="182880" rIns="91440" bIns="91440" anchor="t" anchorCtr="0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Big idea/Topic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59A5E982-F2D5-FC63-C9EC-95A25009EEB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31138" y="3174781"/>
            <a:ext cx="3723118" cy="1426464"/>
          </a:xfrm>
          <a:solidFill>
            <a:schemeClr val="tx2"/>
          </a:solidFill>
        </p:spPr>
        <p:txBody>
          <a:bodyPr lIns="182880" tIns="182880" rIns="91440" bIns="91440" anchor="t" anchorCtr="0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>
              <a:defRPr sz="1600" b="1">
                <a:solidFill>
                  <a:schemeClr val="bg1"/>
                </a:solidFill>
              </a:defRPr>
            </a:lvl2pPr>
            <a:lvl3pPr>
              <a:defRPr sz="1600" b="1">
                <a:solidFill>
                  <a:schemeClr val="bg1"/>
                </a:solidFill>
              </a:defRPr>
            </a:lvl3pPr>
            <a:lvl4pPr>
              <a:defRPr sz="1600" b="1">
                <a:solidFill>
                  <a:schemeClr val="bg1"/>
                </a:solidFill>
              </a:defRPr>
            </a:lvl4pPr>
            <a:lvl5pPr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Big idea/Topic</a:t>
            </a:r>
          </a:p>
        </p:txBody>
      </p:sp>
    </p:spTree>
    <p:extLst>
      <p:ext uri="{BB962C8B-B14F-4D97-AF65-F5344CB8AC3E}">
        <p14:creationId xmlns:p14="http://schemas.microsoft.com/office/powerpoint/2010/main" val="4008891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*Title and Subtitle: 3 column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CB122-5B65-991A-2FDE-AF2758034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D784A4-5319-59E0-E107-C337A45D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C70634C6-3CF5-6F27-C809-D042DA00CC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93775"/>
            <a:ext cx="8382000" cy="438150"/>
          </a:xfrm>
        </p:spPr>
        <p:txBody>
          <a:bodyPr>
            <a:noAutofit/>
          </a:bodyPr>
          <a:lstStyle>
            <a:lvl1pPr marL="0" indent="0">
              <a:buNone/>
              <a:defRPr sz="2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 sentence case. Optional: delete as needed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C0DE28-2C3E-0EAF-93C5-37D6D8C0C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99" y="3711575"/>
            <a:ext cx="2679698" cy="993775"/>
          </a:xfrm>
          <a:noFill/>
        </p:spPr>
        <p:txBody>
          <a:bodyPr lIns="0" tIns="91440" rIns="45720" bIns="4572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7E01C83-966B-62F9-D4BF-6F48E204A5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02949" y="3711575"/>
            <a:ext cx="2679695" cy="993775"/>
          </a:xfrm>
          <a:noFill/>
        </p:spPr>
        <p:txBody>
          <a:bodyPr lIns="0" tIns="91440" rIns="45720" bIns="4572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AD342F2D-DDFA-2AD9-2E71-9106C80229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59500" y="3711575"/>
            <a:ext cx="2679700" cy="993775"/>
          </a:xfrm>
          <a:noFill/>
        </p:spPr>
        <p:txBody>
          <a:bodyPr lIns="0" tIns="91440" rIns="45720" bIns="4572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117CC75-B838-68D6-2E0E-876246E59A7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7199" y="1657349"/>
            <a:ext cx="2679700" cy="2054225"/>
          </a:xfrm>
          <a:solidFill>
            <a:schemeClr val="bg1">
              <a:lumMod val="75000"/>
            </a:schemeClr>
          </a:solidFill>
        </p:spPr>
        <p:txBody>
          <a:bodyPr tIns="365760"/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44614E93-F67D-FFB0-1593-0C05E96A4FF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2950" y="1657349"/>
            <a:ext cx="2679700" cy="2054225"/>
          </a:xfrm>
          <a:solidFill>
            <a:schemeClr val="bg1">
              <a:lumMod val="75000"/>
            </a:schemeClr>
          </a:solidFill>
        </p:spPr>
        <p:txBody>
          <a:bodyPr tIns="365760"/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F202DA5-E559-E016-1658-76A0FFD0A7A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9500" y="1657349"/>
            <a:ext cx="2679700" cy="2054225"/>
          </a:xfrm>
          <a:solidFill>
            <a:schemeClr val="bg1">
              <a:lumMod val="75000"/>
            </a:schemeClr>
          </a:solidFill>
        </p:spPr>
        <p:txBody>
          <a:bodyPr tIns="365760"/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59A614F-1746-5E7E-6E40-C0C352E3B87C}"/>
              </a:ext>
            </a:extLst>
          </p:cNvPr>
          <p:cNvCxnSpPr/>
          <p:nvPr userDrawn="1"/>
        </p:nvCxnSpPr>
        <p:spPr>
          <a:xfrm>
            <a:off x="3219924" y="1521151"/>
            <a:ext cx="0" cy="327304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F24D771-DA9F-AFF7-8014-770E6875CD71}"/>
              </a:ext>
            </a:extLst>
          </p:cNvPr>
          <p:cNvCxnSpPr/>
          <p:nvPr userDrawn="1"/>
        </p:nvCxnSpPr>
        <p:spPr>
          <a:xfrm>
            <a:off x="6078494" y="1521151"/>
            <a:ext cx="0" cy="327304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4BDB185A-767C-30D3-5FC4-487AEE46B025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0"/>
            <a:ext cx="9144000" cy="5143500"/>
          </a:xfrm>
          <a:solidFill>
            <a:schemeClr val="tx1"/>
          </a:solidFill>
        </p:spPr>
        <p:txBody>
          <a:bodyPr lIns="0" tIns="137160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VIDEO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D9493A-47CC-919A-B438-67612BC54B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Headline in all caps 28pt </a:t>
            </a:r>
            <a:br>
              <a:rPr lang="en-US" dirty="0"/>
            </a:br>
            <a:r>
              <a:rPr lang="en-US" dirty="0"/>
              <a:t>preferred as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22503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Arg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A3DEC59-F5CF-CEAA-802E-33C6505C44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27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0802B6-4722-244C-B8A6-46B69A03D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08"/>
          <a:stretch/>
        </p:blipFill>
        <p:spPr>
          <a:xfrm>
            <a:off x="0" y="-10684"/>
            <a:ext cx="9144000" cy="515418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1AD80AF-1545-2888-DC5C-2ACBBB58F56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586265" y="1304924"/>
            <a:ext cx="5971470" cy="2336662"/>
            <a:chOff x="4398" y="-378"/>
            <a:chExt cx="1104" cy="43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CD385B-D85D-B64D-C7C5-0741D4FDA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-378"/>
              <a:ext cx="1104" cy="432"/>
            </a:xfrm>
            <a:prstGeom prst="rect">
              <a:avLst/>
            </a:prstGeom>
            <a:noFill/>
            <a:ln w="0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565DEB9-167C-3795-A7E1-78040F365E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98" y="-264"/>
              <a:ext cx="194" cy="168"/>
            </a:xfrm>
            <a:custGeom>
              <a:avLst/>
              <a:gdLst>
                <a:gd name="T0" fmla="*/ 405 w 580"/>
                <a:gd name="T1" fmla="*/ 360 h 502"/>
                <a:gd name="T2" fmla="*/ 441 w 580"/>
                <a:gd name="T3" fmla="*/ 422 h 502"/>
                <a:gd name="T4" fmla="*/ 473 w 580"/>
                <a:gd name="T5" fmla="*/ 478 h 502"/>
                <a:gd name="T6" fmla="*/ 485 w 580"/>
                <a:gd name="T7" fmla="*/ 478 h 502"/>
                <a:gd name="T8" fmla="*/ 518 w 580"/>
                <a:gd name="T9" fmla="*/ 422 h 502"/>
                <a:gd name="T10" fmla="*/ 554 w 580"/>
                <a:gd name="T11" fmla="*/ 360 h 502"/>
                <a:gd name="T12" fmla="*/ 392 w 580"/>
                <a:gd name="T13" fmla="*/ 338 h 502"/>
                <a:gd name="T14" fmla="*/ 186 w 580"/>
                <a:gd name="T15" fmla="*/ 357 h 502"/>
                <a:gd name="T16" fmla="*/ 153 w 580"/>
                <a:gd name="T17" fmla="*/ 415 h 502"/>
                <a:gd name="T18" fmla="*/ 119 w 580"/>
                <a:gd name="T19" fmla="*/ 473 h 502"/>
                <a:gd name="T20" fmla="*/ 471 w 580"/>
                <a:gd name="T21" fmla="*/ 493 h 502"/>
                <a:gd name="T22" fmla="*/ 452 w 580"/>
                <a:gd name="T23" fmla="*/ 461 h 502"/>
                <a:gd name="T24" fmla="*/ 416 w 580"/>
                <a:gd name="T25" fmla="*/ 399 h 502"/>
                <a:gd name="T26" fmla="*/ 387 w 580"/>
                <a:gd name="T27" fmla="*/ 347 h 502"/>
                <a:gd name="T28" fmla="*/ 13 w 580"/>
                <a:gd name="T29" fmla="*/ 338 h 502"/>
                <a:gd name="T30" fmla="*/ 33 w 580"/>
                <a:gd name="T31" fmla="*/ 373 h 502"/>
                <a:gd name="T32" fmla="*/ 71 w 580"/>
                <a:gd name="T33" fmla="*/ 438 h 502"/>
                <a:gd name="T34" fmla="*/ 98 w 580"/>
                <a:gd name="T35" fmla="*/ 485 h 502"/>
                <a:gd name="T36" fmla="*/ 112 w 580"/>
                <a:gd name="T37" fmla="*/ 467 h 502"/>
                <a:gd name="T38" fmla="*/ 148 w 580"/>
                <a:gd name="T39" fmla="*/ 405 h 502"/>
                <a:gd name="T40" fmla="*/ 180 w 580"/>
                <a:gd name="T41" fmla="*/ 349 h 502"/>
                <a:gd name="T42" fmla="*/ 290 w 580"/>
                <a:gd name="T43" fmla="*/ 178 h 502"/>
                <a:gd name="T44" fmla="*/ 270 w 580"/>
                <a:gd name="T45" fmla="*/ 213 h 502"/>
                <a:gd name="T46" fmla="*/ 232 w 580"/>
                <a:gd name="T47" fmla="*/ 278 h 502"/>
                <a:gd name="T48" fmla="*/ 204 w 580"/>
                <a:gd name="T49" fmla="*/ 326 h 502"/>
                <a:gd name="T50" fmla="*/ 370 w 580"/>
                <a:gd name="T51" fmla="*/ 319 h 502"/>
                <a:gd name="T52" fmla="*/ 338 w 580"/>
                <a:gd name="T53" fmla="*/ 262 h 502"/>
                <a:gd name="T54" fmla="*/ 302 w 580"/>
                <a:gd name="T55" fmla="*/ 200 h 502"/>
                <a:gd name="T56" fmla="*/ 384 w 580"/>
                <a:gd name="T57" fmla="*/ 14 h 502"/>
                <a:gd name="T58" fmla="*/ 366 w 580"/>
                <a:gd name="T59" fmla="*/ 47 h 502"/>
                <a:gd name="T60" fmla="*/ 330 w 580"/>
                <a:gd name="T61" fmla="*/ 109 h 502"/>
                <a:gd name="T62" fmla="*/ 300 w 580"/>
                <a:gd name="T63" fmla="*/ 160 h 502"/>
                <a:gd name="T64" fmla="*/ 301 w 580"/>
                <a:gd name="T65" fmla="*/ 178 h 502"/>
                <a:gd name="T66" fmla="*/ 331 w 580"/>
                <a:gd name="T67" fmla="*/ 232 h 502"/>
                <a:gd name="T68" fmla="*/ 369 w 580"/>
                <a:gd name="T69" fmla="*/ 296 h 502"/>
                <a:gd name="T70" fmla="*/ 387 w 580"/>
                <a:gd name="T71" fmla="*/ 329 h 502"/>
                <a:gd name="T72" fmla="*/ 554 w 580"/>
                <a:gd name="T73" fmla="*/ 307 h 502"/>
                <a:gd name="T74" fmla="*/ 510 w 580"/>
                <a:gd name="T75" fmla="*/ 231 h 502"/>
                <a:gd name="T76" fmla="*/ 454 w 580"/>
                <a:gd name="T77" fmla="*/ 135 h 502"/>
                <a:gd name="T78" fmla="*/ 406 w 580"/>
                <a:gd name="T79" fmla="*/ 52 h 502"/>
                <a:gd name="T80" fmla="*/ 384 w 580"/>
                <a:gd name="T81" fmla="*/ 14 h 502"/>
                <a:gd name="T82" fmla="*/ 182 w 580"/>
                <a:gd name="T83" fmla="*/ 36 h 502"/>
                <a:gd name="T84" fmla="*/ 138 w 580"/>
                <a:gd name="T85" fmla="*/ 112 h 502"/>
                <a:gd name="T86" fmla="*/ 83 w 580"/>
                <a:gd name="T87" fmla="*/ 208 h 502"/>
                <a:gd name="T88" fmla="*/ 35 w 580"/>
                <a:gd name="T89" fmla="*/ 291 h 502"/>
                <a:gd name="T90" fmla="*/ 13 w 580"/>
                <a:gd name="T91" fmla="*/ 329 h 502"/>
                <a:gd name="T92" fmla="*/ 203 w 580"/>
                <a:gd name="T93" fmla="*/ 310 h 502"/>
                <a:gd name="T94" fmla="*/ 239 w 580"/>
                <a:gd name="T95" fmla="*/ 249 h 502"/>
                <a:gd name="T96" fmla="*/ 273 w 580"/>
                <a:gd name="T97" fmla="*/ 188 h 502"/>
                <a:gd name="T98" fmla="*/ 283 w 580"/>
                <a:gd name="T99" fmla="*/ 167 h 502"/>
                <a:gd name="T100" fmla="*/ 259 w 580"/>
                <a:gd name="T101" fmla="*/ 124 h 502"/>
                <a:gd name="T102" fmla="*/ 222 w 580"/>
                <a:gd name="T103" fmla="*/ 61 h 502"/>
                <a:gd name="T104" fmla="*/ 196 w 580"/>
                <a:gd name="T105" fmla="*/ 17 h 502"/>
                <a:gd name="T106" fmla="*/ 209 w 580"/>
                <a:gd name="T107" fmla="*/ 20 h 502"/>
                <a:gd name="T108" fmla="*/ 242 w 580"/>
                <a:gd name="T109" fmla="*/ 77 h 502"/>
                <a:gd name="T110" fmla="*/ 277 w 580"/>
                <a:gd name="T111" fmla="*/ 138 h 502"/>
                <a:gd name="T112" fmla="*/ 292 w 580"/>
                <a:gd name="T113" fmla="*/ 157 h 502"/>
                <a:gd name="T114" fmla="*/ 319 w 580"/>
                <a:gd name="T115" fmla="*/ 110 h 502"/>
                <a:gd name="T116" fmla="*/ 356 w 580"/>
                <a:gd name="T117" fmla="*/ 44 h 502"/>
                <a:gd name="T118" fmla="*/ 376 w 580"/>
                <a:gd name="T119" fmla="*/ 9 h 502"/>
                <a:gd name="T120" fmla="*/ 580 w 580"/>
                <a:gd name="T121" fmla="*/ 334 h 502"/>
                <a:gd name="T122" fmla="*/ 192 w 580"/>
                <a:gd name="T123" fmla="*/ 0 h 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80" h="502">
                  <a:moveTo>
                    <a:pt x="392" y="338"/>
                  </a:moveTo>
                  <a:lnTo>
                    <a:pt x="394" y="342"/>
                  </a:lnTo>
                  <a:lnTo>
                    <a:pt x="399" y="349"/>
                  </a:lnTo>
                  <a:lnTo>
                    <a:pt x="405" y="360"/>
                  </a:lnTo>
                  <a:lnTo>
                    <a:pt x="413" y="373"/>
                  </a:lnTo>
                  <a:lnTo>
                    <a:pt x="421" y="389"/>
                  </a:lnTo>
                  <a:lnTo>
                    <a:pt x="431" y="405"/>
                  </a:lnTo>
                  <a:lnTo>
                    <a:pt x="441" y="422"/>
                  </a:lnTo>
                  <a:lnTo>
                    <a:pt x="450" y="438"/>
                  </a:lnTo>
                  <a:lnTo>
                    <a:pt x="459" y="453"/>
                  </a:lnTo>
                  <a:lnTo>
                    <a:pt x="467" y="467"/>
                  </a:lnTo>
                  <a:lnTo>
                    <a:pt x="473" y="478"/>
                  </a:lnTo>
                  <a:lnTo>
                    <a:pt x="477" y="485"/>
                  </a:lnTo>
                  <a:lnTo>
                    <a:pt x="479" y="488"/>
                  </a:lnTo>
                  <a:lnTo>
                    <a:pt x="481" y="485"/>
                  </a:lnTo>
                  <a:lnTo>
                    <a:pt x="485" y="478"/>
                  </a:lnTo>
                  <a:lnTo>
                    <a:pt x="491" y="467"/>
                  </a:lnTo>
                  <a:lnTo>
                    <a:pt x="500" y="453"/>
                  </a:lnTo>
                  <a:lnTo>
                    <a:pt x="509" y="438"/>
                  </a:lnTo>
                  <a:lnTo>
                    <a:pt x="518" y="422"/>
                  </a:lnTo>
                  <a:lnTo>
                    <a:pt x="528" y="405"/>
                  </a:lnTo>
                  <a:lnTo>
                    <a:pt x="538" y="389"/>
                  </a:lnTo>
                  <a:lnTo>
                    <a:pt x="546" y="373"/>
                  </a:lnTo>
                  <a:lnTo>
                    <a:pt x="554" y="360"/>
                  </a:lnTo>
                  <a:lnTo>
                    <a:pt x="560" y="349"/>
                  </a:lnTo>
                  <a:lnTo>
                    <a:pt x="565" y="342"/>
                  </a:lnTo>
                  <a:lnTo>
                    <a:pt x="567" y="338"/>
                  </a:lnTo>
                  <a:lnTo>
                    <a:pt x="392" y="338"/>
                  </a:lnTo>
                  <a:close/>
                  <a:moveTo>
                    <a:pt x="197" y="338"/>
                  </a:moveTo>
                  <a:lnTo>
                    <a:pt x="196" y="341"/>
                  </a:lnTo>
                  <a:lnTo>
                    <a:pt x="192" y="347"/>
                  </a:lnTo>
                  <a:lnTo>
                    <a:pt x="186" y="357"/>
                  </a:lnTo>
                  <a:lnTo>
                    <a:pt x="179" y="369"/>
                  </a:lnTo>
                  <a:lnTo>
                    <a:pt x="171" y="383"/>
                  </a:lnTo>
                  <a:lnTo>
                    <a:pt x="162" y="399"/>
                  </a:lnTo>
                  <a:lnTo>
                    <a:pt x="153" y="415"/>
                  </a:lnTo>
                  <a:lnTo>
                    <a:pt x="144" y="431"/>
                  </a:lnTo>
                  <a:lnTo>
                    <a:pt x="135" y="446"/>
                  </a:lnTo>
                  <a:lnTo>
                    <a:pt x="126" y="461"/>
                  </a:lnTo>
                  <a:lnTo>
                    <a:pt x="119" y="473"/>
                  </a:lnTo>
                  <a:lnTo>
                    <a:pt x="114" y="483"/>
                  </a:lnTo>
                  <a:lnTo>
                    <a:pt x="110" y="490"/>
                  </a:lnTo>
                  <a:lnTo>
                    <a:pt x="108" y="493"/>
                  </a:lnTo>
                  <a:lnTo>
                    <a:pt x="471" y="493"/>
                  </a:lnTo>
                  <a:lnTo>
                    <a:pt x="469" y="490"/>
                  </a:lnTo>
                  <a:lnTo>
                    <a:pt x="465" y="483"/>
                  </a:lnTo>
                  <a:lnTo>
                    <a:pt x="460" y="473"/>
                  </a:lnTo>
                  <a:lnTo>
                    <a:pt x="452" y="461"/>
                  </a:lnTo>
                  <a:lnTo>
                    <a:pt x="444" y="446"/>
                  </a:lnTo>
                  <a:lnTo>
                    <a:pt x="435" y="431"/>
                  </a:lnTo>
                  <a:lnTo>
                    <a:pt x="426" y="415"/>
                  </a:lnTo>
                  <a:lnTo>
                    <a:pt x="416" y="399"/>
                  </a:lnTo>
                  <a:lnTo>
                    <a:pt x="408" y="383"/>
                  </a:lnTo>
                  <a:lnTo>
                    <a:pt x="399" y="369"/>
                  </a:lnTo>
                  <a:lnTo>
                    <a:pt x="392" y="357"/>
                  </a:lnTo>
                  <a:lnTo>
                    <a:pt x="387" y="347"/>
                  </a:lnTo>
                  <a:lnTo>
                    <a:pt x="383" y="341"/>
                  </a:lnTo>
                  <a:lnTo>
                    <a:pt x="382" y="338"/>
                  </a:lnTo>
                  <a:lnTo>
                    <a:pt x="197" y="338"/>
                  </a:lnTo>
                  <a:close/>
                  <a:moveTo>
                    <a:pt x="13" y="338"/>
                  </a:moveTo>
                  <a:lnTo>
                    <a:pt x="15" y="342"/>
                  </a:lnTo>
                  <a:lnTo>
                    <a:pt x="19" y="349"/>
                  </a:lnTo>
                  <a:lnTo>
                    <a:pt x="25" y="359"/>
                  </a:lnTo>
                  <a:lnTo>
                    <a:pt x="33" y="373"/>
                  </a:lnTo>
                  <a:lnTo>
                    <a:pt x="42" y="388"/>
                  </a:lnTo>
                  <a:lnTo>
                    <a:pt x="51" y="405"/>
                  </a:lnTo>
                  <a:lnTo>
                    <a:pt x="61" y="421"/>
                  </a:lnTo>
                  <a:lnTo>
                    <a:pt x="71" y="438"/>
                  </a:lnTo>
                  <a:lnTo>
                    <a:pt x="80" y="453"/>
                  </a:lnTo>
                  <a:lnTo>
                    <a:pt x="87" y="467"/>
                  </a:lnTo>
                  <a:lnTo>
                    <a:pt x="94" y="478"/>
                  </a:lnTo>
                  <a:lnTo>
                    <a:pt x="98" y="485"/>
                  </a:lnTo>
                  <a:lnTo>
                    <a:pt x="100" y="488"/>
                  </a:lnTo>
                  <a:lnTo>
                    <a:pt x="102" y="485"/>
                  </a:lnTo>
                  <a:lnTo>
                    <a:pt x="106" y="478"/>
                  </a:lnTo>
                  <a:lnTo>
                    <a:pt x="112" y="467"/>
                  </a:lnTo>
                  <a:lnTo>
                    <a:pt x="120" y="453"/>
                  </a:lnTo>
                  <a:lnTo>
                    <a:pt x="129" y="438"/>
                  </a:lnTo>
                  <a:lnTo>
                    <a:pt x="138" y="422"/>
                  </a:lnTo>
                  <a:lnTo>
                    <a:pt x="148" y="405"/>
                  </a:lnTo>
                  <a:lnTo>
                    <a:pt x="157" y="389"/>
                  </a:lnTo>
                  <a:lnTo>
                    <a:pt x="166" y="373"/>
                  </a:lnTo>
                  <a:lnTo>
                    <a:pt x="174" y="360"/>
                  </a:lnTo>
                  <a:lnTo>
                    <a:pt x="180" y="349"/>
                  </a:lnTo>
                  <a:lnTo>
                    <a:pt x="184" y="342"/>
                  </a:lnTo>
                  <a:lnTo>
                    <a:pt x="186" y="338"/>
                  </a:lnTo>
                  <a:lnTo>
                    <a:pt x="13" y="338"/>
                  </a:lnTo>
                  <a:close/>
                  <a:moveTo>
                    <a:pt x="290" y="178"/>
                  </a:moveTo>
                  <a:lnTo>
                    <a:pt x="288" y="182"/>
                  </a:lnTo>
                  <a:lnTo>
                    <a:pt x="284" y="189"/>
                  </a:lnTo>
                  <a:lnTo>
                    <a:pt x="277" y="200"/>
                  </a:lnTo>
                  <a:lnTo>
                    <a:pt x="270" y="213"/>
                  </a:lnTo>
                  <a:lnTo>
                    <a:pt x="261" y="229"/>
                  </a:lnTo>
                  <a:lnTo>
                    <a:pt x="251" y="245"/>
                  </a:lnTo>
                  <a:lnTo>
                    <a:pt x="242" y="262"/>
                  </a:lnTo>
                  <a:lnTo>
                    <a:pt x="232" y="278"/>
                  </a:lnTo>
                  <a:lnTo>
                    <a:pt x="224" y="293"/>
                  </a:lnTo>
                  <a:lnTo>
                    <a:pt x="215" y="308"/>
                  </a:lnTo>
                  <a:lnTo>
                    <a:pt x="209" y="319"/>
                  </a:lnTo>
                  <a:lnTo>
                    <a:pt x="204" y="326"/>
                  </a:lnTo>
                  <a:lnTo>
                    <a:pt x="202" y="329"/>
                  </a:lnTo>
                  <a:lnTo>
                    <a:pt x="376" y="329"/>
                  </a:lnTo>
                  <a:lnTo>
                    <a:pt x="375" y="326"/>
                  </a:lnTo>
                  <a:lnTo>
                    <a:pt x="370" y="319"/>
                  </a:lnTo>
                  <a:lnTo>
                    <a:pt x="364" y="308"/>
                  </a:lnTo>
                  <a:lnTo>
                    <a:pt x="356" y="293"/>
                  </a:lnTo>
                  <a:lnTo>
                    <a:pt x="347" y="278"/>
                  </a:lnTo>
                  <a:lnTo>
                    <a:pt x="338" y="262"/>
                  </a:lnTo>
                  <a:lnTo>
                    <a:pt x="328" y="245"/>
                  </a:lnTo>
                  <a:lnTo>
                    <a:pt x="319" y="229"/>
                  </a:lnTo>
                  <a:lnTo>
                    <a:pt x="310" y="213"/>
                  </a:lnTo>
                  <a:lnTo>
                    <a:pt x="302" y="200"/>
                  </a:lnTo>
                  <a:lnTo>
                    <a:pt x="296" y="189"/>
                  </a:lnTo>
                  <a:lnTo>
                    <a:pt x="292" y="182"/>
                  </a:lnTo>
                  <a:lnTo>
                    <a:pt x="290" y="178"/>
                  </a:lnTo>
                  <a:close/>
                  <a:moveTo>
                    <a:pt x="384" y="14"/>
                  </a:moveTo>
                  <a:lnTo>
                    <a:pt x="383" y="17"/>
                  </a:lnTo>
                  <a:lnTo>
                    <a:pt x="379" y="23"/>
                  </a:lnTo>
                  <a:lnTo>
                    <a:pt x="373" y="33"/>
                  </a:lnTo>
                  <a:lnTo>
                    <a:pt x="366" y="47"/>
                  </a:lnTo>
                  <a:lnTo>
                    <a:pt x="358" y="61"/>
                  </a:lnTo>
                  <a:lnTo>
                    <a:pt x="349" y="77"/>
                  </a:lnTo>
                  <a:lnTo>
                    <a:pt x="339" y="93"/>
                  </a:lnTo>
                  <a:lnTo>
                    <a:pt x="330" y="109"/>
                  </a:lnTo>
                  <a:lnTo>
                    <a:pt x="321" y="124"/>
                  </a:lnTo>
                  <a:lnTo>
                    <a:pt x="313" y="139"/>
                  </a:lnTo>
                  <a:lnTo>
                    <a:pt x="306" y="151"/>
                  </a:lnTo>
                  <a:lnTo>
                    <a:pt x="300" y="160"/>
                  </a:lnTo>
                  <a:lnTo>
                    <a:pt x="297" y="167"/>
                  </a:lnTo>
                  <a:lnTo>
                    <a:pt x="295" y="169"/>
                  </a:lnTo>
                  <a:lnTo>
                    <a:pt x="297" y="172"/>
                  </a:lnTo>
                  <a:lnTo>
                    <a:pt x="301" y="178"/>
                  </a:lnTo>
                  <a:lnTo>
                    <a:pt x="306" y="188"/>
                  </a:lnTo>
                  <a:lnTo>
                    <a:pt x="314" y="201"/>
                  </a:lnTo>
                  <a:lnTo>
                    <a:pt x="322" y="216"/>
                  </a:lnTo>
                  <a:lnTo>
                    <a:pt x="331" y="232"/>
                  </a:lnTo>
                  <a:lnTo>
                    <a:pt x="341" y="249"/>
                  </a:lnTo>
                  <a:lnTo>
                    <a:pt x="351" y="265"/>
                  </a:lnTo>
                  <a:lnTo>
                    <a:pt x="360" y="282"/>
                  </a:lnTo>
                  <a:lnTo>
                    <a:pt x="369" y="296"/>
                  </a:lnTo>
                  <a:lnTo>
                    <a:pt x="376" y="310"/>
                  </a:lnTo>
                  <a:lnTo>
                    <a:pt x="382" y="320"/>
                  </a:lnTo>
                  <a:lnTo>
                    <a:pt x="386" y="327"/>
                  </a:lnTo>
                  <a:lnTo>
                    <a:pt x="387" y="329"/>
                  </a:lnTo>
                  <a:lnTo>
                    <a:pt x="567" y="329"/>
                  </a:lnTo>
                  <a:lnTo>
                    <a:pt x="565" y="326"/>
                  </a:lnTo>
                  <a:lnTo>
                    <a:pt x="560" y="319"/>
                  </a:lnTo>
                  <a:lnTo>
                    <a:pt x="554" y="307"/>
                  </a:lnTo>
                  <a:lnTo>
                    <a:pt x="545" y="291"/>
                  </a:lnTo>
                  <a:lnTo>
                    <a:pt x="535" y="273"/>
                  </a:lnTo>
                  <a:lnTo>
                    <a:pt x="523" y="253"/>
                  </a:lnTo>
                  <a:lnTo>
                    <a:pt x="510" y="231"/>
                  </a:lnTo>
                  <a:lnTo>
                    <a:pt x="496" y="208"/>
                  </a:lnTo>
                  <a:lnTo>
                    <a:pt x="482" y="184"/>
                  </a:lnTo>
                  <a:lnTo>
                    <a:pt x="468" y="159"/>
                  </a:lnTo>
                  <a:lnTo>
                    <a:pt x="454" y="135"/>
                  </a:lnTo>
                  <a:lnTo>
                    <a:pt x="441" y="112"/>
                  </a:lnTo>
                  <a:lnTo>
                    <a:pt x="428" y="90"/>
                  </a:lnTo>
                  <a:lnTo>
                    <a:pt x="416" y="70"/>
                  </a:lnTo>
                  <a:lnTo>
                    <a:pt x="406" y="52"/>
                  </a:lnTo>
                  <a:lnTo>
                    <a:pt x="397" y="36"/>
                  </a:lnTo>
                  <a:lnTo>
                    <a:pt x="391" y="24"/>
                  </a:lnTo>
                  <a:lnTo>
                    <a:pt x="386" y="17"/>
                  </a:lnTo>
                  <a:lnTo>
                    <a:pt x="384" y="14"/>
                  </a:lnTo>
                  <a:close/>
                  <a:moveTo>
                    <a:pt x="194" y="14"/>
                  </a:moveTo>
                  <a:lnTo>
                    <a:pt x="193" y="17"/>
                  </a:lnTo>
                  <a:lnTo>
                    <a:pt x="188" y="24"/>
                  </a:lnTo>
                  <a:lnTo>
                    <a:pt x="182" y="36"/>
                  </a:lnTo>
                  <a:lnTo>
                    <a:pt x="173" y="52"/>
                  </a:lnTo>
                  <a:lnTo>
                    <a:pt x="163" y="70"/>
                  </a:lnTo>
                  <a:lnTo>
                    <a:pt x="151" y="90"/>
                  </a:lnTo>
                  <a:lnTo>
                    <a:pt x="138" y="112"/>
                  </a:lnTo>
                  <a:lnTo>
                    <a:pt x="125" y="135"/>
                  </a:lnTo>
                  <a:lnTo>
                    <a:pt x="111" y="159"/>
                  </a:lnTo>
                  <a:lnTo>
                    <a:pt x="97" y="184"/>
                  </a:lnTo>
                  <a:lnTo>
                    <a:pt x="83" y="208"/>
                  </a:lnTo>
                  <a:lnTo>
                    <a:pt x="69" y="231"/>
                  </a:lnTo>
                  <a:lnTo>
                    <a:pt x="57" y="253"/>
                  </a:lnTo>
                  <a:lnTo>
                    <a:pt x="45" y="273"/>
                  </a:lnTo>
                  <a:lnTo>
                    <a:pt x="35" y="291"/>
                  </a:lnTo>
                  <a:lnTo>
                    <a:pt x="26" y="307"/>
                  </a:lnTo>
                  <a:lnTo>
                    <a:pt x="19" y="319"/>
                  </a:lnTo>
                  <a:lnTo>
                    <a:pt x="15" y="326"/>
                  </a:lnTo>
                  <a:lnTo>
                    <a:pt x="13" y="329"/>
                  </a:lnTo>
                  <a:lnTo>
                    <a:pt x="192" y="329"/>
                  </a:lnTo>
                  <a:lnTo>
                    <a:pt x="193" y="327"/>
                  </a:lnTo>
                  <a:lnTo>
                    <a:pt x="197" y="320"/>
                  </a:lnTo>
                  <a:lnTo>
                    <a:pt x="203" y="310"/>
                  </a:lnTo>
                  <a:lnTo>
                    <a:pt x="210" y="296"/>
                  </a:lnTo>
                  <a:lnTo>
                    <a:pt x="219" y="282"/>
                  </a:lnTo>
                  <a:lnTo>
                    <a:pt x="229" y="265"/>
                  </a:lnTo>
                  <a:lnTo>
                    <a:pt x="239" y="249"/>
                  </a:lnTo>
                  <a:lnTo>
                    <a:pt x="248" y="232"/>
                  </a:lnTo>
                  <a:lnTo>
                    <a:pt x="258" y="216"/>
                  </a:lnTo>
                  <a:lnTo>
                    <a:pt x="266" y="201"/>
                  </a:lnTo>
                  <a:lnTo>
                    <a:pt x="273" y="188"/>
                  </a:lnTo>
                  <a:lnTo>
                    <a:pt x="279" y="178"/>
                  </a:lnTo>
                  <a:lnTo>
                    <a:pt x="283" y="172"/>
                  </a:lnTo>
                  <a:lnTo>
                    <a:pt x="285" y="169"/>
                  </a:lnTo>
                  <a:lnTo>
                    <a:pt x="283" y="167"/>
                  </a:lnTo>
                  <a:lnTo>
                    <a:pt x="280" y="160"/>
                  </a:lnTo>
                  <a:lnTo>
                    <a:pt x="274" y="151"/>
                  </a:lnTo>
                  <a:lnTo>
                    <a:pt x="267" y="139"/>
                  </a:lnTo>
                  <a:lnTo>
                    <a:pt x="259" y="124"/>
                  </a:lnTo>
                  <a:lnTo>
                    <a:pt x="250" y="109"/>
                  </a:lnTo>
                  <a:lnTo>
                    <a:pt x="241" y="93"/>
                  </a:lnTo>
                  <a:lnTo>
                    <a:pt x="231" y="77"/>
                  </a:lnTo>
                  <a:lnTo>
                    <a:pt x="222" y="61"/>
                  </a:lnTo>
                  <a:lnTo>
                    <a:pt x="213" y="47"/>
                  </a:lnTo>
                  <a:lnTo>
                    <a:pt x="206" y="33"/>
                  </a:lnTo>
                  <a:lnTo>
                    <a:pt x="200" y="23"/>
                  </a:lnTo>
                  <a:lnTo>
                    <a:pt x="196" y="17"/>
                  </a:lnTo>
                  <a:lnTo>
                    <a:pt x="194" y="14"/>
                  </a:lnTo>
                  <a:close/>
                  <a:moveTo>
                    <a:pt x="202" y="9"/>
                  </a:moveTo>
                  <a:lnTo>
                    <a:pt x="204" y="12"/>
                  </a:lnTo>
                  <a:lnTo>
                    <a:pt x="209" y="20"/>
                  </a:lnTo>
                  <a:lnTo>
                    <a:pt x="215" y="30"/>
                  </a:lnTo>
                  <a:lnTo>
                    <a:pt x="224" y="44"/>
                  </a:lnTo>
                  <a:lnTo>
                    <a:pt x="232" y="60"/>
                  </a:lnTo>
                  <a:lnTo>
                    <a:pt x="242" y="77"/>
                  </a:lnTo>
                  <a:lnTo>
                    <a:pt x="251" y="93"/>
                  </a:lnTo>
                  <a:lnTo>
                    <a:pt x="261" y="110"/>
                  </a:lnTo>
                  <a:lnTo>
                    <a:pt x="270" y="125"/>
                  </a:lnTo>
                  <a:lnTo>
                    <a:pt x="277" y="138"/>
                  </a:lnTo>
                  <a:lnTo>
                    <a:pt x="284" y="149"/>
                  </a:lnTo>
                  <a:lnTo>
                    <a:pt x="288" y="157"/>
                  </a:lnTo>
                  <a:lnTo>
                    <a:pt x="290" y="160"/>
                  </a:lnTo>
                  <a:lnTo>
                    <a:pt x="292" y="157"/>
                  </a:lnTo>
                  <a:lnTo>
                    <a:pt x="296" y="149"/>
                  </a:lnTo>
                  <a:lnTo>
                    <a:pt x="302" y="138"/>
                  </a:lnTo>
                  <a:lnTo>
                    <a:pt x="310" y="125"/>
                  </a:lnTo>
                  <a:lnTo>
                    <a:pt x="319" y="110"/>
                  </a:lnTo>
                  <a:lnTo>
                    <a:pt x="328" y="93"/>
                  </a:lnTo>
                  <a:lnTo>
                    <a:pt x="338" y="77"/>
                  </a:lnTo>
                  <a:lnTo>
                    <a:pt x="347" y="60"/>
                  </a:lnTo>
                  <a:lnTo>
                    <a:pt x="356" y="44"/>
                  </a:lnTo>
                  <a:lnTo>
                    <a:pt x="364" y="30"/>
                  </a:lnTo>
                  <a:lnTo>
                    <a:pt x="370" y="20"/>
                  </a:lnTo>
                  <a:lnTo>
                    <a:pt x="375" y="12"/>
                  </a:lnTo>
                  <a:lnTo>
                    <a:pt x="376" y="9"/>
                  </a:lnTo>
                  <a:lnTo>
                    <a:pt x="202" y="9"/>
                  </a:lnTo>
                  <a:close/>
                  <a:moveTo>
                    <a:pt x="192" y="0"/>
                  </a:moveTo>
                  <a:lnTo>
                    <a:pt x="387" y="0"/>
                  </a:lnTo>
                  <a:lnTo>
                    <a:pt x="580" y="334"/>
                  </a:lnTo>
                  <a:lnTo>
                    <a:pt x="482" y="502"/>
                  </a:lnTo>
                  <a:lnTo>
                    <a:pt x="97" y="502"/>
                  </a:lnTo>
                  <a:lnTo>
                    <a:pt x="0" y="334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8FE0E757-FE52-0454-B46D-2E78143B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" y="-60"/>
              <a:ext cx="28" cy="34"/>
            </a:xfrm>
            <a:custGeom>
              <a:avLst/>
              <a:gdLst>
                <a:gd name="T0" fmla="*/ 0 w 84"/>
                <a:gd name="T1" fmla="*/ 0 h 101"/>
                <a:gd name="T2" fmla="*/ 25 w 84"/>
                <a:gd name="T3" fmla="*/ 0 h 101"/>
                <a:gd name="T4" fmla="*/ 53 w 84"/>
                <a:gd name="T5" fmla="*/ 48 h 101"/>
                <a:gd name="T6" fmla="*/ 66 w 84"/>
                <a:gd name="T7" fmla="*/ 72 h 101"/>
                <a:gd name="T8" fmla="*/ 66 w 84"/>
                <a:gd name="T9" fmla="*/ 60 h 101"/>
                <a:gd name="T10" fmla="*/ 65 w 84"/>
                <a:gd name="T11" fmla="*/ 45 h 101"/>
                <a:gd name="T12" fmla="*/ 65 w 84"/>
                <a:gd name="T13" fmla="*/ 32 h 101"/>
                <a:gd name="T14" fmla="*/ 65 w 84"/>
                <a:gd name="T15" fmla="*/ 0 h 101"/>
                <a:gd name="T16" fmla="*/ 84 w 84"/>
                <a:gd name="T17" fmla="*/ 0 h 101"/>
                <a:gd name="T18" fmla="*/ 84 w 84"/>
                <a:gd name="T19" fmla="*/ 101 h 101"/>
                <a:gd name="T20" fmla="*/ 58 w 84"/>
                <a:gd name="T21" fmla="*/ 101 h 101"/>
                <a:gd name="T22" fmla="*/ 29 w 84"/>
                <a:gd name="T23" fmla="*/ 50 h 101"/>
                <a:gd name="T24" fmla="*/ 23 w 84"/>
                <a:gd name="T25" fmla="*/ 39 h 101"/>
                <a:gd name="T26" fmla="*/ 18 w 84"/>
                <a:gd name="T27" fmla="*/ 28 h 101"/>
                <a:gd name="T28" fmla="*/ 18 w 84"/>
                <a:gd name="T29" fmla="*/ 39 h 101"/>
                <a:gd name="T30" fmla="*/ 19 w 84"/>
                <a:gd name="T31" fmla="*/ 52 h 101"/>
                <a:gd name="T32" fmla="*/ 19 w 84"/>
                <a:gd name="T33" fmla="*/ 65 h 101"/>
                <a:gd name="T34" fmla="*/ 19 w 84"/>
                <a:gd name="T35" fmla="*/ 101 h 101"/>
                <a:gd name="T36" fmla="*/ 0 w 84"/>
                <a:gd name="T37" fmla="*/ 101 h 101"/>
                <a:gd name="T38" fmla="*/ 0 w 84"/>
                <a:gd name="T3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84" h="101">
                  <a:moveTo>
                    <a:pt x="0" y="0"/>
                  </a:moveTo>
                  <a:lnTo>
                    <a:pt x="25" y="0"/>
                  </a:lnTo>
                  <a:lnTo>
                    <a:pt x="53" y="48"/>
                  </a:lnTo>
                  <a:lnTo>
                    <a:pt x="66" y="72"/>
                  </a:lnTo>
                  <a:lnTo>
                    <a:pt x="66" y="60"/>
                  </a:lnTo>
                  <a:lnTo>
                    <a:pt x="65" y="45"/>
                  </a:lnTo>
                  <a:lnTo>
                    <a:pt x="65" y="32"/>
                  </a:lnTo>
                  <a:lnTo>
                    <a:pt x="65" y="0"/>
                  </a:lnTo>
                  <a:lnTo>
                    <a:pt x="84" y="0"/>
                  </a:lnTo>
                  <a:lnTo>
                    <a:pt x="84" y="101"/>
                  </a:lnTo>
                  <a:lnTo>
                    <a:pt x="58" y="101"/>
                  </a:lnTo>
                  <a:lnTo>
                    <a:pt x="29" y="50"/>
                  </a:lnTo>
                  <a:lnTo>
                    <a:pt x="23" y="39"/>
                  </a:lnTo>
                  <a:lnTo>
                    <a:pt x="18" y="28"/>
                  </a:lnTo>
                  <a:lnTo>
                    <a:pt x="18" y="39"/>
                  </a:lnTo>
                  <a:lnTo>
                    <a:pt x="19" y="52"/>
                  </a:lnTo>
                  <a:lnTo>
                    <a:pt x="19" y="65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232BC4C-7669-EF14-BF72-E10264276B2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26" y="-60"/>
              <a:ext cx="31" cy="34"/>
            </a:xfrm>
            <a:custGeom>
              <a:avLst/>
              <a:gdLst>
                <a:gd name="T0" fmla="*/ 45 w 92"/>
                <a:gd name="T1" fmla="*/ 22 h 101"/>
                <a:gd name="T2" fmla="*/ 40 w 92"/>
                <a:gd name="T3" fmla="*/ 39 h 101"/>
                <a:gd name="T4" fmla="*/ 31 w 92"/>
                <a:gd name="T5" fmla="*/ 65 h 101"/>
                <a:gd name="T6" fmla="*/ 59 w 92"/>
                <a:gd name="T7" fmla="*/ 65 h 101"/>
                <a:gd name="T8" fmla="*/ 49 w 92"/>
                <a:gd name="T9" fmla="*/ 39 h 101"/>
                <a:gd name="T10" fmla="*/ 45 w 92"/>
                <a:gd name="T11" fmla="*/ 22 h 101"/>
                <a:gd name="T12" fmla="*/ 45 w 92"/>
                <a:gd name="T13" fmla="*/ 22 h 101"/>
                <a:gd name="T14" fmla="*/ 35 w 92"/>
                <a:gd name="T15" fmla="*/ 0 h 101"/>
                <a:gd name="T16" fmla="*/ 56 w 92"/>
                <a:gd name="T17" fmla="*/ 0 h 101"/>
                <a:gd name="T18" fmla="*/ 92 w 92"/>
                <a:gd name="T19" fmla="*/ 101 h 101"/>
                <a:gd name="T20" fmla="*/ 71 w 92"/>
                <a:gd name="T21" fmla="*/ 101 h 101"/>
                <a:gd name="T22" fmla="*/ 64 w 92"/>
                <a:gd name="T23" fmla="*/ 80 h 101"/>
                <a:gd name="T24" fmla="*/ 26 w 92"/>
                <a:gd name="T25" fmla="*/ 80 h 101"/>
                <a:gd name="T26" fmla="*/ 19 w 92"/>
                <a:gd name="T27" fmla="*/ 101 h 101"/>
                <a:gd name="T28" fmla="*/ 0 w 92"/>
                <a:gd name="T29" fmla="*/ 101 h 101"/>
                <a:gd name="T30" fmla="*/ 35 w 92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2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59" y="65"/>
                  </a:lnTo>
                  <a:lnTo>
                    <a:pt x="49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6" y="0"/>
                  </a:lnTo>
                  <a:lnTo>
                    <a:pt x="92" y="101"/>
                  </a:lnTo>
                  <a:lnTo>
                    <a:pt x="71" y="101"/>
                  </a:lnTo>
                  <a:lnTo>
                    <a:pt x="64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9CB1566-3B6F-D974-B99B-98362F89B5B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" y="-60"/>
              <a:ext cx="24" cy="34"/>
            </a:xfrm>
            <a:custGeom>
              <a:avLst/>
              <a:gdLst>
                <a:gd name="T0" fmla="*/ 0 w 71"/>
                <a:gd name="T1" fmla="*/ 0 h 101"/>
                <a:gd name="T2" fmla="*/ 71 w 71"/>
                <a:gd name="T3" fmla="*/ 0 h 101"/>
                <a:gd name="T4" fmla="*/ 71 w 71"/>
                <a:gd name="T5" fmla="*/ 17 h 101"/>
                <a:gd name="T6" fmla="*/ 46 w 71"/>
                <a:gd name="T7" fmla="*/ 17 h 101"/>
                <a:gd name="T8" fmla="*/ 46 w 71"/>
                <a:gd name="T9" fmla="*/ 101 h 101"/>
                <a:gd name="T10" fmla="*/ 26 w 71"/>
                <a:gd name="T11" fmla="*/ 101 h 101"/>
                <a:gd name="T12" fmla="*/ 26 w 71"/>
                <a:gd name="T13" fmla="*/ 17 h 101"/>
                <a:gd name="T14" fmla="*/ 0 w 71"/>
                <a:gd name="T15" fmla="*/ 17 h 101"/>
                <a:gd name="T16" fmla="*/ 0 w 71"/>
                <a:gd name="T1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101">
                  <a:moveTo>
                    <a:pt x="0" y="0"/>
                  </a:moveTo>
                  <a:lnTo>
                    <a:pt x="71" y="0"/>
                  </a:lnTo>
                  <a:lnTo>
                    <a:pt x="71" y="17"/>
                  </a:lnTo>
                  <a:lnTo>
                    <a:pt x="46" y="17"/>
                  </a:lnTo>
                  <a:lnTo>
                    <a:pt x="46" y="101"/>
                  </a:lnTo>
                  <a:lnTo>
                    <a:pt x="26" y="101"/>
                  </a:lnTo>
                  <a:lnTo>
                    <a:pt x="26" y="17"/>
                  </a:lnTo>
                  <a:lnTo>
                    <a:pt x="0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F8EB310-A2A0-95FF-5EA7-C095B7DE66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0" y="-60"/>
              <a:ext cx="7" cy="34"/>
            </a:xfrm>
            <a:prstGeom prst="rect">
              <a:avLst/>
            </a:prstGeom>
            <a:solidFill>
              <a:srgbClr val="FFFFFF"/>
            </a:solidFill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B66B2319-5837-09EE-F1F7-D88A4F5475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5" y="-60"/>
              <a:ext cx="31" cy="34"/>
            </a:xfrm>
            <a:custGeom>
              <a:avLst/>
              <a:gdLst>
                <a:gd name="T0" fmla="*/ 47 w 94"/>
                <a:gd name="T1" fmla="*/ 17 h 104"/>
                <a:gd name="T2" fmla="*/ 39 w 94"/>
                <a:gd name="T3" fmla="*/ 18 h 104"/>
                <a:gd name="T4" fmla="*/ 32 w 94"/>
                <a:gd name="T5" fmla="*/ 22 h 104"/>
                <a:gd name="T6" fmla="*/ 26 w 94"/>
                <a:gd name="T7" fmla="*/ 29 h 104"/>
                <a:gd name="T8" fmla="*/ 22 w 94"/>
                <a:gd name="T9" fmla="*/ 39 h 104"/>
                <a:gd name="T10" fmla="*/ 21 w 94"/>
                <a:gd name="T11" fmla="*/ 51 h 104"/>
                <a:gd name="T12" fmla="*/ 22 w 94"/>
                <a:gd name="T13" fmla="*/ 63 h 104"/>
                <a:gd name="T14" fmla="*/ 25 w 94"/>
                <a:gd name="T15" fmla="*/ 72 h 104"/>
                <a:gd name="T16" fmla="*/ 30 w 94"/>
                <a:gd name="T17" fmla="*/ 80 h 104"/>
                <a:gd name="T18" fmla="*/ 37 w 94"/>
                <a:gd name="T19" fmla="*/ 84 h 104"/>
                <a:gd name="T20" fmla="*/ 47 w 94"/>
                <a:gd name="T21" fmla="*/ 86 h 104"/>
                <a:gd name="T22" fmla="*/ 55 w 94"/>
                <a:gd name="T23" fmla="*/ 85 h 104"/>
                <a:gd name="T24" fmla="*/ 62 w 94"/>
                <a:gd name="T25" fmla="*/ 81 h 104"/>
                <a:gd name="T26" fmla="*/ 68 w 94"/>
                <a:gd name="T27" fmla="*/ 74 h 104"/>
                <a:gd name="T28" fmla="*/ 72 w 94"/>
                <a:gd name="T29" fmla="*/ 65 h 104"/>
                <a:gd name="T30" fmla="*/ 74 w 94"/>
                <a:gd name="T31" fmla="*/ 52 h 104"/>
                <a:gd name="T32" fmla="*/ 72 w 94"/>
                <a:gd name="T33" fmla="*/ 37 h 104"/>
                <a:gd name="T34" fmla="*/ 67 w 94"/>
                <a:gd name="T35" fmla="*/ 26 h 104"/>
                <a:gd name="T36" fmla="*/ 59 w 94"/>
                <a:gd name="T37" fmla="*/ 19 h 104"/>
                <a:gd name="T38" fmla="*/ 47 w 94"/>
                <a:gd name="T39" fmla="*/ 17 h 104"/>
                <a:gd name="T40" fmla="*/ 49 w 94"/>
                <a:gd name="T41" fmla="*/ 0 h 104"/>
                <a:gd name="T42" fmla="*/ 62 w 94"/>
                <a:gd name="T43" fmla="*/ 1 h 104"/>
                <a:gd name="T44" fmla="*/ 73 w 94"/>
                <a:gd name="T45" fmla="*/ 5 h 104"/>
                <a:gd name="T46" fmla="*/ 82 w 94"/>
                <a:gd name="T47" fmla="*/ 12 h 104"/>
                <a:gd name="T48" fmla="*/ 89 w 94"/>
                <a:gd name="T49" fmla="*/ 22 h 104"/>
                <a:gd name="T50" fmla="*/ 93 w 94"/>
                <a:gd name="T51" fmla="*/ 34 h 104"/>
                <a:gd name="T52" fmla="*/ 94 w 94"/>
                <a:gd name="T53" fmla="*/ 50 h 104"/>
                <a:gd name="T54" fmla="*/ 93 w 94"/>
                <a:gd name="T55" fmla="*/ 66 h 104"/>
                <a:gd name="T56" fmla="*/ 88 w 94"/>
                <a:gd name="T57" fmla="*/ 79 h 104"/>
                <a:gd name="T58" fmla="*/ 80 w 94"/>
                <a:gd name="T59" fmla="*/ 89 h 104"/>
                <a:gd name="T60" fmla="*/ 70 w 94"/>
                <a:gd name="T61" fmla="*/ 97 h 104"/>
                <a:gd name="T62" fmla="*/ 59 w 94"/>
                <a:gd name="T63" fmla="*/ 102 h 104"/>
                <a:gd name="T64" fmla="*/ 46 w 94"/>
                <a:gd name="T65" fmla="*/ 104 h 104"/>
                <a:gd name="T66" fmla="*/ 32 w 94"/>
                <a:gd name="T67" fmla="*/ 102 h 104"/>
                <a:gd name="T68" fmla="*/ 20 w 94"/>
                <a:gd name="T69" fmla="*/ 97 h 104"/>
                <a:gd name="T70" fmla="*/ 11 w 94"/>
                <a:gd name="T71" fmla="*/ 90 h 104"/>
                <a:gd name="T72" fmla="*/ 5 w 94"/>
                <a:gd name="T73" fmla="*/ 80 h 104"/>
                <a:gd name="T74" fmla="*/ 1 w 94"/>
                <a:gd name="T75" fmla="*/ 67 h 104"/>
                <a:gd name="T76" fmla="*/ 0 w 94"/>
                <a:gd name="T77" fmla="*/ 53 h 104"/>
                <a:gd name="T78" fmla="*/ 2 w 94"/>
                <a:gd name="T79" fmla="*/ 37 h 104"/>
                <a:gd name="T80" fmla="*/ 7 w 94"/>
                <a:gd name="T81" fmla="*/ 24 h 104"/>
                <a:gd name="T82" fmla="*/ 15 w 94"/>
                <a:gd name="T83" fmla="*/ 14 h 104"/>
                <a:gd name="T84" fmla="*/ 24 w 94"/>
                <a:gd name="T85" fmla="*/ 6 h 104"/>
                <a:gd name="T86" fmla="*/ 36 w 94"/>
                <a:gd name="T87" fmla="*/ 1 h 104"/>
                <a:gd name="T88" fmla="*/ 49 w 94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4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1" y="51"/>
                  </a:lnTo>
                  <a:lnTo>
                    <a:pt x="22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7" y="84"/>
                  </a:lnTo>
                  <a:lnTo>
                    <a:pt x="47" y="86"/>
                  </a:lnTo>
                  <a:lnTo>
                    <a:pt x="55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2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9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2" y="1"/>
                  </a:lnTo>
                  <a:lnTo>
                    <a:pt x="73" y="5"/>
                  </a:lnTo>
                  <a:lnTo>
                    <a:pt x="82" y="12"/>
                  </a:lnTo>
                  <a:lnTo>
                    <a:pt x="89" y="22"/>
                  </a:lnTo>
                  <a:lnTo>
                    <a:pt x="93" y="34"/>
                  </a:lnTo>
                  <a:lnTo>
                    <a:pt x="94" y="50"/>
                  </a:lnTo>
                  <a:lnTo>
                    <a:pt x="93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9" y="102"/>
                  </a:lnTo>
                  <a:lnTo>
                    <a:pt x="46" y="104"/>
                  </a:lnTo>
                  <a:lnTo>
                    <a:pt x="32" y="102"/>
                  </a:lnTo>
                  <a:lnTo>
                    <a:pt x="20" y="97"/>
                  </a:lnTo>
                  <a:lnTo>
                    <a:pt x="11" y="90"/>
                  </a:lnTo>
                  <a:lnTo>
                    <a:pt x="5" y="80"/>
                  </a:lnTo>
                  <a:lnTo>
                    <a:pt x="1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5" y="14"/>
                  </a:lnTo>
                  <a:lnTo>
                    <a:pt x="24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E3CE8EC-1722-1CDF-4233-5020330DE76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3" y="-60"/>
              <a:ext cx="28" cy="34"/>
            </a:xfrm>
            <a:custGeom>
              <a:avLst/>
              <a:gdLst>
                <a:gd name="T0" fmla="*/ 0 w 83"/>
                <a:gd name="T1" fmla="*/ 0 h 101"/>
                <a:gd name="T2" fmla="*/ 25 w 83"/>
                <a:gd name="T3" fmla="*/ 0 h 101"/>
                <a:gd name="T4" fmla="*/ 53 w 83"/>
                <a:gd name="T5" fmla="*/ 48 h 101"/>
                <a:gd name="T6" fmla="*/ 65 w 83"/>
                <a:gd name="T7" fmla="*/ 72 h 101"/>
                <a:gd name="T8" fmla="*/ 65 w 83"/>
                <a:gd name="T9" fmla="*/ 60 h 101"/>
                <a:gd name="T10" fmla="*/ 64 w 83"/>
                <a:gd name="T11" fmla="*/ 45 h 101"/>
                <a:gd name="T12" fmla="*/ 64 w 83"/>
                <a:gd name="T13" fmla="*/ 32 h 101"/>
                <a:gd name="T14" fmla="*/ 64 w 83"/>
                <a:gd name="T15" fmla="*/ 0 h 101"/>
                <a:gd name="T16" fmla="*/ 83 w 83"/>
                <a:gd name="T17" fmla="*/ 0 h 101"/>
                <a:gd name="T18" fmla="*/ 83 w 83"/>
                <a:gd name="T19" fmla="*/ 101 h 101"/>
                <a:gd name="T20" fmla="*/ 58 w 83"/>
                <a:gd name="T21" fmla="*/ 101 h 101"/>
                <a:gd name="T22" fmla="*/ 29 w 83"/>
                <a:gd name="T23" fmla="*/ 50 h 101"/>
                <a:gd name="T24" fmla="*/ 18 w 83"/>
                <a:gd name="T25" fmla="*/ 28 h 101"/>
                <a:gd name="T26" fmla="*/ 18 w 83"/>
                <a:gd name="T27" fmla="*/ 39 h 101"/>
                <a:gd name="T28" fmla="*/ 19 w 83"/>
                <a:gd name="T29" fmla="*/ 52 h 101"/>
                <a:gd name="T30" fmla="*/ 19 w 83"/>
                <a:gd name="T31" fmla="*/ 65 h 101"/>
                <a:gd name="T32" fmla="*/ 19 w 83"/>
                <a:gd name="T33" fmla="*/ 101 h 101"/>
                <a:gd name="T34" fmla="*/ 0 w 83"/>
                <a:gd name="T35" fmla="*/ 101 h 101"/>
                <a:gd name="T36" fmla="*/ 0 w 83"/>
                <a:gd name="T3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3" h="101">
                  <a:moveTo>
                    <a:pt x="0" y="0"/>
                  </a:moveTo>
                  <a:lnTo>
                    <a:pt x="25" y="0"/>
                  </a:lnTo>
                  <a:lnTo>
                    <a:pt x="53" y="48"/>
                  </a:lnTo>
                  <a:lnTo>
                    <a:pt x="65" y="72"/>
                  </a:lnTo>
                  <a:lnTo>
                    <a:pt x="65" y="60"/>
                  </a:lnTo>
                  <a:lnTo>
                    <a:pt x="64" y="45"/>
                  </a:lnTo>
                  <a:lnTo>
                    <a:pt x="64" y="32"/>
                  </a:lnTo>
                  <a:lnTo>
                    <a:pt x="64" y="0"/>
                  </a:lnTo>
                  <a:lnTo>
                    <a:pt x="83" y="0"/>
                  </a:lnTo>
                  <a:lnTo>
                    <a:pt x="83" y="101"/>
                  </a:lnTo>
                  <a:lnTo>
                    <a:pt x="58" y="101"/>
                  </a:lnTo>
                  <a:lnTo>
                    <a:pt x="29" y="50"/>
                  </a:lnTo>
                  <a:lnTo>
                    <a:pt x="18" y="28"/>
                  </a:lnTo>
                  <a:lnTo>
                    <a:pt x="18" y="39"/>
                  </a:lnTo>
                  <a:lnTo>
                    <a:pt x="19" y="52"/>
                  </a:lnTo>
                  <a:lnTo>
                    <a:pt x="19" y="65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E8FFFD1-62A4-349B-CC3F-92AB9CA1C9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78" y="-60"/>
              <a:ext cx="31" cy="34"/>
            </a:xfrm>
            <a:custGeom>
              <a:avLst/>
              <a:gdLst>
                <a:gd name="T0" fmla="*/ 45 w 93"/>
                <a:gd name="T1" fmla="*/ 22 h 101"/>
                <a:gd name="T2" fmla="*/ 40 w 93"/>
                <a:gd name="T3" fmla="*/ 39 h 101"/>
                <a:gd name="T4" fmla="*/ 31 w 93"/>
                <a:gd name="T5" fmla="*/ 65 h 101"/>
                <a:gd name="T6" fmla="*/ 60 w 93"/>
                <a:gd name="T7" fmla="*/ 65 h 101"/>
                <a:gd name="T8" fmla="*/ 49 w 93"/>
                <a:gd name="T9" fmla="*/ 39 h 101"/>
                <a:gd name="T10" fmla="*/ 45 w 93"/>
                <a:gd name="T11" fmla="*/ 22 h 101"/>
                <a:gd name="T12" fmla="*/ 45 w 93"/>
                <a:gd name="T13" fmla="*/ 22 h 101"/>
                <a:gd name="T14" fmla="*/ 35 w 93"/>
                <a:gd name="T15" fmla="*/ 0 h 101"/>
                <a:gd name="T16" fmla="*/ 57 w 93"/>
                <a:gd name="T17" fmla="*/ 0 h 101"/>
                <a:gd name="T18" fmla="*/ 93 w 93"/>
                <a:gd name="T19" fmla="*/ 101 h 101"/>
                <a:gd name="T20" fmla="*/ 72 w 93"/>
                <a:gd name="T21" fmla="*/ 101 h 101"/>
                <a:gd name="T22" fmla="*/ 65 w 93"/>
                <a:gd name="T23" fmla="*/ 80 h 101"/>
                <a:gd name="T24" fmla="*/ 26 w 93"/>
                <a:gd name="T25" fmla="*/ 80 h 101"/>
                <a:gd name="T26" fmla="*/ 19 w 93"/>
                <a:gd name="T27" fmla="*/ 101 h 101"/>
                <a:gd name="T28" fmla="*/ 0 w 93"/>
                <a:gd name="T29" fmla="*/ 101 h 101"/>
                <a:gd name="T30" fmla="*/ 35 w 93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3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60" y="65"/>
                  </a:lnTo>
                  <a:lnTo>
                    <a:pt x="49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3" y="101"/>
                  </a:lnTo>
                  <a:lnTo>
                    <a:pt x="72" y="101"/>
                  </a:lnTo>
                  <a:lnTo>
                    <a:pt x="65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E84AAD6-D7E3-BA42-F46F-C703A1E120EF}"/>
                </a:ext>
              </a:extLst>
            </p:cNvPr>
            <p:cNvSpPr>
              <a:spLocks/>
            </p:cNvSpPr>
            <p:nvPr/>
          </p:nvSpPr>
          <p:spPr bwMode="auto">
            <a:xfrm>
              <a:off x="5016" y="-60"/>
              <a:ext cx="18" cy="34"/>
            </a:xfrm>
            <a:custGeom>
              <a:avLst/>
              <a:gdLst>
                <a:gd name="T0" fmla="*/ 0 w 52"/>
                <a:gd name="T1" fmla="*/ 0 h 101"/>
                <a:gd name="T2" fmla="*/ 19 w 52"/>
                <a:gd name="T3" fmla="*/ 0 h 101"/>
                <a:gd name="T4" fmla="*/ 19 w 52"/>
                <a:gd name="T5" fmla="*/ 84 h 101"/>
                <a:gd name="T6" fmla="*/ 52 w 52"/>
                <a:gd name="T7" fmla="*/ 84 h 101"/>
                <a:gd name="T8" fmla="*/ 52 w 52"/>
                <a:gd name="T9" fmla="*/ 101 h 101"/>
                <a:gd name="T10" fmla="*/ 0 w 52"/>
                <a:gd name="T11" fmla="*/ 101 h 101"/>
                <a:gd name="T12" fmla="*/ 0 w 52"/>
                <a:gd name="T13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" h="101">
                  <a:moveTo>
                    <a:pt x="0" y="0"/>
                  </a:moveTo>
                  <a:lnTo>
                    <a:pt x="19" y="0"/>
                  </a:lnTo>
                  <a:lnTo>
                    <a:pt x="19" y="84"/>
                  </a:lnTo>
                  <a:lnTo>
                    <a:pt x="52" y="84"/>
                  </a:lnTo>
                  <a:lnTo>
                    <a:pt x="52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37E8A8B-0E42-BBAB-948B-135BA959A7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054" y="-60"/>
              <a:ext cx="18" cy="34"/>
            </a:xfrm>
            <a:custGeom>
              <a:avLst/>
              <a:gdLst>
                <a:gd name="T0" fmla="*/ 0 w 52"/>
                <a:gd name="T1" fmla="*/ 0 h 101"/>
                <a:gd name="T2" fmla="*/ 19 w 52"/>
                <a:gd name="T3" fmla="*/ 0 h 101"/>
                <a:gd name="T4" fmla="*/ 19 w 52"/>
                <a:gd name="T5" fmla="*/ 84 h 101"/>
                <a:gd name="T6" fmla="*/ 52 w 52"/>
                <a:gd name="T7" fmla="*/ 84 h 101"/>
                <a:gd name="T8" fmla="*/ 52 w 52"/>
                <a:gd name="T9" fmla="*/ 101 h 101"/>
                <a:gd name="T10" fmla="*/ 0 w 52"/>
                <a:gd name="T11" fmla="*/ 101 h 101"/>
                <a:gd name="T12" fmla="*/ 0 w 52"/>
                <a:gd name="T13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" h="101">
                  <a:moveTo>
                    <a:pt x="0" y="0"/>
                  </a:moveTo>
                  <a:lnTo>
                    <a:pt x="19" y="0"/>
                  </a:lnTo>
                  <a:lnTo>
                    <a:pt x="19" y="84"/>
                  </a:lnTo>
                  <a:lnTo>
                    <a:pt x="52" y="84"/>
                  </a:lnTo>
                  <a:lnTo>
                    <a:pt x="52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B36C56-30D2-744F-C850-901ED90BE86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79" y="-60"/>
              <a:ext cx="31" cy="34"/>
            </a:xfrm>
            <a:custGeom>
              <a:avLst/>
              <a:gdLst>
                <a:gd name="T0" fmla="*/ 46 w 93"/>
                <a:gd name="T1" fmla="*/ 22 h 101"/>
                <a:gd name="T2" fmla="*/ 41 w 93"/>
                <a:gd name="T3" fmla="*/ 39 h 101"/>
                <a:gd name="T4" fmla="*/ 32 w 93"/>
                <a:gd name="T5" fmla="*/ 65 h 101"/>
                <a:gd name="T6" fmla="*/ 60 w 93"/>
                <a:gd name="T7" fmla="*/ 65 h 101"/>
                <a:gd name="T8" fmla="*/ 50 w 93"/>
                <a:gd name="T9" fmla="*/ 39 h 101"/>
                <a:gd name="T10" fmla="*/ 46 w 93"/>
                <a:gd name="T11" fmla="*/ 22 h 101"/>
                <a:gd name="T12" fmla="*/ 46 w 93"/>
                <a:gd name="T13" fmla="*/ 22 h 101"/>
                <a:gd name="T14" fmla="*/ 35 w 93"/>
                <a:gd name="T15" fmla="*/ 0 h 101"/>
                <a:gd name="T16" fmla="*/ 57 w 93"/>
                <a:gd name="T17" fmla="*/ 0 h 101"/>
                <a:gd name="T18" fmla="*/ 93 w 93"/>
                <a:gd name="T19" fmla="*/ 101 h 101"/>
                <a:gd name="T20" fmla="*/ 72 w 93"/>
                <a:gd name="T21" fmla="*/ 101 h 101"/>
                <a:gd name="T22" fmla="*/ 65 w 93"/>
                <a:gd name="T23" fmla="*/ 80 h 101"/>
                <a:gd name="T24" fmla="*/ 26 w 93"/>
                <a:gd name="T25" fmla="*/ 80 h 101"/>
                <a:gd name="T26" fmla="*/ 19 w 93"/>
                <a:gd name="T27" fmla="*/ 101 h 101"/>
                <a:gd name="T28" fmla="*/ 0 w 93"/>
                <a:gd name="T29" fmla="*/ 101 h 101"/>
                <a:gd name="T30" fmla="*/ 35 w 93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3" h="101">
                  <a:moveTo>
                    <a:pt x="46" y="22"/>
                  </a:moveTo>
                  <a:lnTo>
                    <a:pt x="41" y="39"/>
                  </a:lnTo>
                  <a:lnTo>
                    <a:pt x="32" y="65"/>
                  </a:lnTo>
                  <a:lnTo>
                    <a:pt x="60" y="65"/>
                  </a:lnTo>
                  <a:lnTo>
                    <a:pt x="50" y="39"/>
                  </a:lnTo>
                  <a:lnTo>
                    <a:pt x="46" y="22"/>
                  </a:lnTo>
                  <a:lnTo>
                    <a:pt x="46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3" y="101"/>
                  </a:lnTo>
                  <a:lnTo>
                    <a:pt x="72" y="101"/>
                  </a:lnTo>
                  <a:lnTo>
                    <a:pt x="65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40A1785-166A-8C92-FEC2-E6E478BBF6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17" y="-60"/>
              <a:ext cx="23" cy="34"/>
            </a:xfrm>
            <a:custGeom>
              <a:avLst/>
              <a:gdLst>
                <a:gd name="T0" fmla="*/ 28 w 70"/>
                <a:gd name="T1" fmla="*/ 56 h 101"/>
                <a:gd name="T2" fmla="*/ 26 w 70"/>
                <a:gd name="T3" fmla="*/ 56 h 101"/>
                <a:gd name="T4" fmla="*/ 24 w 70"/>
                <a:gd name="T5" fmla="*/ 56 h 101"/>
                <a:gd name="T6" fmla="*/ 22 w 70"/>
                <a:gd name="T7" fmla="*/ 57 h 101"/>
                <a:gd name="T8" fmla="*/ 20 w 70"/>
                <a:gd name="T9" fmla="*/ 57 h 101"/>
                <a:gd name="T10" fmla="*/ 20 w 70"/>
                <a:gd name="T11" fmla="*/ 85 h 101"/>
                <a:gd name="T12" fmla="*/ 22 w 70"/>
                <a:gd name="T13" fmla="*/ 85 h 101"/>
                <a:gd name="T14" fmla="*/ 26 w 70"/>
                <a:gd name="T15" fmla="*/ 85 h 101"/>
                <a:gd name="T16" fmla="*/ 30 w 70"/>
                <a:gd name="T17" fmla="*/ 85 h 101"/>
                <a:gd name="T18" fmla="*/ 38 w 70"/>
                <a:gd name="T19" fmla="*/ 84 h 101"/>
                <a:gd name="T20" fmla="*/ 44 w 70"/>
                <a:gd name="T21" fmla="*/ 81 h 101"/>
                <a:gd name="T22" fmla="*/ 48 w 70"/>
                <a:gd name="T23" fmla="*/ 77 h 101"/>
                <a:gd name="T24" fmla="*/ 49 w 70"/>
                <a:gd name="T25" fmla="*/ 70 h 101"/>
                <a:gd name="T26" fmla="*/ 47 w 70"/>
                <a:gd name="T27" fmla="*/ 64 h 101"/>
                <a:gd name="T28" fmla="*/ 43 w 70"/>
                <a:gd name="T29" fmla="*/ 60 h 101"/>
                <a:gd name="T30" fmla="*/ 37 w 70"/>
                <a:gd name="T31" fmla="*/ 57 h 101"/>
                <a:gd name="T32" fmla="*/ 28 w 70"/>
                <a:gd name="T33" fmla="*/ 56 h 101"/>
                <a:gd name="T34" fmla="*/ 31 w 70"/>
                <a:gd name="T35" fmla="*/ 15 h 101"/>
                <a:gd name="T36" fmla="*/ 25 w 70"/>
                <a:gd name="T37" fmla="*/ 15 h 101"/>
                <a:gd name="T38" fmla="*/ 20 w 70"/>
                <a:gd name="T39" fmla="*/ 16 h 101"/>
                <a:gd name="T40" fmla="*/ 20 w 70"/>
                <a:gd name="T41" fmla="*/ 42 h 101"/>
                <a:gd name="T42" fmla="*/ 23 w 70"/>
                <a:gd name="T43" fmla="*/ 42 h 101"/>
                <a:gd name="T44" fmla="*/ 27 w 70"/>
                <a:gd name="T45" fmla="*/ 42 h 101"/>
                <a:gd name="T46" fmla="*/ 38 w 70"/>
                <a:gd name="T47" fmla="*/ 40 h 101"/>
                <a:gd name="T48" fmla="*/ 45 w 70"/>
                <a:gd name="T49" fmla="*/ 35 h 101"/>
                <a:gd name="T50" fmla="*/ 47 w 70"/>
                <a:gd name="T51" fmla="*/ 28 h 101"/>
                <a:gd name="T52" fmla="*/ 46 w 70"/>
                <a:gd name="T53" fmla="*/ 23 h 101"/>
                <a:gd name="T54" fmla="*/ 44 w 70"/>
                <a:gd name="T55" fmla="*/ 19 h 101"/>
                <a:gd name="T56" fmla="*/ 39 w 70"/>
                <a:gd name="T57" fmla="*/ 16 h 101"/>
                <a:gd name="T58" fmla="*/ 31 w 70"/>
                <a:gd name="T59" fmla="*/ 15 h 101"/>
                <a:gd name="T60" fmla="*/ 34 w 70"/>
                <a:gd name="T61" fmla="*/ 0 h 101"/>
                <a:gd name="T62" fmla="*/ 48 w 70"/>
                <a:gd name="T63" fmla="*/ 1 h 101"/>
                <a:gd name="T64" fmla="*/ 59 w 70"/>
                <a:gd name="T65" fmla="*/ 6 h 101"/>
                <a:gd name="T66" fmla="*/ 65 w 70"/>
                <a:gd name="T67" fmla="*/ 14 h 101"/>
                <a:gd name="T68" fmla="*/ 68 w 70"/>
                <a:gd name="T69" fmla="*/ 25 h 101"/>
                <a:gd name="T70" fmla="*/ 66 w 70"/>
                <a:gd name="T71" fmla="*/ 34 h 101"/>
                <a:gd name="T72" fmla="*/ 60 w 70"/>
                <a:gd name="T73" fmla="*/ 42 h 101"/>
                <a:gd name="T74" fmla="*/ 52 w 70"/>
                <a:gd name="T75" fmla="*/ 47 h 101"/>
                <a:gd name="T76" fmla="*/ 52 w 70"/>
                <a:gd name="T77" fmla="*/ 47 h 101"/>
                <a:gd name="T78" fmla="*/ 60 w 70"/>
                <a:gd name="T79" fmla="*/ 51 h 101"/>
                <a:gd name="T80" fmla="*/ 65 w 70"/>
                <a:gd name="T81" fmla="*/ 56 h 101"/>
                <a:gd name="T82" fmla="*/ 68 w 70"/>
                <a:gd name="T83" fmla="*/ 62 h 101"/>
                <a:gd name="T84" fmla="*/ 70 w 70"/>
                <a:gd name="T85" fmla="*/ 70 h 101"/>
                <a:gd name="T86" fmla="*/ 69 w 70"/>
                <a:gd name="T87" fmla="*/ 77 h 101"/>
                <a:gd name="T88" fmla="*/ 66 w 70"/>
                <a:gd name="T89" fmla="*/ 85 h 101"/>
                <a:gd name="T90" fmla="*/ 61 w 70"/>
                <a:gd name="T91" fmla="*/ 91 h 101"/>
                <a:gd name="T92" fmla="*/ 53 w 70"/>
                <a:gd name="T93" fmla="*/ 96 h 101"/>
                <a:gd name="T94" fmla="*/ 43 w 70"/>
                <a:gd name="T95" fmla="*/ 100 h 101"/>
                <a:gd name="T96" fmla="*/ 29 w 70"/>
                <a:gd name="T97" fmla="*/ 101 h 101"/>
                <a:gd name="T98" fmla="*/ 17 w 70"/>
                <a:gd name="T99" fmla="*/ 101 h 101"/>
                <a:gd name="T100" fmla="*/ 0 w 70"/>
                <a:gd name="T101" fmla="*/ 101 h 101"/>
                <a:gd name="T102" fmla="*/ 0 w 70"/>
                <a:gd name="T103" fmla="*/ 0 h 101"/>
                <a:gd name="T104" fmla="*/ 16 w 70"/>
                <a:gd name="T105" fmla="*/ 0 h 101"/>
                <a:gd name="T106" fmla="*/ 34 w 70"/>
                <a:gd name="T10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70" h="101">
                  <a:moveTo>
                    <a:pt x="28" y="56"/>
                  </a:moveTo>
                  <a:lnTo>
                    <a:pt x="26" y="56"/>
                  </a:lnTo>
                  <a:lnTo>
                    <a:pt x="24" y="56"/>
                  </a:lnTo>
                  <a:lnTo>
                    <a:pt x="22" y="57"/>
                  </a:lnTo>
                  <a:lnTo>
                    <a:pt x="20" y="57"/>
                  </a:lnTo>
                  <a:lnTo>
                    <a:pt x="20" y="85"/>
                  </a:lnTo>
                  <a:lnTo>
                    <a:pt x="22" y="85"/>
                  </a:lnTo>
                  <a:lnTo>
                    <a:pt x="26" y="85"/>
                  </a:lnTo>
                  <a:lnTo>
                    <a:pt x="30" y="85"/>
                  </a:lnTo>
                  <a:lnTo>
                    <a:pt x="38" y="84"/>
                  </a:lnTo>
                  <a:lnTo>
                    <a:pt x="44" y="81"/>
                  </a:lnTo>
                  <a:lnTo>
                    <a:pt x="48" y="77"/>
                  </a:lnTo>
                  <a:lnTo>
                    <a:pt x="49" y="70"/>
                  </a:lnTo>
                  <a:lnTo>
                    <a:pt x="47" y="64"/>
                  </a:lnTo>
                  <a:lnTo>
                    <a:pt x="43" y="60"/>
                  </a:lnTo>
                  <a:lnTo>
                    <a:pt x="37" y="57"/>
                  </a:lnTo>
                  <a:lnTo>
                    <a:pt x="28" y="56"/>
                  </a:lnTo>
                  <a:close/>
                  <a:moveTo>
                    <a:pt x="31" y="15"/>
                  </a:moveTo>
                  <a:lnTo>
                    <a:pt x="25" y="15"/>
                  </a:lnTo>
                  <a:lnTo>
                    <a:pt x="20" y="16"/>
                  </a:lnTo>
                  <a:lnTo>
                    <a:pt x="20" y="42"/>
                  </a:lnTo>
                  <a:lnTo>
                    <a:pt x="23" y="42"/>
                  </a:lnTo>
                  <a:lnTo>
                    <a:pt x="27" y="42"/>
                  </a:lnTo>
                  <a:lnTo>
                    <a:pt x="38" y="40"/>
                  </a:lnTo>
                  <a:lnTo>
                    <a:pt x="45" y="35"/>
                  </a:lnTo>
                  <a:lnTo>
                    <a:pt x="47" y="28"/>
                  </a:lnTo>
                  <a:lnTo>
                    <a:pt x="46" y="23"/>
                  </a:lnTo>
                  <a:lnTo>
                    <a:pt x="44" y="19"/>
                  </a:lnTo>
                  <a:lnTo>
                    <a:pt x="39" y="16"/>
                  </a:lnTo>
                  <a:lnTo>
                    <a:pt x="31" y="15"/>
                  </a:lnTo>
                  <a:close/>
                  <a:moveTo>
                    <a:pt x="34" y="0"/>
                  </a:moveTo>
                  <a:lnTo>
                    <a:pt x="48" y="1"/>
                  </a:lnTo>
                  <a:lnTo>
                    <a:pt x="59" y="6"/>
                  </a:lnTo>
                  <a:lnTo>
                    <a:pt x="65" y="14"/>
                  </a:lnTo>
                  <a:lnTo>
                    <a:pt x="68" y="25"/>
                  </a:lnTo>
                  <a:lnTo>
                    <a:pt x="66" y="34"/>
                  </a:lnTo>
                  <a:lnTo>
                    <a:pt x="60" y="42"/>
                  </a:lnTo>
                  <a:lnTo>
                    <a:pt x="52" y="47"/>
                  </a:lnTo>
                  <a:lnTo>
                    <a:pt x="52" y="47"/>
                  </a:lnTo>
                  <a:lnTo>
                    <a:pt x="60" y="51"/>
                  </a:lnTo>
                  <a:lnTo>
                    <a:pt x="65" y="56"/>
                  </a:lnTo>
                  <a:lnTo>
                    <a:pt x="68" y="62"/>
                  </a:lnTo>
                  <a:lnTo>
                    <a:pt x="70" y="70"/>
                  </a:lnTo>
                  <a:lnTo>
                    <a:pt x="69" y="77"/>
                  </a:lnTo>
                  <a:lnTo>
                    <a:pt x="66" y="85"/>
                  </a:lnTo>
                  <a:lnTo>
                    <a:pt x="61" y="91"/>
                  </a:lnTo>
                  <a:lnTo>
                    <a:pt x="53" y="96"/>
                  </a:lnTo>
                  <a:lnTo>
                    <a:pt x="43" y="100"/>
                  </a:lnTo>
                  <a:lnTo>
                    <a:pt x="29" y="101"/>
                  </a:lnTo>
                  <a:lnTo>
                    <a:pt x="17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6" y="0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D14BA40-FA0A-AEE8-AAB4-A326F99136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47" y="-60"/>
              <a:ext cx="31" cy="34"/>
            </a:xfrm>
            <a:custGeom>
              <a:avLst/>
              <a:gdLst>
                <a:gd name="T0" fmla="*/ 47 w 94"/>
                <a:gd name="T1" fmla="*/ 17 h 104"/>
                <a:gd name="T2" fmla="*/ 39 w 94"/>
                <a:gd name="T3" fmla="*/ 18 h 104"/>
                <a:gd name="T4" fmla="*/ 32 w 94"/>
                <a:gd name="T5" fmla="*/ 22 h 104"/>
                <a:gd name="T6" fmla="*/ 26 w 94"/>
                <a:gd name="T7" fmla="*/ 29 h 104"/>
                <a:gd name="T8" fmla="*/ 22 w 94"/>
                <a:gd name="T9" fmla="*/ 39 h 104"/>
                <a:gd name="T10" fmla="*/ 20 w 94"/>
                <a:gd name="T11" fmla="*/ 51 h 104"/>
                <a:gd name="T12" fmla="*/ 21 w 94"/>
                <a:gd name="T13" fmla="*/ 63 h 104"/>
                <a:gd name="T14" fmla="*/ 25 w 94"/>
                <a:gd name="T15" fmla="*/ 72 h 104"/>
                <a:gd name="T16" fmla="*/ 30 w 94"/>
                <a:gd name="T17" fmla="*/ 80 h 104"/>
                <a:gd name="T18" fmla="*/ 37 w 94"/>
                <a:gd name="T19" fmla="*/ 84 h 104"/>
                <a:gd name="T20" fmla="*/ 47 w 94"/>
                <a:gd name="T21" fmla="*/ 86 h 104"/>
                <a:gd name="T22" fmla="*/ 54 w 94"/>
                <a:gd name="T23" fmla="*/ 85 h 104"/>
                <a:gd name="T24" fmla="*/ 62 w 94"/>
                <a:gd name="T25" fmla="*/ 81 h 104"/>
                <a:gd name="T26" fmla="*/ 68 w 94"/>
                <a:gd name="T27" fmla="*/ 74 h 104"/>
                <a:gd name="T28" fmla="*/ 72 w 94"/>
                <a:gd name="T29" fmla="*/ 65 h 104"/>
                <a:gd name="T30" fmla="*/ 74 w 94"/>
                <a:gd name="T31" fmla="*/ 52 h 104"/>
                <a:gd name="T32" fmla="*/ 72 w 94"/>
                <a:gd name="T33" fmla="*/ 37 h 104"/>
                <a:gd name="T34" fmla="*/ 67 w 94"/>
                <a:gd name="T35" fmla="*/ 26 h 104"/>
                <a:gd name="T36" fmla="*/ 58 w 94"/>
                <a:gd name="T37" fmla="*/ 19 h 104"/>
                <a:gd name="T38" fmla="*/ 47 w 94"/>
                <a:gd name="T39" fmla="*/ 17 h 104"/>
                <a:gd name="T40" fmla="*/ 49 w 94"/>
                <a:gd name="T41" fmla="*/ 0 h 104"/>
                <a:gd name="T42" fmla="*/ 61 w 94"/>
                <a:gd name="T43" fmla="*/ 1 h 104"/>
                <a:gd name="T44" fmla="*/ 72 w 94"/>
                <a:gd name="T45" fmla="*/ 5 h 104"/>
                <a:gd name="T46" fmla="*/ 81 w 94"/>
                <a:gd name="T47" fmla="*/ 12 h 104"/>
                <a:gd name="T48" fmla="*/ 88 w 94"/>
                <a:gd name="T49" fmla="*/ 22 h 104"/>
                <a:gd name="T50" fmla="*/ 93 w 94"/>
                <a:gd name="T51" fmla="*/ 34 h 104"/>
                <a:gd name="T52" fmla="*/ 94 w 94"/>
                <a:gd name="T53" fmla="*/ 50 h 104"/>
                <a:gd name="T54" fmla="*/ 92 w 94"/>
                <a:gd name="T55" fmla="*/ 66 h 104"/>
                <a:gd name="T56" fmla="*/ 88 w 94"/>
                <a:gd name="T57" fmla="*/ 79 h 104"/>
                <a:gd name="T58" fmla="*/ 80 w 94"/>
                <a:gd name="T59" fmla="*/ 89 h 104"/>
                <a:gd name="T60" fmla="*/ 70 w 94"/>
                <a:gd name="T61" fmla="*/ 97 h 104"/>
                <a:gd name="T62" fmla="*/ 58 w 94"/>
                <a:gd name="T63" fmla="*/ 102 h 104"/>
                <a:gd name="T64" fmla="*/ 45 w 94"/>
                <a:gd name="T65" fmla="*/ 104 h 104"/>
                <a:gd name="T66" fmla="*/ 31 w 94"/>
                <a:gd name="T67" fmla="*/ 102 h 104"/>
                <a:gd name="T68" fmla="*/ 20 w 94"/>
                <a:gd name="T69" fmla="*/ 97 h 104"/>
                <a:gd name="T70" fmla="*/ 11 w 94"/>
                <a:gd name="T71" fmla="*/ 90 h 104"/>
                <a:gd name="T72" fmla="*/ 5 w 94"/>
                <a:gd name="T73" fmla="*/ 80 h 104"/>
                <a:gd name="T74" fmla="*/ 1 w 94"/>
                <a:gd name="T75" fmla="*/ 67 h 104"/>
                <a:gd name="T76" fmla="*/ 0 w 94"/>
                <a:gd name="T77" fmla="*/ 53 h 104"/>
                <a:gd name="T78" fmla="*/ 2 w 94"/>
                <a:gd name="T79" fmla="*/ 37 h 104"/>
                <a:gd name="T80" fmla="*/ 7 w 94"/>
                <a:gd name="T81" fmla="*/ 24 h 104"/>
                <a:gd name="T82" fmla="*/ 14 w 94"/>
                <a:gd name="T83" fmla="*/ 14 h 104"/>
                <a:gd name="T84" fmla="*/ 24 w 94"/>
                <a:gd name="T85" fmla="*/ 6 h 104"/>
                <a:gd name="T86" fmla="*/ 36 w 94"/>
                <a:gd name="T87" fmla="*/ 1 h 104"/>
                <a:gd name="T88" fmla="*/ 49 w 94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4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0" y="51"/>
                  </a:lnTo>
                  <a:lnTo>
                    <a:pt x="21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7" y="84"/>
                  </a:lnTo>
                  <a:lnTo>
                    <a:pt x="47" y="86"/>
                  </a:lnTo>
                  <a:lnTo>
                    <a:pt x="54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2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8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1" y="1"/>
                  </a:lnTo>
                  <a:lnTo>
                    <a:pt x="72" y="5"/>
                  </a:lnTo>
                  <a:lnTo>
                    <a:pt x="81" y="12"/>
                  </a:lnTo>
                  <a:lnTo>
                    <a:pt x="88" y="22"/>
                  </a:lnTo>
                  <a:lnTo>
                    <a:pt x="93" y="34"/>
                  </a:lnTo>
                  <a:lnTo>
                    <a:pt x="94" y="50"/>
                  </a:lnTo>
                  <a:lnTo>
                    <a:pt x="92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8" y="102"/>
                  </a:lnTo>
                  <a:lnTo>
                    <a:pt x="45" y="104"/>
                  </a:lnTo>
                  <a:lnTo>
                    <a:pt x="31" y="102"/>
                  </a:lnTo>
                  <a:lnTo>
                    <a:pt x="20" y="97"/>
                  </a:lnTo>
                  <a:lnTo>
                    <a:pt x="11" y="90"/>
                  </a:lnTo>
                  <a:lnTo>
                    <a:pt x="5" y="80"/>
                  </a:lnTo>
                  <a:lnTo>
                    <a:pt x="1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4" y="14"/>
                  </a:lnTo>
                  <a:lnTo>
                    <a:pt x="24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53EFE26-AADB-5300-83B9-45257C4CF1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86" y="-60"/>
              <a:ext cx="24" cy="34"/>
            </a:xfrm>
            <a:custGeom>
              <a:avLst/>
              <a:gdLst>
                <a:gd name="T0" fmla="*/ 26 w 71"/>
                <a:gd name="T1" fmla="*/ 15 h 101"/>
                <a:gd name="T2" fmla="*/ 22 w 71"/>
                <a:gd name="T3" fmla="*/ 16 h 101"/>
                <a:gd name="T4" fmla="*/ 19 w 71"/>
                <a:gd name="T5" fmla="*/ 16 h 101"/>
                <a:gd name="T6" fmla="*/ 19 w 71"/>
                <a:gd name="T7" fmla="*/ 45 h 101"/>
                <a:gd name="T8" fmla="*/ 20 w 71"/>
                <a:gd name="T9" fmla="*/ 45 h 101"/>
                <a:gd name="T10" fmla="*/ 23 w 71"/>
                <a:gd name="T11" fmla="*/ 45 h 101"/>
                <a:gd name="T12" fmla="*/ 26 w 71"/>
                <a:gd name="T13" fmla="*/ 45 h 101"/>
                <a:gd name="T14" fmla="*/ 36 w 71"/>
                <a:gd name="T15" fmla="*/ 43 h 101"/>
                <a:gd name="T16" fmla="*/ 42 w 71"/>
                <a:gd name="T17" fmla="*/ 38 h 101"/>
                <a:gd name="T18" fmla="*/ 44 w 71"/>
                <a:gd name="T19" fmla="*/ 30 h 101"/>
                <a:gd name="T20" fmla="*/ 42 w 71"/>
                <a:gd name="T21" fmla="*/ 22 h 101"/>
                <a:gd name="T22" fmla="*/ 36 w 71"/>
                <a:gd name="T23" fmla="*/ 17 h 101"/>
                <a:gd name="T24" fmla="*/ 26 w 71"/>
                <a:gd name="T25" fmla="*/ 15 h 101"/>
                <a:gd name="T26" fmla="*/ 28 w 71"/>
                <a:gd name="T27" fmla="*/ 0 h 101"/>
                <a:gd name="T28" fmla="*/ 40 w 71"/>
                <a:gd name="T29" fmla="*/ 1 h 101"/>
                <a:gd name="T30" fmla="*/ 51 w 71"/>
                <a:gd name="T31" fmla="*/ 4 h 101"/>
                <a:gd name="T32" fmla="*/ 58 w 71"/>
                <a:gd name="T33" fmla="*/ 9 h 101"/>
                <a:gd name="T34" fmla="*/ 63 w 71"/>
                <a:gd name="T35" fmla="*/ 17 h 101"/>
                <a:gd name="T36" fmla="*/ 64 w 71"/>
                <a:gd name="T37" fmla="*/ 28 h 101"/>
                <a:gd name="T38" fmla="*/ 63 w 71"/>
                <a:gd name="T39" fmla="*/ 38 h 101"/>
                <a:gd name="T40" fmla="*/ 57 w 71"/>
                <a:gd name="T41" fmla="*/ 47 h 101"/>
                <a:gd name="T42" fmla="*/ 49 w 71"/>
                <a:gd name="T43" fmla="*/ 53 h 101"/>
                <a:gd name="T44" fmla="*/ 39 w 71"/>
                <a:gd name="T45" fmla="*/ 56 h 101"/>
                <a:gd name="T46" fmla="*/ 43 w 71"/>
                <a:gd name="T47" fmla="*/ 62 h 101"/>
                <a:gd name="T48" fmla="*/ 47 w 71"/>
                <a:gd name="T49" fmla="*/ 67 h 101"/>
                <a:gd name="T50" fmla="*/ 71 w 71"/>
                <a:gd name="T51" fmla="*/ 101 h 101"/>
                <a:gd name="T52" fmla="*/ 47 w 71"/>
                <a:gd name="T53" fmla="*/ 101 h 101"/>
                <a:gd name="T54" fmla="*/ 19 w 71"/>
                <a:gd name="T55" fmla="*/ 59 h 101"/>
                <a:gd name="T56" fmla="*/ 19 w 71"/>
                <a:gd name="T57" fmla="*/ 59 h 101"/>
                <a:gd name="T58" fmla="*/ 19 w 71"/>
                <a:gd name="T59" fmla="*/ 101 h 101"/>
                <a:gd name="T60" fmla="*/ 0 w 71"/>
                <a:gd name="T61" fmla="*/ 101 h 101"/>
                <a:gd name="T62" fmla="*/ 0 w 71"/>
                <a:gd name="T63" fmla="*/ 0 h 101"/>
                <a:gd name="T64" fmla="*/ 12 w 71"/>
                <a:gd name="T65" fmla="*/ 0 h 101"/>
                <a:gd name="T66" fmla="*/ 28 w 71"/>
                <a:gd name="T6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1" h="101">
                  <a:moveTo>
                    <a:pt x="26" y="15"/>
                  </a:moveTo>
                  <a:lnTo>
                    <a:pt x="22" y="16"/>
                  </a:lnTo>
                  <a:lnTo>
                    <a:pt x="19" y="16"/>
                  </a:lnTo>
                  <a:lnTo>
                    <a:pt x="19" y="45"/>
                  </a:lnTo>
                  <a:lnTo>
                    <a:pt x="20" y="45"/>
                  </a:lnTo>
                  <a:lnTo>
                    <a:pt x="23" y="45"/>
                  </a:lnTo>
                  <a:lnTo>
                    <a:pt x="26" y="45"/>
                  </a:lnTo>
                  <a:lnTo>
                    <a:pt x="36" y="43"/>
                  </a:lnTo>
                  <a:lnTo>
                    <a:pt x="42" y="38"/>
                  </a:lnTo>
                  <a:lnTo>
                    <a:pt x="44" y="30"/>
                  </a:lnTo>
                  <a:lnTo>
                    <a:pt x="42" y="22"/>
                  </a:lnTo>
                  <a:lnTo>
                    <a:pt x="36" y="17"/>
                  </a:lnTo>
                  <a:lnTo>
                    <a:pt x="26" y="15"/>
                  </a:lnTo>
                  <a:close/>
                  <a:moveTo>
                    <a:pt x="28" y="0"/>
                  </a:moveTo>
                  <a:lnTo>
                    <a:pt x="40" y="1"/>
                  </a:lnTo>
                  <a:lnTo>
                    <a:pt x="51" y="4"/>
                  </a:lnTo>
                  <a:lnTo>
                    <a:pt x="58" y="9"/>
                  </a:lnTo>
                  <a:lnTo>
                    <a:pt x="63" y="17"/>
                  </a:lnTo>
                  <a:lnTo>
                    <a:pt x="64" y="28"/>
                  </a:lnTo>
                  <a:lnTo>
                    <a:pt x="63" y="38"/>
                  </a:lnTo>
                  <a:lnTo>
                    <a:pt x="57" y="47"/>
                  </a:lnTo>
                  <a:lnTo>
                    <a:pt x="49" y="53"/>
                  </a:lnTo>
                  <a:lnTo>
                    <a:pt x="39" y="56"/>
                  </a:lnTo>
                  <a:lnTo>
                    <a:pt x="43" y="62"/>
                  </a:lnTo>
                  <a:lnTo>
                    <a:pt x="47" y="67"/>
                  </a:lnTo>
                  <a:lnTo>
                    <a:pt x="71" y="101"/>
                  </a:lnTo>
                  <a:lnTo>
                    <a:pt x="47" y="101"/>
                  </a:lnTo>
                  <a:lnTo>
                    <a:pt x="19" y="59"/>
                  </a:lnTo>
                  <a:lnTo>
                    <a:pt x="19" y="59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2" y="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A9A2957D-AF01-C662-87B7-53C079509D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5" y="-60"/>
              <a:ext cx="31" cy="34"/>
            </a:xfrm>
            <a:custGeom>
              <a:avLst/>
              <a:gdLst>
                <a:gd name="T0" fmla="*/ 47 w 95"/>
                <a:gd name="T1" fmla="*/ 17 h 104"/>
                <a:gd name="T2" fmla="*/ 39 w 95"/>
                <a:gd name="T3" fmla="*/ 18 h 104"/>
                <a:gd name="T4" fmla="*/ 32 w 95"/>
                <a:gd name="T5" fmla="*/ 22 h 104"/>
                <a:gd name="T6" fmla="*/ 26 w 95"/>
                <a:gd name="T7" fmla="*/ 29 h 104"/>
                <a:gd name="T8" fmla="*/ 22 w 95"/>
                <a:gd name="T9" fmla="*/ 39 h 104"/>
                <a:gd name="T10" fmla="*/ 21 w 95"/>
                <a:gd name="T11" fmla="*/ 51 h 104"/>
                <a:gd name="T12" fmla="*/ 22 w 95"/>
                <a:gd name="T13" fmla="*/ 63 h 104"/>
                <a:gd name="T14" fmla="*/ 25 w 95"/>
                <a:gd name="T15" fmla="*/ 72 h 104"/>
                <a:gd name="T16" fmla="*/ 30 w 95"/>
                <a:gd name="T17" fmla="*/ 80 h 104"/>
                <a:gd name="T18" fmla="*/ 38 w 95"/>
                <a:gd name="T19" fmla="*/ 84 h 104"/>
                <a:gd name="T20" fmla="*/ 47 w 95"/>
                <a:gd name="T21" fmla="*/ 86 h 104"/>
                <a:gd name="T22" fmla="*/ 55 w 95"/>
                <a:gd name="T23" fmla="*/ 85 h 104"/>
                <a:gd name="T24" fmla="*/ 62 w 95"/>
                <a:gd name="T25" fmla="*/ 81 h 104"/>
                <a:gd name="T26" fmla="*/ 68 w 95"/>
                <a:gd name="T27" fmla="*/ 74 h 104"/>
                <a:gd name="T28" fmla="*/ 73 w 95"/>
                <a:gd name="T29" fmla="*/ 65 h 104"/>
                <a:gd name="T30" fmla="*/ 74 w 95"/>
                <a:gd name="T31" fmla="*/ 52 h 104"/>
                <a:gd name="T32" fmla="*/ 72 w 95"/>
                <a:gd name="T33" fmla="*/ 37 h 104"/>
                <a:gd name="T34" fmla="*/ 67 w 95"/>
                <a:gd name="T35" fmla="*/ 26 h 104"/>
                <a:gd name="T36" fmla="*/ 59 w 95"/>
                <a:gd name="T37" fmla="*/ 19 h 104"/>
                <a:gd name="T38" fmla="*/ 47 w 95"/>
                <a:gd name="T39" fmla="*/ 17 h 104"/>
                <a:gd name="T40" fmla="*/ 49 w 95"/>
                <a:gd name="T41" fmla="*/ 0 h 104"/>
                <a:gd name="T42" fmla="*/ 62 w 95"/>
                <a:gd name="T43" fmla="*/ 1 h 104"/>
                <a:gd name="T44" fmla="*/ 73 w 95"/>
                <a:gd name="T45" fmla="*/ 5 h 104"/>
                <a:gd name="T46" fmla="*/ 82 w 95"/>
                <a:gd name="T47" fmla="*/ 12 h 104"/>
                <a:gd name="T48" fmla="*/ 89 w 95"/>
                <a:gd name="T49" fmla="*/ 22 h 104"/>
                <a:gd name="T50" fmla="*/ 93 w 95"/>
                <a:gd name="T51" fmla="*/ 34 h 104"/>
                <a:gd name="T52" fmla="*/ 95 w 95"/>
                <a:gd name="T53" fmla="*/ 50 h 104"/>
                <a:gd name="T54" fmla="*/ 93 w 95"/>
                <a:gd name="T55" fmla="*/ 66 h 104"/>
                <a:gd name="T56" fmla="*/ 88 w 95"/>
                <a:gd name="T57" fmla="*/ 79 h 104"/>
                <a:gd name="T58" fmla="*/ 80 w 95"/>
                <a:gd name="T59" fmla="*/ 89 h 104"/>
                <a:gd name="T60" fmla="*/ 70 w 95"/>
                <a:gd name="T61" fmla="*/ 97 h 104"/>
                <a:gd name="T62" fmla="*/ 59 w 95"/>
                <a:gd name="T63" fmla="*/ 102 h 104"/>
                <a:gd name="T64" fmla="*/ 46 w 95"/>
                <a:gd name="T65" fmla="*/ 104 h 104"/>
                <a:gd name="T66" fmla="*/ 32 w 95"/>
                <a:gd name="T67" fmla="*/ 102 h 104"/>
                <a:gd name="T68" fmla="*/ 20 w 95"/>
                <a:gd name="T69" fmla="*/ 97 h 104"/>
                <a:gd name="T70" fmla="*/ 12 w 95"/>
                <a:gd name="T71" fmla="*/ 90 h 104"/>
                <a:gd name="T72" fmla="*/ 5 w 95"/>
                <a:gd name="T73" fmla="*/ 80 h 104"/>
                <a:gd name="T74" fmla="*/ 2 w 95"/>
                <a:gd name="T75" fmla="*/ 67 h 104"/>
                <a:gd name="T76" fmla="*/ 0 w 95"/>
                <a:gd name="T77" fmla="*/ 53 h 104"/>
                <a:gd name="T78" fmla="*/ 2 w 95"/>
                <a:gd name="T79" fmla="*/ 37 h 104"/>
                <a:gd name="T80" fmla="*/ 7 w 95"/>
                <a:gd name="T81" fmla="*/ 24 h 104"/>
                <a:gd name="T82" fmla="*/ 15 w 95"/>
                <a:gd name="T83" fmla="*/ 14 h 104"/>
                <a:gd name="T84" fmla="*/ 25 w 95"/>
                <a:gd name="T85" fmla="*/ 6 h 104"/>
                <a:gd name="T86" fmla="*/ 36 w 95"/>
                <a:gd name="T87" fmla="*/ 1 h 104"/>
                <a:gd name="T88" fmla="*/ 49 w 95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5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1" y="51"/>
                  </a:lnTo>
                  <a:lnTo>
                    <a:pt x="22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8" y="84"/>
                  </a:lnTo>
                  <a:lnTo>
                    <a:pt x="47" y="86"/>
                  </a:lnTo>
                  <a:lnTo>
                    <a:pt x="55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3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9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2" y="1"/>
                  </a:lnTo>
                  <a:lnTo>
                    <a:pt x="73" y="5"/>
                  </a:lnTo>
                  <a:lnTo>
                    <a:pt x="82" y="12"/>
                  </a:lnTo>
                  <a:lnTo>
                    <a:pt x="89" y="22"/>
                  </a:lnTo>
                  <a:lnTo>
                    <a:pt x="93" y="34"/>
                  </a:lnTo>
                  <a:lnTo>
                    <a:pt x="95" y="50"/>
                  </a:lnTo>
                  <a:lnTo>
                    <a:pt x="93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9" y="102"/>
                  </a:lnTo>
                  <a:lnTo>
                    <a:pt x="46" y="104"/>
                  </a:lnTo>
                  <a:lnTo>
                    <a:pt x="32" y="102"/>
                  </a:lnTo>
                  <a:lnTo>
                    <a:pt x="20" y="97"/>
                  </a:lnTo>
                  <a:lnTo>
                    <a:pt x="12" y="90"/>
                  </a:lnTo>
                  <a:lnTo>
                    <a:pt x="5" y="80"/>
                  </a:lnTo>
                  <a:lnTo>
                    <a:pt x="2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5" y="14"/>
                  </a:lnTo>
                  <a:lnTo>
                    <a:pt x="25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4F28FD7-5217-9241-6FC8-3E7395B836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13" y="-60"/>
              <a:ext cx="24" cy="34"/>
            </a:xfrm>
            <a:custGeom>
              <a:avLst/>
              <a:gdLst>
                <a:gd name="T0" fmla="*/ 27 w 72"/>
                <a:gd name="T1" fmla="*/ 15 h 101"/>
                <a:gd name="T2" fmla="*/ 23 w 72"/>
                <a:gd name="T3" fmla="*/ 16 h 101"/>
                <a:gd name="T4" fmla="*/ 19 w 72"/>
                <a:gd name="T5" fmla="*/ 16 h 101"/>
                <a:gd name="T6" fmla="*/ 19 w 72"/>
                <a:gd name="T7" fmla="*/ 45 h 101"/>
                <a:gd name="T8" fmla="*/ 22 w 72"/>
                <a:gd name="T9" fmla="*/ 45 h 101"/>
                <a:gd name="T10" fmla="*/ 26 w 72"/>
                <a:gd name="T11" fmla="*/ 45 h 101"/>
                <a:gd name="T12" fmla="*/ 36 w 72"/>
                <a:gd name="T13" fmla="*/ 43 h 101"/>
                <a:gd name="T14" fmla="*/ 42 w 72"/>
                <a:gd name="T15" fmla="*/ 38 h 101"/>
                <a:gd name="T16" fmla="*/ 45 w 72"/>
                <a:gd name="T17" fmla="*/ 30 h 101"/>
                <a:gd name="T18" fmla="*/ 43 w 72"/>
                <a:gd name="T19" fmla="*/ 22 h 101"/>
                <a:gd name="T20" fmla="*/ 37 w 72"/>
                <a:gd name="T21" fmla="*/ 17 h 101"/>
                <a:gd name="T22" fmla="*/ 27 w 72"/>
                <a:gd name="T23" fmla="*/ 15 h 101"/>
                <a:gd name="T24" fmla="*/ 29 w 72"/>
                <a:gd name="T25" fmla="*/ 0 h 101"/>
                <a:gd name="T26" fmla="*/ 41 w 72"/>
                <a:gd name="T27" fmla="*/ 1 h 101"/>
                <a:gd name="T28" fmla="*/ 51 w 72"/>
                <a:gd name="T29" fmla="*/ 4 h 101"/>
                <a:gd name="T30" fmla="*/ 58 w 72"/>
                <a:gd name="T31" fmla="*/ 9 h 101"/>
                <a:gd name="T32" fmla="*/ 63 w 72"/>
                <a:gd name="T33" fmla="*/ 17 h 101"/>
                <a:gd name="T34" fmla="*/ 65 w 72"/>
                <a:gd name="T35" fmla="*/ 28 h 101"/>
                <a:gd name="T36" fmla="*/ 63 w 72"/>
                <a:gd name="T37" fmla="*/ 38 h 101"/>
                <a:gd name="T38" fmla="*/ 58 w 72"/>
                <a:gd name="T39" fmla="*/ 47 h 101"/>
                <a:gd name="T40" fmla="*/ 50 w 72"/>
                <a:gd name="T41" fmla="*/ 53 h 101"/>
                <a:gd name="T42" fmla="*/ 39 w 72"/>
                <a:gd name="T43" fmla="*/ 56 h 101"/>
                <a:gd name="T44" fmla="*/ 44 w 72"/>
                <a:gd name="T45" fmla="*/ 62 h 101"/>
                <a:gd name="T46" fmla="*/ 48 w 72"/>
                <a:gd name="T47" fmla="*/ 67 h 101"/>
                <a:gd name="T48" fmla="*/ 72 w 72"/>
                <a:gd name="T49" fmla="*/ 101 h 101"/>
                <a:gd name="T50" fmla="*/ 48 w 72"/>
                <a:gd name="T51" fmla="*/ 101 h 101"/>
                <a:gd name="T52" fmla="*/ 20 w 72"/>
                <a:gd name="T53" fmla="*/ 59 h 101"/>
                <a:gd name="T54" fmla="*/ 19 w 72"/>
                <a:gd name="T55" fmla="*/ 59 h 101"/>
                <a:gd name="T56" fmla="*/ 19 w 72"/>
                <a:gd name="T57" fmla="*/ 101 h 101"/>
                <a:gd name="T58" fmla="*/ 0 w 72"/>
                <a:gd name="T59" fmla="*/ 101 h 101"/>
                <a:gd name="T60" fmla="*/ 0 w 72"/>
                <a:gd name="T61" fmla="*/ 0 h 101"/>
                <a:gd name="T62" fmla="*/ 13 w 72"/>
                <a:gd name="T63" fmla="*/ 0 h 101"/>
                <a:gd name="T64" fmla="*/ 29 w 72"/>
                <a:gd name="T65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" h="101">
                  <a:moveTo>
                    <a:pt x="27" y="15"/>
                  </a:moveTo>
                  <a:lnTo>
                    <a:pt x="23" y="16"/>
                  </a:lnTo>
                  <a:lnTo>
                    <a:pt x="19" y="16"/>
                  </a:lnTo>
                  <a:lnTo>
                    <a:pt x="19" y="45"/>
                  </a:lnTo>
                  <a:lnTo>
                    <a:pt x="22" y="45"/>
                  </a:lnTo>
                  <a:lnTo>
                    <a:pt x="26" y="45"/>
                  </a:lnTo>
                  <a:lnTo>
                    <a:pt x="36" y="43"/>
                  </a:lnTo>
                  <a:lnTo>
                    <a:pt x="42" y="38"/>
                  </a:lnTo>
                  <a:lnTo>
                    <a:pt x="45" y="30"/>
                  </a:lnTo>
                  <a:lnTo>
                    <a:pt x="43" y="22"/>
                  </a:lnTo>
                  <a:lnTo>
                    <a:pt x="37" y="17"/>
                  </a:lnTo>
                  <a:lnTo>
                    <a:pt x="27" y="15"/>
                  </a:lnTo>
                  <a:close/>
                  <a:moveTo>
                    <a:pt x="29" y="0"/>
                  </a:moveTo>
                  <a:lnTo>
                    <a:pt x="41" y="1"/>
                  </a:lnTo>
                  <a:lnTo>
                    <a:pt x="51" y="4"/>
                  </a:lnTo>
                  <a:lnTo>
                    <a:pt x="58" y="9"/>
                  </a:lnTo>
                  <a:lnTo>
                    <a:pt x="63" y="17"/>
                  </a:lnTo>
                  <a:lnTo>
                    <a:pt x="65" y="28"/>
                  </a:lnTo>
                  <a:lnTo>
                    <a:pt x="63" y="38"/>
                  </a:lnTo>
                  <a:lnTo>
                    <a:pt x="58" y="47"/>
                  </a:lnTo>
                  <a:lnTo>
                    <a:pt x="50" y="53"/>
                  </a:lnTo>
                  <a:lnTo>
                    <a:pt x="39" y="56"/>
                  </a:lnTo>
                  <a:lnTo>
                    <a:pt x="44" y="62"/>
                  </a:lnTo>
                  <a:lnTo>
                    <a:pt x="48" y="67"/>
                  </a:lnTo>
                  <a:lnTo>
                    <a:pt x="72" y="101"/>
                  </a:lnTo>
                  <a:lnTo>
                    <a:pt x="48" y="101"/>
                  </a:lnTo>
                  <a:lnTo>
                    <a:pt x="20" y="59"/>
                  </a:lnTo>
                  <a:lnTo>
                    <a:pt x="19" y="59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3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99D481BF-CB2D-A7C3-4C4D-5113650713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15" y="-60"/>
              <a:ext cx="30" cy="34"/>
            </a:xfrm>
            <a:custGeom>
              <a:avLst/>
              <a:gdLst>
                <a:gd name="T0" fmla="*/ 45 w 92"/>
                <a:gd name="T1" fmla="*/ 22 h 101"/>
                <a:gd name="T2" fmla="*/ 40 w 92"/>
                <a:gd name="T3" fmla="*/ 39 h 101"/>
                <a:gd name="T4" fmla="*/ 31 w 92"/>
                <a:gd name="T5" fmla="*/ 65 h 101"/>
                <a:gd name="T6" fmla="*/ 59 w 92"/>
                <a:gd name="T7" fmla="*/ 65 h 101"/>
                <a:gd name="T8" fmla="*/ 50 w 92"/>
                <a:gd name="T9" fmla="*/ 39 h 101"/>
                <a:gd name="T10" fmla="*/ 45 w 92"/>
                <a:gd name="T11" fmla="*/ 22 h 101"/>
                <a:gd name="T12" fmla="*/ 45 w 92"/>
                <a:gd name="T13" fmla="*/ 22 h 101"/>
                <a:gd name="T14" fmla="*/ 35 w 92"/>
                <a:gd name="T15" fmla="*/ 0 h 101"/>
                <a:gd name="T16" fmla="*/ 57 w 92"/>
                <a:gd name="T17" fmla="*/ 0 h 101"/>
                <a:gd name="T18" fmla="*/ 92 w 92"/>
                <a:gd name="T19" fmla="*/ 101 h 101"/>
                <a:gd name="T20" fmla="*/ 71 w 92"/>
                <a:gd name="T21" fmla="*/ 101 h 101"/>
                <a:gd name="T22" fmla="*/ 64 w 92"/>
                <a:gd name="T23" fmla="*/ 80 h 101"/>
                <a:gd name="T24" fmla="*/ 26 w 92"/>
                <a:gd name="T25" fmla="*/ 80 h 101"/>
                <a:gd name="T26" fmla="*/ 19 w 92"/>
                <a:gd name="T27" fmla="*/ 101 h 101"/>
                <a:gd name="T28" fmla="*/ 0 w 92"/>
                <a:gd name="T29" fmla="*/ 101 h 101"/>
                <a:gd name="T30" fmla="*/ 35 w 92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2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59" y="65"/>
                  </a:lnTo>
                  <a:lnTo>
                    <a:pt x="50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2" y="101"/>
                  </a:lnTo>
                  <a:lnTo>
                    <a:pt x="71" y="101"/>
                  </a:lnTo>
                  <a:lnTo>
                    <a:pt x="64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AF294EDE-59D8-BED8-7D48-96D6C02018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7" y="-60"/>
              <a:ext cx="24" cy="34"/>
            </a:xfrm>
            <a:custGeom>
              <a:avLst/>
              <a:gdLst>
                <a:gd name="T0" fmla="*/ 0 w 71"/>
                <a:gd name="T1" fmla="*/ 0 h 101"/>
                <a:gd name="T2" fmla="*/ 71 w 71"/>
                <a:gd name="T3" fmla="*/ 0 h 101"/>
                <a:gd name="T4" fmla="*/ 71 w 71"/>
                <a:gd name="T5" fmla="*/ 17 h 101"/>
                <a:gd name="T6" fmla="*/ 45 w 71"/>
                <a:gd name="T7" fmla="*/ 17 h 101"/>
                <a:gd name="T8" fmla="*/ 45 w 71"/>
                <a:gd name="T9" fmla="*/ 101 h 101"/>
                <a:gd name="T10" fmla="*/ 25 w 71"/>
                <a:gd name="T11" fmla="*/ 101 h 101"/>
                <a:gd name="T12" fmla="*/ 25 w 71"/>
                <a:gd name="T13" fmla="*/ 17 h 101"/>
                <a:gd name="T14" fmla="*/ 0 w 71"/>
                <a:gd name="T15" fmla="*/ 17 h 101"/>
                <a:gd name="T16" fmla="*/ 0 w 71"/>
                <a:gd name="T1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101">
                  <a:moveTo>
                    <a:pt x="0" y="0"/>
                  </a:moveTo>
                  <a:lnTo>
                    <a:pt x="71" y="0"/>
                  </a:lnTo>
                  <a:lnTo>
                    <a:pt x="71" y="17"/>
                  </a:lnTo>
                  <a:lnTo>
                    <a:pt x="45" y="17"/>
                  </a:lnTo>
                  <a:lnTo>
                    <a:pt x="45" y="101"/>
                  </a:lnTo>
                  <a:lnTo>
                    <a:pt x="25" y="101"/>
                  </a:lnTo>
                  <a:lnTo>
                    <a:pt x="25" y="17"/>
                  </a:lnTo>
                  <a:lnTo>
                    <a:pt x="0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AA351A76-FF7A-054E-DAC1-AE30A3924D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41" y="-60"/>
              <a:ext cx="28" cy="34"/>
            </a:xfrm>
            <a:custGeom>
              <a:avLst/>
              <a:gdLst>
                <a:gd name="T0" fmla="*/ 0 w 83"/>
                <a:gd name="T1" fmla="*/ 0 h 101"/>
                <a:gd name="T2" fmla="*/ 21 w 83"/>
                <a:gd name="T3" fmla="*/ 0 h 101"/>
                <a:gd name="T4" fmla="*/ 34 w 83"/>
                <a:gd name="T5" fmla="*/ 29 h 101"/>
                <a:gd name="T6" fmla="*/ 41 w 83"/>
                <a:gd name="T7" fmla="*/ 46 h 101"/>
                <a:gd name="T8" fmla="*/ 41 w 83"/>
                <a:gd name="T9" fmla="*/ 46 h 101"/>
                <a:gd name="T10" fmla="*/ 45 w 83"/>
                <a:gd name="T11" fmla="*/ 37 h 101"/>
                <a:gd name="T12" fmla="*/ 49 w 83"/>
                <a:gd name="T13" fmla="*/ 27 h 101"/>
                <a:gd name="T14" fmla="*/ 62 w 83"/>
                <a:gd name="T15" fmla="*/ 0 h 101"/>
                <a:gd name="T16" fmla="*/ 83 w 83"/>
                <a:gd name="T17" fmla="*/ 0 h 101"/>
                <a:gd name="T18" fmla="*/ 50 w 83"/>
                <a:gd name="T19" fmla="*/ 65 h 101"/>
                <a:gd name="T20" fmla="*/ 50 w 83"/>
                <a:gd name="T21" fmla="*/ 101 h 101"/>
                <a:gd name="T22" fmla="*/ 31 w 83"/>
                <a:gd name="T23" fmla="*/ 101 h 101"/>
                <a:gd name="T24" fmla="*/ 31 w 83"/>
                <a:gd name="T25" fmla="*/ 65 h 101"/>
                <a:gd name="T26" fmla="*/ 0 w 83"/>
                <a:gd name="T2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3" h="101">
                  <a:moveTo>
                    <a:pt x="0" y="0"/>
                  </a:moveTo>
                  <a:lnTo>
                    <a:pt x="21" y="0"/>
                  </a:lnTo>
                  <a:lnTo>
                    <a:pt x="34" y="29"/>
                  </a:lnTo>
                  <a:lnTo>
                    <a:pt x="41" y="46"/>
                  </a:lnTo>
                  <a:lnTo>
                    <a:pt x="41" y="46"/>
                  </a:lnTo>
                  <a:lnTo>
                    <a:pt x="45" y="37"/>
                  </a:lnTo>
                  <a:lnTo>
                    <a:pt x="49" y="27"/>
                  </a:lnTo>
                  <a:lnTo>
                    <a:pt x="62" y="0"/>
                  </a:lnTo>
                  <a:lnTo>
                    <a:pt x="83" y="0"/>
                  </a:lnTo>
                  <a:lnTo>
                    <a:pt x="50" y="65"/>
                  </a:lnTo>
                  <a:lnTo>
                    <a:pt x="50" y="101"/>
                  </a:lnTo>
                  <a:lnTo>
                    <a:pt x="31" y="101"/>
                  </a:lnTo>
                  <a:lnTo>
                    <a:pt x="31" y="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5153723-E9C0-3E32-FDFC-B9C26DD0CF3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505" y="-230"/>
              <a:ext cx="115" cy="132"/>
            </a:xfrm>
            <a:custGeom>
              <a:avLst/>
              <a:gdLst>
                <a:gd name="T0" fmla="*/ 170 w 345"/>
                <a:gd name="T1" fmla="*/ 48 h 398"/>
                <a:gd name="T2" fmla="*/ 162 w 345"/>
                <a:gd name="T3" fmla="*/ 77 h 398"/>
                <a:gd name="T4" fmla="*/ 152 w 345"/>
                <a:gd name="T5" fmla="*/ 106 h 398"/>
                <a:gd name="T6" fmla="*/ 95 w 345"/>
                <a:gd name="T7" fmla="*/ 264 h 398"/>
                <a:gd name="T8" fmla="*/ 246 w 345"/>
                <a:gd name="T9" fmla="*/ 264 h 398"/>
                <a:gd name="T10" fmla="*/ 189 w 345"/>
                <a:gd name="T11" fmla="*/ 107 h 398"/>
                <a:gd name="T12" fmla="*/ 179 w 345"/>
                <a:gd name="T13" fmla="*/ 78 h 398"/>
                <a:gd name="T14" fmla="*/ 171 w 345"/>
                <a:gd name="T15" fmla="*/ 48 h 398"/>
                <a:gd name="T16" fmla="*/ 170 w 345"/>
                <a:gd name="T17" fmla="*/ 48 h 398"/>
                <a:gd name="T18" fmla="*/ 148 w 345"/>
                <a:gd name="T19" fmla="*/ 0 h 398"/>
                <a:gd name="T20" fmla="*/ 197 w 345"/>
                <a:gd name="T21" fmla="*/ 0 h 398"/>
                <a:gd name="T22" fmla="*/ 345 w 345"/>
                <a:gd name="T23" fmla="*/ 398 h 398"/>
                <a:gd name="T24" fmla="*/ 293 w 345"/>
                <a:gd name="T25" fmla="*/ 398 h 398"/>
                <a:gd name="T26" fmla="*/ 259 w 345"/>
                <a:gd name="T27" fmla="*/ 300 h 398"/>
                <a:gd name="T28" fmla="*/ 81 w 345"/>
                <a:gd name="T29" fmla="*/ 300 h 398"/>
                <a:gd name="T30" fmla="*/ 46 w 345"/>
                <a:gd name="T31" fmla="*/ 398 h 398"/>
                <a:gd name="T32" fmla="*/ 0 w 345"/>
                <a:gd name="T33" fmla="*/ 398 h 398"/>
                <a:gd name="T34" fmla="*/ 148 w 345"/>
                <a:gd name="T35" fmla="*/ 0 h 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45" h="398">
                  <a:moveTo>
                    <a:pt x="170" y="48"/>
                  </a:moveTo>
                  <a:lnTo>
                    <a:pt x="162" y="77"/>
                  </a:lnTo>
                  <a:lnTo>
                    <a:pt x="152" y="106"/>
                  </a:lnTo>
                  <a:lnTo>
                    <a:pt x="95" y="264"/>
                  </a:lnTo>
                  <a:lnTo>
                    <a:pt x="246" y="264"/>
                  </a:lnTo>
                  <a:lnTo>
                    <a:pt x="189" y="107"/>
                  </a:lnTo>
                  <a:lnTo>
                    <a:pt x="179" y="78"/>
                  </a:lnTo>
                  <a:lnTo>
                    <a:pt x="171" y="48"/>
                  </a:lnTo>
                  <a:lnTo>
                    <a:pt x="170" y="48"/>
                  </a:lnTo>
                  <a:close/>
                  <a:moveTo>
                    <a:pt x="148" y="0"/>
                  </a:moveTo>
                  <a:lnTo>
                    <a:pt x="197" y="0"/>
                  </a:lnTo>
                  <a:lnTo>
                    <a:pt x="345" y="398"/>
                  </a:lnTo>
                  <a:lnTo>
                    <a:pt x="293" y="398"/>
                  </a:lnTo>
                  <a:lnTo>
                    <a:pt x="259" y="300"/>
                  </a:lnTo>
                  <a:lnTo>
                    <a:pt x="81" y="300"/>
                  </a:lnTo>
                  <a:lnTo>
                    <a:pt x="46" y="398"/>
                  </a:lnTo>
                  <a:lnTo>
                    <a:pt x="0" y="398"/>
                  </a:lnTo>
                  <a:lnTo>
                    <a:pt x="14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173713A-E6BD-D8B0-6BA4-46555FEBE18A}"/>
                </a:ext>
              </a:extLst>
            </p:cNvPr>
            <p:cNvSpPr>
              <a:spLocks/>
            </p:cNvSpPr>
            <p:nvPr/>
          </p:nvSpPr>
          <p:spPr bwMode="auto">
            <a:xfrm>
              <a:off x="4633" y="-197"/>
              <a:ext cx="47" cy="99"/>
            </a:xfrm>
            <a:custGeom>
              <a:avLst/>
              <a:gdLst>
                <a:gd name="T0" fmla="*/ 119 w 141"/>
                <a:gd name="T1" fmla="*/ 0 h 299"/>
                <a:gd name="T2" fmla="*/ 141 w 141"/>
                <a:gd name="T3" fmla="*/ 0 h 299"/>
                <a:gd name="T4" fmla="*/ 139 w 141"/>
                <a:gd name="T5" fmla="*/ 44 h 299"/>
                <a:gd name="T6" fmla="*/ 119 w 141"/>
                <a:gd name="T7" fmla="*/ 42 h 299"/>
                <a:gd name="T8" fmla="*/ 101 w 141"/>
                <a:gd name="T9" fmla="*/ 45 h 299"/>
                <a:gd name="T10" fmla="*/ 86 w 141"/>
                <a:gd name="T11" fmla="*/ 53 h 299"/>
                <a:gd name="T12" fmla="*/ 73 w 141"/>
                <a:gd name="T13" fmla="*/ 64 h 299"/>
                <a:gd name="T14" fmla="*/ 62 w 141"/>
                <a:gd name="T15" fmla="*/ 79 h 299"/>
                <a:gd name="T16" fmla="*/ 54 w 141"/>
                <a:gd name="T17" fmla="*/ 99 h 299"/>
                <a:gd name="T18" fmla="*/ 48 w 141"/>
                <a:gd name="T19" fmla="*/ 123 h 299"/>
                <a:gd name="T20" fmla="*/ 45 w 141"/>
                <a:gd name="T21" fmla="*/ 151 h 299"/>
                <a:gd name="T22" fmla="*/ 44 w 141"/>
                <a:gd name="T23" fmla="*/ 182 h 299"/>
                <a:gd name="T24" fmla="*/ 44 w 141"/>
                <a:gd name="T25" fmla="*/ 299 h 299"/>
                <a:gd name="T26" fmla="*/ 0 w 141"/>
                <a:gd name="T27" fmla="*/ 299 h 299"/>
                <a:gd name="T28" fmla="*/ 0 w 141"/>
                <a:gd name="T29" fmla="*/ 5 h 299"/>
                <a:gd name="T30" fmla="*/ 43 w 141"/>
                <a:gd name="T31" fmla="*/ 5 h 299"/>
                <a:gd name="T32" fmla="*/ 43 w 141"/>
                <a:gd name="T33" fmla="*/ 27 h 299"/>
                <a:gd name="T34" fmla="*/ 40 w 141"/>
                <a:gd name="T35" fmla="*/ 53 h 299"/>
                <a:gd name="T36" fmla="*/ 37 w 141"/>
                <a:gd name="T37" fmla="*/ 79 h 299"/>
                <a:gd name="T38" fmla="*/ 37 w 141"/>
                <a:gd name="T39" fmla="*/ 79 h 299"/>
                <a:gd name="T40" fmla="*/ 43 w 141"/>
                <a:gd name="T41" fmla="*/ 63 h 299"/>
                <a:gd name="T42" fmla="*/ 50 w 141"/>
                <a:gd name="T43" fmla="*/ 48 h 299"/>
                <a:gd name="T44" fmla="*/ 59 w 141"/>
                <a:gd name="T45" fmla="*/ 34 h 299"/>
                <a:gd name="T46" fmla="*/ 71 w 141"/>
                <a:gd name="T47" fmla="*/ 21 h 299"/>
                <a:gd name="T48" fmla="*/ 84 w 141"/>
                <a:gd name="T49" fmla="*/ 11 h 299"/>
                <a:gd name="T50" fmla="*/ 101 w 141"/>
                <a:gd name="T51" fmla="*/ 3 h 299"/>
                <a:gd name="T52" fmla="*/ 119 w 141"/>
                <a:gd name="T53" fmla="*/ 0 h 2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41" h="299">
                  <a:moveTo>
                    <a:pt x="119" y="0"/>
                  </a:moveTo>
                  <a:lnTo>
                    <a:pt x="141" y="0"/>
                  </a:lnTo>
                  <a:lnTo>
                    <a:pt x="139" y="44"/>
                  </a:lnTo>
                  <a:lnTo>
                    <a:pt x="119" y="42"/>
                  </a:lnTo>
                  <a:lnTo>
                    <a:pt x="101" y="45"/>
                  </a:lnTo>
                  <a:lnTo>
                    <a:pt x="86" y="53"/>
                  </a:lnTo>
                  <a:lnTo>
                    <a:pt x="73" y="64"/>
                  </a:lnTo>
                  <a:lnTo>
                    <a:pt x="62" y="79"/>
                  </a:lnTo>
                  <a:lnTo>
                    <a:pt x="54" y="99"/>
                  </a:lnTo>
                  <a:lnTo>
                    <a:pt x="48" y="123"/>
                  </a:lnTo>
                  <a:lnTo>
                    <a:pt x="45" y="151"/>
                  </a:lnTo>
                  <a:lnTo>
                    <a:pt x="44" y="182"/>
                  </a:lnTo>
                  <a:lnTo>
                    <a:pt x="44" y="299"/>
                  </a:lnTo>
                  <a:lnTo>
                    <a:pt x="0" y="299"/>
                  </a:lnTo>
                  <a:lnTo>
                    <a:pt x="0" y="5"/>
                  </a:lnTo>
                  <a:lnTo>
                    <a:pt x="43" y="5"/>
                  </a:lnTo>
                  <a:lnTo>
                    <a:pt x="43" y="27"/>
                  </a:lnTo>
                  <a:lnTo>
                    <a:pt x="40" y="53"/>
                  </a:lnTo>
                  <a:lnTo>
                    <a:pt x="37" y="79"/>
                  </a:lnTo>
                  <a:lnTo>
                    <a:pt x="37" y="79"/>
                  </a:lnTo>
                  <a:lnTo>
                    <a:pt x="43" y="63"/>
                  </a:lnTo>
                  <a:lnTo>
                    <a:pt x="50" y="48"/>
                  </a:lnTo>
                  <a:lnTo>
                    <a:pt x="59" y="34"/>
                  </a:lnTo>
                  <a:lnTo>
                    <a:pt x="71" y="21"/>
                  </a:lnTo>
                  <a:lnTo>
                    <a:pt x="84" y="11"/>
                  </a:lnTo>
                  <a:lnTo>
                    <a:pt x="101" y="3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B3DBC03-9BE5-866F-6785-87A56284F35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84" y="-197"/>
              <a:ext cx="94" cy="151"/>
            </a:xfrm>
            <a:custGeom>
              <a:avLst/>
              <a:gdLst>
                <a:gd name="T0" fmla="*/ 56 w 282"/>
                <a:gd name="T1" fmla="*/ 325 h 453"/>
                <a:gd name="T2" fmla="*/ 47 w 282"/>
                <a:gd name="T3" fmla="*/ 375 h 453"/>
                <a:gd name="T4" fmla="*/ 76 w 282"/>
                <a:gd name="T5" fmla="*/ 406 h 453"/>
                <a:gd name="T6" fmla="*/ 131 w 282"/>
                <a:gd name="T7" fmla="*/ 417 h 453"/>
                <a:gd name="T8" fmla="*/ 198 w 282"/>
                <a:gd name="T9" fmla="*/ 403 h 453"/>
                <a:gd name="T10" fmla="*/ 230 w 282"/>
                <a:gd name="T11" fmla="*/ 367 h 453"/>
                <a:gd name="T12" fmla="*/ 225 w 282"/>
                <a:gd name="T13" fmla="*/ 323 h 453"/>
                <a:gd name="T14" fmla="*/ 186 w 282"/>
                <a:gd name="T15" fmla="*/ 302 h 453"/>
                <a:gd name="T16" fmla="*/ 95 w 282"/>
                <a:gd name="T17" fmla="*/ 300 h 453"/>
                <a:gd name="T18" fmla="*/ 116 w 282"/>
                <a:gd name="T19" fmla="*/ 36 h 453"/>
                <a:gd name="T20" fmla="*/ 70 w 282"/>
                <a:gd name="T21" fmla="*/ 61 h 453"/>
                <a:gd name="T22" fmla="*/ 54 w 282"/>
                <a:gd name="T23" fmla="*/ 109 h 453"/>
                <a:gd name="T24" fmla="*/ 70 w 282"/>
                <a:gd name="T25" fmla="*/ 158 h 453"/>
                <a:gd name="T26" fmla="*/ 114 w 282"/>
                <a:gd name="T27" fmla="*/ 181 h 453"/>
                <a:gd name="T28" fmla="*/ 170 w 282"/>
                <a:gd name="T29" fmla="*/ 176 h 453"/>
                <a:gd name="T30" fmla="*/ 206 w 282"/>
                <a:gd name="T31" fmla="*/ 144 h 453"/>
                <a:gd name="T32" fmla="*/ 211 w 282"/>
                <a:gd name="T33" fmla="*/ 89 h 453"/>
                <a:gd name="T34" fmla="*/ 186 w 282"/>
                <a:gd name="T35" fmla="*/ 48 h 453"/>
                <a:gd name="T36" fmla="*/ 136 w 282"/>
                <a:gd name="T37" fmla="*/ 34 h 453"/>
                <a:gd name="T38" fmla="*/ 168 w 282"/>
                <a:gd name="T39" fmla="*/ 2 h 453"/>
                <a:gd name="T40" fmla="*/ 192 w 282"/>
                <a:gd name="T41" fmla="*/ 4 h 453"/>
                <a:gd name="T42" fmla="*/ 218 w 282"/>
                <a:gd name="T43" fmla="*/ 5 h 453"/>
                <a:gd name="T44" fmla="*/ 247 w 282"/>
                <a:gd name="T45" fmla="*/ 40 h 453"/>
                <a:gd name="T46" fmla="*/ 230 w 282"/>
                <a:gd name="T47" fmla="*/ 39 h 453"/>
                <a:gd name="T48" fmla="*/ 229 w 282"/>
                <a:gd name="T49" fmla="*/ 40 h 453"/>
                <a:gd name="T50" fmla="*/ 255 w 282"/>
                <a:gd name="T51" fmla="*/ 84 h 453"/>
                <a:gd name="T52" fmla="*/ 251 w 282"/>
                <a:gd name="T53" fmla="*/ 144 h 453"/>
                <a:gd name="T54" fmla="*/ 218 w 282"/>
                <a:gd name="T55" fmla="*/ 190 h 453"/>
                <a:gd name="T56" fmla="*/ 157 w 282"/>
                <a:gd name="T57" fmla="*/ 213 h 453"/>
                <a:gd name="T58" fmla="*/ 101 w 282"/>
                <a:gd name="T59" fmla="*/ 213 h 453"/>
                <a:gd name="T60" fmla="*/ 73 w 282"/>
                <a:gd name="T61" fmla="*/ 222 h 453"/>
                <a:gd name="T62" fmla="*/ 69 w 282"/>
                <a:gd name="T63" fmla="*/ 246 h 453"/>
                <a:gd name="T64" fmla="*/ 101 w 282"/>
                <a:gd name="T65" fmla="*/ 261 h 453"/>
                <a:gd name="T66" fmla="*/ 204 w 282"/>
                <a:gd name="T67" fmla="*/ 264 h 453"/>
                <a:gd name="T68" fmla="*/ 258 w 282"/>
                <a:gd name="T69" fmla="*/ 291 h 453"/>
                <a:gd name="T70" fmla="*/ 276 w 282"/>
                <a:gd name="T71" fmla="*/ 344 h 453"/>
                <a:gd name="T72" fmla="*/ 252 w 282"/>
                <a:gd name="T73" fmla="*/ 407 h 453"/>
                <a:gd name="T74" fmla="*/ 185 w 282"/>
                <a:gd name="T75" fmla="*/ 445 h 453"/>
                <a:gd name="T76" fmla="*/ 95 w 282"/>
                <a:gd name="T77" fmla="*/ 452 h 453"/>
                <a:gd name="T78" fmla="*/ 33 w 282"/>
                <a:gd name="T79" fmla="*/ 431 h 453"/>
                <a:gd name="T80" fmla="*/ 2 w 282"/>
                <a:gd name="T81" fmla="*/ 387 h 453"/>
                <a:gd name="T82" fmla="*/ 10 w 282"/>
                <a:gd name="T83" fmla="*/ 327 h 453"/>
                <a:gd name="T84" fmla="*/ 51 w 282"/>
                <a:gd name="T85" fmla="*/ 289 h 453"/>
                <a:gd name="T86" fmla="*/ 23 w 282"/>
                <a:gd name="T87" fmla="*/ 260 h 453"/>
                <a:gd name="T88" fmla="*/ 30 w 282"/>
                <a:gd name="T89" fmla="*/ 218 h 453"/>
                <a:gd name="T90" fmla="*/ 38 w 282"/>
                <a:gd name="T91" fmla="*/ 187 h 453"/>
                <a:gd name="T92" fmla="*/ 12 w 282"/>
                <a:gd name="T93" fmla="*/ 136 h 453"/>
                <a:gd name="T94" fmla="*/ 19 w 282"/>
                <a:gd name="T95" fmla="*/ 69 h 453"/>
                <a:gd name="T96" fmla="*/ 62 w 282"/>
                <a:gd name="T97" fmla="*/ 20 h 453"/>
                <a:gd name="T98" fmla="*/ 138 w 282"/>
                <a:gd name="T99" fmla="*/ 0 h 4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82" h="453">
                  <a:moveTo>
                    <a:pt x="86" y="300"/>
                  </a:moveTo>
                  <a:lnTo>
                    <a:pt x="69" y="311"/>
                  </a:lnTo>
                  <a:lnTo>
                    <a:pt x="56" y="325"/>
                  </a:lnTo>
                  <a:lnTo>
                    <a:pt x="47" y="341"/>
                  </a:lnTo>
                  <a:lnTo>
                    <a:pt x="44" y="358"/>
                  </a:lnTo>
                  <a:lnTo>
                    <a:pt x="47" y="375"/>
                  </a:lnTo>
                  <a:lnTo>
                    <a:pt x="53" y="387"/>
                  </a:lnTo>
                  <a:lnTo>
                    <a:pt x="63" y="398"/>
                  </a:lnTo>
                  <a:lnTo>
                    <a:pt x="76" y="406"/>
                  </a:lnTo>
                  <a:lnTo>
                    <a:pt x="91" y="412"/>
                  </a:lnTo>
                  <a:lnTo>
                    <a:pt x="111" y="416"/>
                  </a:lnTo>
                  <a:lnTo>
                    <a:pt x="131" y="417"/>
                  </a:lnTo>
                  <a:lnTo>
                    <a:pt x="156" y="415"/>
                  </a:lnTo>
                  <a:lnTo>
                    <a:pt x="179" y="411"/>
                  </a:lnTo>
                  <a:lnTo>
                    <a:pt x="198" y="403"/>
                  </a:lnTo>
                  <a:lnTo>
                    <a:pt x="212" y="393"/>
                  </a:lnTo>
                  <a:lnTo>
                    <a:pt x="223" y="381"/>
                  </a:lnTo>
                  <a:lnTo>
                    <a:pt x="230" y="367"/>
                  </a:lnTo>
                  <a:lnTo>
                    <a:pt x="232" y="350"/>
                  </a:lnTo>
                  <a:lnTo>
                    <a:pt x="231" y="336"/>
                  </a:lnTo>
                  <a:lnTo>
                    <a:pt x="225" y="323"/>
                  </a:lnTo>
                  <a:lnTo>
                    <a:pt x="216" y="314"/>
                  </a:lnTo>
                  <a:lnTo>
                    <a:pt x="203" y="306"/>
                  </a:lnTo>
                  <a:lnTo>
                    <a:pt x="186" y="302"/>
                  </a:lnTo>
                  <a:lnTo>
                    <a:pt x="166" y="300"/>
                  </a:lnTo>
                  <a:lnTo>
                    <a:pt x="105" y="300"/>
                  </a:lnTo>
                  <a:lnTo>
                    <a:pt x="95" y="300"/>
                  </a:lnTo>
                  <a:lnTo>
                    <a:pt x="86" y="300"/>
                  </a:lnTo>
                  <a:close/>
                  <a:moveTo>
                    <a:pt x="136" y="34"/>
                  </a:moveTo>
                  <a:lnTo>
                    <a:pt x="116" y="36"/>
                  </a:lnTo>
                  <a:lnTo>
                    <a:pt x="97" y="41"/>
                  </a:lnTo>
                  <a:lnTo>
                    <a:pt x="82" y="50"/>
                  </a:lnTo>
                  <a:lnTo>
                    <a:pt x="70" y="61"/>
                  </a:lnTo>
                  <a:lnTo>
                    <a:pt x="61" y="75"/>
                  </a:lnTo>
                  <a:lnTo>
                    <a:pt x="56" y="91"/>
                  </a:lnTo>
                  <a:lnTo>
                    <a:pt x="54" y="109"/>
                  </a:lnTo>
                  <a:lnTo>
                    <a:pt x="56" y="128"/>
                  </a:lnTo>
                  <a:lnTo>
                    <a:pt x="61" y="144"/>
                  </a:lnTo>
                  <a:lnTo>
                    <a:pt x="70" y="158"/>
                  </a:lnTo>
                  <a:lnTo>
                    <a:pt x="81" y="168"/>
                  </a:lnTo>
                  <a:lnTo>
                    <a:pt x="95" y="176"/>
                  </a:lnTo>
                  <a:lnTo>
                    <a:pt x="114" y="181"/>
                  </a:lnTo>
                  <a:lnTo>
                    <a:pt x="134" y="182"/>
                  </a:lnTo>
                  <a:lnTo>
                    <a:pt x="153" y="181"/>
                  </a:lnTo>
                  <a:lnTo>
                    <a:pt x="170" y="176"/>
                  </a:lnTo>
                  <a:lnTo>
                    <a:pt x="185" y="168"/>
                  </a:lnTo>
                  <a:lnTo>
                    <a:pt x="197" y="158"/>
                  </a:lnTo>
                  <a:lnTo>
                    <a:pt x="206" y="144"/>
                  </a:lnTo>
                  <a:lnTo>
                    <a:pt x="211" y="128"/>
                  </a:lnTo>
                  <a:lnTo>
                    <a:pt x="213" y="109"/>
                  </a:lnTo>
                  <a:lnTo>
                    <a:pt x="211" y="89"/>
                  </a:lnTo>
                  <a:lnTo>
                    <a:pt x="206" y="73"/>
                  </a:lnTo>
                  <a:lnTo>
                    <a:pt x="198" y="59"/>
                  </a:lnTo>
                  <a:lnTo>
                    <a:pt x="186" y="48"/>
                  </a:lnTo>
                  <a:lnTo>
                    <a:pt x="172" y="41"/>
                  </a:lnTo>
                  <a:lnTo>
                    <a:pt x="155" y="36"/>
                  </a:lnTo>
                  <a:lnTo>
                    <a:pt x="136" y="34"/>
                  </a:lnTo>
                  <a:close/>
                  <a:moveTo>
                    <a:pt x="138" y="0"/>
                  </a:moveTo>
                  <a:lnTo>
                    <a:pt x="154" y="1"/>
                  </a:lnTo>
                  <a:lnTo>
                    <a:pt x="168" y="2"/>
                  </a:lnTo>
                  <a:lnTo>
                    <a:pt x="173" y="3"/>
                  </a:lnTo>
                  <a:lnTo>
                    <a:pt x="181" y="3"/>
                  </a:lnTo>
                  <a:lnTo>
                    <a:pt x="192" y="4"/>
                  </a:lnTo>
                  <a:lnTo>
                    <a:pt x="203" y="5"/>
                  </a:lnTo>
                  <a:lnTo>
                    <a:pt x="212" y="5"/>
                  </a:lnTo>
                  <a:lnTo>
                    <a:pt x="218" y="5"/>
                  </a:lnTo>
                  <a:lnTo>
                    <a:pt x="282" y="5"/>
                  </a:lnTo>
                  <a:lnTo>
                    <a:pt x="282" y="40"/>
                  </a:lnTo>
                  <a:lnTo>
                    <a:pt x="247" y="40"/>
                  </a:lnTo>
                  <a:lnTo>
                    <a:pt x="243" y="40"/>
                  </a:lnTo>
                  <a:lnTo>
                    <a:pt x="236" y="39"/>
                  </a:lnTo>
                  <a:lnTo>
                    <a:pt x="230" y="39"/>
                  </a:lnTo>
                  <a:lnTo>
                    <a:pt x="227" y="39"/>
                  </a:lnTo>
                  <a:lnTo>
                    <a:pt x="228" y="39"/>
                  </a:lnTo>
                  <a:lnTo>
                    <a:pt x="229" y="40"/>
                  </a:lnTo>
                  <a:lnTo>
                    <a:pt x="240" y="52"/>
                  </a:lnTo>
                  <a:lnTo>
                    <a:pt x="249" y="67"/>
                  </a:lnTo>
                  <a:lnTo>
                    <a:pt x="255" y="84"/>
                  </a:lnTo>
                  <a:lnTo>
                    <a:pt x="257" y="104"/>
                  </a:lnTo>
                  <a:lnTo>
                    <a:pt x="255" y="125"/>
                  </a:lnTo>
                  <a:lnTo>
                    <a:pt x="251" y="144"/>
                  </a:lnTo>
                  <a:lnTo>
                    <a:pt x="243" y="161"/>
                  </a:lnTo>
                  <a:lnTo>
                    <a:pt x="232" y="177"/>
                  </a:lnTo>
                  <a:lnTo>
                    <a:pt x="218" y="190"/>
                  </a:lnTo>
                  <a:lnTo>
                    <a:pt x="200" y="200"/>
                  </a:lnTo>
                  <a:lnTo>
                    <a:pt x="180" y="208"/>
                  </a:lnTo>
                  <a:lnTo>
                    <a:pt x="157" y="213"/>
                  </a:lnTo>
                  <a:lnTo>
                    <a:pt x="130" y="215"/>
                  </a:lnTo>
                  <a:lnTo>
                    <a:pt x="116" y="214"/>
                  </a:lnTo>
                  <a:lnTo>
                    <a:pt x="101" y="213"/>
                  </a:lnTo>
                  <a:lnTo>
                    <a:pt x="89" y="211"/>
                  </a:lnTo>
                  <a:lnTo>
                    <a:pt x="79" y="216"/>
                  </a:lnTo>
                  <a:lnTo>
                    <a:pt x="73" y="222"/>
                  </a:lnTo>
                  <a:lnTo>
                    <a:pt x="69" y="230"/>
                  </a:lnTo>
                  <a:lnTo>
                    <a:pt x="67" y="237"/>
                  </a:lnTo>
                  <a:lnTo>
                    <a:pt x="69" y="246"/>
                  </a:lnTo>
                  <a:lnTo>
                    <a:pt x="75" y="253"/>
                  </a:lnTo>
                  <a:lnTo>
                    <a:pt x="86" y="258"/>
                  </a:lnTo>
                  <a:lnTo>
                    <a:pt x="101" y="261"/>
                  </a:lnTo>
                  <a:lnTo>
                    <a:pt x="121" y="262"/>
                  </a:lnTo>
                  <a:lnTo>
                    <a:pt x="178" y="262"/>
                  </a:lnTo>
                  <a:lnTo>
                    <a:pt x="204" y="264"/>
                  </a:lnTo>
                  <a:lnTo>
                    <a:pt x="225" y="269"/>
                  </a:lnTo>
                  <a:lnTo>
                    <a:pt x="244" y="278"/>
                  </a:lnTo>
                  <a:lnTo>
                    <a:pt x="258" y="291"/>
                  </a:lnTo>
                  <a:lnTo>
                    <a:pt x="268" y="306"/>
                  </a:lnTo>
                  <a:lnTo>
                    <a:pt x="274" y="324"/>
                  </a:lnTo>
                  <a:lnTo>
                    <a:pt x="276" y="344"/>
                  </a:lnTo>
                  <a:lnTo>
                    <a:pt x="274" y="368"/>
                  </a:lnTo>
                  <a:lnTo>
                    <a:pt x="265" y="388"/>
                  </a:lnTo>
                  <a:lnTo>
                    <a:pt x="252" y="407"/>
                  </a:lnTo>
                  <a:lnTo>
                    <a:pt x="233" y="422"/>
                  </a:lnTo>
                  <a:lnTo>
                    <a:pt x="211" y="435"/>
                  </a:lnTo>
                  <a:lnTo>
                    <a:pt x="185" y="445"/>
                  </a:lnTo>
                  <a:lnTo>
                    <a:pt x="155" y="451"/>
                  </a:lnTo>
                  <a:lnTo>
                    <a:pt x="123" y="453"/>
                  </a:lnTo>
                  <a:lnTo>
                    <a:pt x="95" y="452"/>
                  </a:lnTo>
                  <a:lnTo>
                    <a:pt x="72" y="447"/>
                  </a:lnTo>
                  <a:lnTo>
                    <a:pt x="51" y="441"/>
                  </a:lnTo>
                  <a:lnTo>
                    <a:pt x="33" y="431"/>
                  </a:lnTo>
                  <a:lnTo>
                    <a:pt x="19" y="419"/>
                  </a:lnTo>
                  <a:lnTo>
                    <a:pt x="9" y="404"/>
                  </a:lnTo>
                  <a:lnTo>
                    <a:pt x="2" y="387"/>
                  </a:lnTo>
                  <a:lnTo>
                    <a:pt x="0" y="367"/>
                  </a:lnTo>
                  <a:lnTo>
                    <a:pt x="3" y="345"/>
                  </a:lnTo>
                  <a:lnTo>
                    <a:pt x="10" y="327"/>
                  </a:lnTo>
                  <a:lnTo>
                    <a:pt x="21" y="311"/>
                  </a:lnTo>
                  <a:lnTo>
                    <a:pt x="35" y="299"/>
                  </a:lnTo>
                  <a:lnTo>
                    <a:pt x="51" y="289"/>
                  </a:lnTo>
                  <a:lnTo>
                    <a:pt x="39" y="281"/>
                  </a:lnTo>
                  <a:lnTo>
                    <a:pt x="29" y="271"/>
                  </a:lnTo>
                  <a:lnTo>
                    <a:pt x="23" y="260"/>
                  </a:lnTo>
                  <a:lnTo>
                    <a:pt x="21" y="246"/>
                  </a:lnTo>
                  <a:lnTo>
                    <a:pt x="24" y="232"/>
                  </a:lnTo>
                  <a:lnTo>
                    <a:pt x="30" y="218"/>
                  </a:lnTo>
                  <a:lnTo>
                    <a:pt x="40" y="207"/>
                  </a:lnTo>
                  <a:lnTo>
                    <a:pt x="54" y="199"/>
                  </a:lnTo>
                  <a:lnTo>
                    <a:pt x="38" y="187"/>
                  </a:lnTo>
                  <a:lnTo>
                    <a:pt x="26" y="172"/>
                  </a:lnTo>
                  <a:lnTo>
                    <a:pt x="17" y="155"/>
                  </a:lnTo>
                  <a:lnTo>
                    <a:pt x="12" y="136"/>
                  </a:lnTo>
                  <a:lnTo>
                    <a:pt x="10" y="114"/>
                  </a:lnTo>
                  <a:lnTo>
                    <a:pt x="12" y="90"/>
                  </a:lnTo>
                  <a:lnTo>
                    <a:pt x="19" y="69"/>
                  </a:lnTo>
                  <a:lnTo>
                    <a:pt x="30" y="50"/>
                  </a:lnTo>
                  <a:lnTo>
                    <a:pt x="44" y="34"/>
                  </a:lnTo>
                  <a:lnTo>
                    <a:pt x="62" y="20"/>
                  </a:lnTo>
                  <a:lnTo>
                    <a:pt x="84" y="9"/>
                  </a:lnTo>
                  <a:lnTo>
                    <a:pt x="110" y="2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4CB488D-89A1-9496-B5EA-6DDDCE7C66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82" y="-197"/>
              <a:ext cx="90" cy="101"/>
            </a:xfrm>
            <a:custGeom>
              <a:avLst/>
              <a:gdLst>
                <a:gd name="T0" fmla="*/ 121 w 270"/>
                <a:gd name="T1" fmla="*/ 38 h 304"/>
                <a:gd name="T2" fmla="*/ 93 w 270"/>
                <a:gd name="T3" fmla="*/ 48 h 304"/>
                <a:gd name="T4" fmla="*/ 68 w 270"/>
                <a:gd name="T5" fmla="*/ 70 h 304"/>
                <a:gd name="T6" fmla="*/ 52 w 270"/>
                <a:gd name="T7" fmla="*/ 104 h 304"/>
                <a:gd name="T8" fmla="*/ 46 w 270"/>
                <a:gd name="T9" fmla="*/ 150 h 304"/>
                <a:gd name="T10" fmla="*/ 52 w 270"/>
                <a:gd name="T11" fmla="*/ 200 h 304"/>
                <a:gd name="T12" fmla="*/ 69 w 270"/>
                <a:gd name="T13" fmla="*/ 236 h 304"/>
                <a:gd name="T14" fmla="*/ 98 w 270"/>
                <a:gd name="T15" fmla="*/ 259 h 304"/>
                <a:gd name="T16" fmla="*/ 136 w 270"/>
                <a:gd name="T17" fmla="*/ 266 h 304"/>
                <a:gd name="T18" fmla="*/ 166 w 270"/>
                <a:gd name="T19" fmla="*/ 261 h 304"/>
                <a:gd name="T20" fmla="*/ 192 w 270"/>
                <a:gd name="T21" fmla="*/ 244 h 304"/>
                <a:gd name="T22" fmla="*/ 211 w 270"/>
                <a:gd name="T23" fmla="*/ 216 h 304"/>
                <a:gd name="T24" fmla="*/ 222 w 270"/>
                <a:gd name="T25" fmla="*/ 176 h 304"/>
                <a:gd name="T26" fmla="*/ 223 w 270"/>
                <a:gd name="T27" fmla="*/ 125 h 304"/>
                <a:gd name="T28" fmla="*/ 212 w 270"/>
                <a:gd name="T29" fmla="*/ 83 h 304"/>
                <a:gd name="T30" fmla="*/ 190 w 270"/>
                <a:gd name="T31" fmla="*/ 54 h 304"/>
                <a:gd name="T32" fmla="*/ 157 w 270"/>
                <a:gd name="T33" fmla="*/ 38 h 304"/>
                <a:gd name="T34" fmla="*/ 140 w 270"/>
                <a:gd name="T35" fmla="*/ 0 h 304"/>
                <a:gd name="T36" fmla="*/ 181 w 270"/>
                <a:gd name="T37" fmla="*/ 5 h 304"/>
                <a:gd name="T38" fmla="*/ 217 w 270"/>
                <a:gd name="T39" fmla="*/ 21 h 304"/>
                <a:gd name="T40" fmla="*/ 245 w 270"/>
                <a:gd name="T41" fmla="*/ 49 h 304"/>
                <a:gd name="T42" fmla="*/ 263 w 270"/>
                <a:gd name="T43" fmla="*/ 90 h 304"/>
                <a:gd name="T44" fmla="*/ 270 w 270"/>
                <a:gd name="T45" fmla="*/ 147 h 304"/>
                <a:gd name="T46" fmla="*/ 262 w 270"/>
                <a:gd name="T47" fmla="*/ 202 h 304"/>
                <a:gd name="T48" fmla="*/ 240 w 270"/>
                <a:gd name="T49" fmla="*/ 248 h 304"/>
                <a:gd name="T50" fmla="*/ 205 w 270"/>
                <a:gd name="T51" fmla="*/ 283 h 304"/>
                <a:gd name="T52" fmla="*/ 157 w 270"/>
                <a:gd name="T53" fmla="*/ 301 h 304"/>
                <a:gd name="T54" fmla="*/ 105 w 270"/>
                <a:gd name="T55" fmla="*/ 302 h 304"/>
                <a:gd name="T56" fmla="*/ 61 w 270"/>
                <a:gd name="T57" fmla="*/ 288 h 304"/>
                <a:gd name="T58" fmla="*/ 28 w 270"/>
                <a:gd name="T59" fmla="*/ 259 h 304"/>
                <a:gd name="T60" fmla="*/ 7 w 270"/>
                <a:gd name="T61" fmla="*/ 214 h 304"/>
                <a:gd name="T62" fmla="*/ 0 w 270"/>
                <a:gd name="T63" fmla="*/ 154 h 304"/>
                <a:gd name="T64" fmla="*/ 8 w 270"/>
                <a:gd name="T65" fmla="*/ 100 h 304"/>
                <a:gd name="T66" fmla="*/ 29 w 270"/>
                <a:gd name="T67" fmla="*/ 55 h 304"/>
                <a:gd name="T68" fmla="*/ 64 w 270"/>
                <a:gd name="T69" fmla="*/ 21 h 304"/>
                <a:gd name="T70" fmla="*/ 113 w 270"/>
                <a:gd name="T71" fmla="*/ 3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70" h="304">
                  <a:moveTo>
                    <a:pt x="136" y="36"/>
                  </a:moveTo>
                  <a:lnTo>
                    <a:pt x="121" y="38"/>
                  </a:lnTo>
                  <a:lnTo>
                    <a:pt x="107" y="42"/>
                  </a:lnTo>
                  <a:lnTo>
                    <a:pt x="93" y="48"/>
                  </a:lnTo>
                  <a:lnTo>
                    <a:pt x="79" y="58"/>
                  </a:lnTo>
                  <a:lnTo>
                    <a:pt x="68" y="70"/>
                  </a:lnTo>
                  <a:lnTo>
                    <a:pt x="59" y="85"/>
                  </a:lnTo>
                  <a:lnTo>
                    <a:pt x="52" y="104"/>
                  </a:lnTo>
                  <a:lnTo>
                    <a:pt x="48" y="126"/>
                  </a:lnTo>
                  <a:lnTo>
                    <a:pt x="46" y="150"/>
                  </a:lnTo>
                  <a:lnTo>
                    <a:pt x="47" y="177"/>
                  </a:lnTo>
                  <a:lnTo>
                    <a:pt x="52" y="200"/>
                  </a:lnTo>
                  <a:lnTo>
                    <a:pt x="59" y="220"/>
                  </a:lnTo>
                  <a:lnTo>
                    <a:pt x="69" y="236"/>
                  </a:lnTo>
                  <a:lnTo>
                    <a:pt x="82" y="249"/>
                  </a:lnTo>
                  <a:lnTo>
                    <a:pt x="98" y="259"/>
                  </a:lnTo>
                  <a:lnTo>
                    <a:pt x="116" y="264"/>
                  </a:lnTo>
                  <a:lnTo>
                    <a:pt x="136" y="266"/>
                  </a:lnTo>
                  <a:lnTo>
                    <a:pt x="151" y="265"/>
                  </a:lnTo>
                  <a:lnTo>
                    <a:pt x="166" y="261"/>
                  </a:lnTo>
                  <a:lnTo>
                    <a:pt x="179" y="254"/>
                  </a:lnTo>
                  <a:lnTo>
                    <a:pt x="192" y="244"/>
                  </a:lnTo>
                  <a:lnTo>
                    <a:pt x="203" y="232"/>
                  </a:lnTo>
                  <a:lnTo>
                    <a:pt x="211" y="216"/>
                  </a:lnTo>
                  <a:lnTo>
                    <a:pt x="218" y="197"/>
                  </a:lnTo>
                  <a:lnTo>
                    <a:pt x="222" y="176"/>
                  </a:lnTo>
                  <a:lnTo>
                    <a:pt x="224" y="150"/>
                  </a:lnTo>
                  <a:lnTo>
                    <a:pt x="223" y="125"/>
                  </a:lnTo>
                  <a:lnTo>
                    <a:pt x="218" y="102"/>
                  </a:lnTo>
                  <a:lnTo>
                    <a:pt x="212" y="83"/>
                  </a:lnTo>
                  <a:lnTo>
                    <a:pt x="202" y="66"/>
                  </a:lnTo>
                  <a:lnTo>
                    <a:pt x="190" y="54"/>
                  </a:lnTo>
                  <a:lnTo>
                    <a:pt x="175" y="44"/>
                  </a:lnTo>
                  <a:lnTo>
                    <a:pt x="157" y="38"/>
                  </a:lnTo>
                  <a:lnTo>
                    <a:pt x="136" y="36"/>
                  </a:lnTo>
                  <a:close/>
                  <a:moveTo>
                    <a:pt x="140" y="0"/>
                  </a:moveTo>
                  <a:lnTo>
                    <a:pt x="161" y="1"/>
                  </a:lnTo>
                  <a:lnTo>
                    <a:pt x="181" y="5"/>
                  </a:lnTo>
                  <a:lnTo>
                    <a:pt x="200" y="11"/>
                  </a:lnTo>
                  <a:lnTo>
                    <a:pt x="217" y="21"/>
                  </a:lnTo>
                  <a:lnTo>
                    <a:pt x="232" y="33"/>
                  </a:lnTo>
                  <a:lnTo>
                    <a:pt x="245" y="49"/>
                  </a:lnTo>
                  <a:lnTo>
                    <a:pt x="255" y="68"/>
                  </a:lnTo>
                  <a:lnTo>
                    <a:pt x="263" y="90"/>
                  </a:lnTo>
                  <a:lnTo>
                    <a:pt x="268" y="117"/>
                  </a:lnTo>
                  <a:lnTo>
                    <a:pt x="270" y="147"/>
                  </a:lnTo>
                  <a:lnTo>
                    <a:pt x="268" y="176"/>
                  </a:lnTo>
                  <a:lnTo>
                    <a:pt x="262" y="202"/>
                  </a:lnTo>
                  <a:lnTo>
                    <a:pt x="253" y="227"/>
                  </a:lnTo>
                  <a:lnTo>
                    <a:pt x="240" y="248"/>
                  </a:lnTo>
                  <a:lnTo>
                    <a:pt x="224" y="267"/>
                  </a:lnTo>
                  <a:lnTo>
                    <a:pt x="205" y="283"/>
                  </a:lnTo>
                  <a:lnTo>
                    <a:pt x="182" y="294"/>
                  </a:lnTo>
                  <a:lnTo>
                    <a:pt x="157" y="301"/>
                  </a:lnTo>
                  <a:lnTo>
                    <a:pt x="130" y="304"/>
                  </a:lnTo>
                  <a:lnTo>
                    <a:pt x="105" y="302"/>
                  </a:lnTo>
                  <a:lnTo>
                    <a:pt x="81" y="297"/>
                  </a:lnTo>
                  <a:lnTo>
                    <a:pt x="61" y="288"/>
                  </a:lnTo>
                  <a:lnTo>
                    <a:pt x="43" y="275"/>
                  </a:lnTo>
                  <a:lnTo>
                    <a:pt x="28" y="259"/>
                  </a:lnTo>
                  <a:lnTo>
                    <a:pt x="16" y="238"/>
                  </a:lnTo>
                  <a:lnTo>
                    <a:pt x="7" y="214"/>
                  </a:lnTo>
                  <a:lnTo>
                    <a:pt x="2" y="186"/>
                  </a:lnTo>
                  <a:lnTo>
                    <a:pt x="0" y="154"/>
                  </a:lnTo>
                  <a:lnTo>
                    <a:pt x="2" y="127"/>
                  </a:lnTo>
                  <a:lnTo>
                    <a:pt x="8" y="100"/>
                  </a:lnTo>
                  <a:lnTo>
                    <a:pt x="17" y="76"/>
                  </a:lnTo>
                  <a:lnTo>
                    <a:pt x="29" y="55"/>
                  </a:lnTo>
                  <a:lnTo>
                    <a:pt x="45" y="36"/>
                  </a:lnTo>
                  <a:lnTo>
                    <a:pt x="64" y="21"/>
                  </a:lnTo>
                  <a:lnTo>
                    <a:pt x="87" y="10"/>
                  </a:lnTo>
                  <a:lnTo>
                    <a:pt x="113" y="3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2B6D05-26D1-7D26-324D-082520DB6C8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5" y="-198"/>
              <a:ext cx="78" cy="100"/>
            </a:xfrm>
            <a:custGeom>
              <a:avLst/>
              <a:gdLst>
                <a:gd name="T0" fmla="*/ 146 w 233"/>
                <a:gd name="T1" fmla="*/ 0 h 300"/>
                <a:gd name="T2" fmla="*/ 166 w 233"/>
                <a:gd name="T3" fmla="*/ 2 h 300"/>
                <a:gd name="T4" fmla="*/ 184 w 233"/>
                <a:gd name="T5" fmla="*/ 6 h 300"/>
                <a:gd name="T6" fmla="*/ 198 w 233"/>
                <a:gd name="T7" fmla="*/ 13 h 300"/>
                <a:gd name="T8" fmla="*/ 210 w 233"/>
                <a:gd name="T9" fmla="*/ 23 h 300"/>
                <a:gd name="T10" fmla="*/ 219 w 233"/>
                <a:gd name="T11" fmla="*/ 34 h 300"/>
                <a:gd name="T12" fmla="*/ 225 w 233"/>
                <a:gd name="T13" fmla="*/ 47 h 300"/>
                <a:gd name="T14" fmla="*/ 230 w 233"/>
                <a:gd name="T15" fmla="*/ 62 h 300"/>
                <a:gd name="T16" fmla="*/ 233 w 233"/>
                <a:gd name="T17" fmla="*/ 78 h 300"/>
                <a:gd name="T18" fmla="*/ 233 w 233"/>
                <a:gd name="T19" fmla="*/ 95 h 300"/>
                <a:gd name="T20" fmla="*/ 233 w 233"/>
                <a:gd name="T21" fmla="*/ 300 h 300"/>
                <a:gd name="T22" fmla="*/ 189 w 233"/>
                <a:gd name="T23" fmla="*/ 300 h 300"/>
                <a:gd name="T24" fmla="*/ 189 w 233"/>
                <a:gd name="T25" fmla="*/ 110 h 300"/>
                <a:gd name="T26" fmla="*/ 188 w 233"/>
                <a:gd name="T27" fmla="*/ 91 h 300"/>
                <a:gd name="T28" fmla="*/ 186 w 233"/>
                <a:gd name="T29" fmla="*/ 75 h 300"/>
                <a:gd name="T30" fmla="*/ 181 w 233"/>
                <a:gd name="T31" fmla="*/ 61 h 300"/>
                <a:gd name="T32" fmla="*/ 174 w 233"/>
                <a:gd name="T33" fmla="*/ 51 h 300"/>
                <a:gd name="T34" fmla="*/ 164 w 233"/>
                <a:gd name="T35" fmla="*/ 43 h 300"/>
                <a:gd name="T36" fmla="*/ 151 w 233"/>
                <a:gd name="T37" fmla="*/ 38 h 300"/>
                <a:gd name="T38" fmla="*/ 135 w 233"/>
                <a:gd name="T39" fmla="*/ 37 h 300"/>
                <a:gd name="T40" fmla="*/ 116 w 233"/>
                <a:gd name="T41" fmla="*/ 39 h 300"/>
                <a:gd name="T42" fmla="*/ 98 w 233"/>
                <a:gd name="T43" fmla="*/ 46 h 300"/>
                <a:gd name="T44" fmla="*/ 83 w 233"/>
                <a:gd name="T45" fmla="*/ 57 h 300"/>
                <a:gd name="T46" fmla="*/ 70 w 233"/>
                <a:gd name="T47" fmla="*/ 71 h 300"/>
                <a:gd name="T48" fmla="*/ 60 w 233"/>
                <a:gd name="T49" fmla="*/ 89 h 300"/>
                <a:gd name="T50" fmla="*/ 51 w 233"/>
                <a:gd name="T51" fmla="*/ 111 h 300"/>
                <a:gd name="T52" fmla="*/ 46 w 233"/>
                <a:gd name="T53" fmla="*/ 134 h 300"/>
                <a:gd name="T54" fmla="*/ 44 w 233"/>
                <a:gd name="T55" fmla="*/ 159 h 300"/>
                <a:gd name="T56" fmla="*/ 44 w 233"/>
                <a:gd name="T57" fmla="*/ 300 h 300"/>
                <a:gd name="T58" fmla="*/ 0 w 233"/>
                <a:gd name="T59" fmla="*/ 300 h 300"/>
                <a:gd name="T60" fmla="*/ 0 w 233"/>
                <a:gd name="T61" fmla="*/ 6 h 300"/>
                <a:gd name="T62" fmla="*/ 44 w 233"/>
                <a:gd name="T63" fmla="*/ 6 h 300"/>
                <a:gd name="T64" fmla="*/ 43 w 233"/>
                <a:gd name="T65" fmla="*/ 28 h 300"/>
                <a:gd name="T66" fmla="*/ 41 w 233"/>
                <a:gd name="T67" fmla="*/ 51 h 300"/>
                <a:gd name="T68" fmla="*/ 39 w 233"/>
                <a:gd name="T69" fmla="*/ 71 h 300"/>
                <a:gd name="T70" fmla="*/ 40 w 233"/>
                <a:gd name="T71" fmla="*/ 72 h 300"/>
                <a:gd name="T72" fmla="*/ 50 w 233"/>
                <a:gd name="T73" fmla="*/ 52 h 300"/>
                <a:gd name="T74" fmla="*/ 64 w 233"/>
                <a:gd name="T75" fmla="*/ 34 h 300"/>
                <a:gd name="T76" fmla="*/ 80 w 233"/>
                <a:gd name="T77" fmla="*/ 20 h 300"/>
                <a:gd name="T78" fmla="*/ 99 w 233"/>
                <a:gd name="T79" fmla="*/ 9 h 300"/>
                <a:gd name="T80" fmla="*/ 121 w 233"/>
                <a:gd name="T81" fmla="*/ 3 h 300"/>
                <a:gd name="T82" fmla="*/ 146 w 233"/>
                <a:gd name="T83" fmla="*/ 0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33" h="300">
                  <a:moveTo>
                    <a:pt x="146" y="0"/>
                  </a:moveTo>
                  <a:lnTo>
                    <a:pt x="166" y="2"/>
                  </a:lnTo>
                  <a:lnTo>
                    <a:pt x="184" y="6"/>
                  </a:lnTo>
                  <a:lnTo>
                    <a:pt x="198" y="13"/>
                  </a:lnTo>
                  <a:lnTo>
                    <a:pt x="210" y="23"/>
                  </a:lnTo>
                  <a:lnTo>
                    <a:pt x="219" y="34"/>
                  </a:lnTo>
                  <a:lnTo>
                    <a:pt x="225" y="47"/>
                  </a:lnTo>
                  <a:lnTo>
                    <a:pt x="230" y="62"/>
                  </a:lnTo>
                  <a:lnTo>
                    <a:pt x="233" y="78"/>
                  </a:lnTo>
                  <a:lnTo>
                    <a:pt x="233" y="95"/>
                  </a:lnTo>
                  <a:lnTo>
                    <a:pt x="233" y="300"/>
                  </a:lnTo>
                  <a:lnTo>
                    <a:pt x="189" y="300"/>
                  </a:lnTo>
                  <a:lnTo>
                    <a:pt x="189" y="110"/>
                  </a:lnTo>
                  <a:lnTo>
                    <a:pt x="188" y="91"/>
                  </a:lnTo>
                  <a:lnTo>
                    <a:pt x="186" y="75"/>
                  </a:lnTo>
                  <a:lnTo>
                    <a:pt x="181" y="61"/>
                  </a:lnTo>
                  <a:lnTo>
                    <a:pt x="174" y="51"/>
                  </a:lnTo>
                  <a:lnTo>
                    <a:pt x="164" y="43"/>
                  </a:lnTo>
                  <a:lnTo>
                    <a:pt x="151" y="38"/>
                  </a:lnTo>
                  <a:lnTo>
                    <a:pt x="135" y="37"/>
                  </a:lnTo>
                  <a:lnTo>
                    <a:pt x="116" y="39"/>
                  </a:lnTo>
                  <a:lnTo>
                    <a:pt x="98" y="46"/>
                  </a:lnTo>
                  <a:lnTo>
                    <a:pt x="83" y="57"/>
                  </a:lnTo>
                  <a:lnTo>
                    <a:pt x="70" y="71"/>
                  </a:lnTo>
                  <a:lnTo>
                    <a:pt x="60" y="89"/>
                  </a:lnTo>
                  <a:lnTo>
                    <a:pt x="51" y="111"/>
                  </a:lnTo>
                  <a:lnTo>
                    <a:pt x="46" y="134"/>
                  </a:lnTo>
                  <a:lnTo>
                    <a:pt x="44" y="159"/>
                  </a:lnTo>
                  <a:lnTo>
                    <a:pt x="44" y="300"/>
                  </a:lnTo>
                  <a:lnTo>
                    <a:pt x="0" y="300"/>
                  </a:lnTo>
                  <a:lnTo>
                    <a:pt x="0" y="6"/>
                  </a:lnTo>
                  <a:lnTo>
                    <a:pt x="44" y="6"/>
                  </a:lnTo>
                  <a:lnTo>
                    <a:pt x="43" y="28"/>
                  </a:lnTo>
                  <a:lnTo>
                    <a:pt x="41" y="51"/>
                  </a:lnTo>
                  <a:lnTo>
                    <a:pt x="39" y="71"/>
                  </a:lnTo>
                  <a:lnTo>
                    <a:pt x="40" y="72"/>
                  </a:lnTo>
                  <a:lnTo>
                    <a:pt x="50" y="52"/>
                  </a:lnTo>
                  <a:lnTo>
                    <a:pt x="64" y="34"/>
                  </a:lnTo>
                  <a:lnTo>
                    <a:pt x="80" y="20"/>
                  </a:lnTo>
                  <a:lnTo>
                    <a:pt x="99" y="9"/>
                  </a:lnTo>
                  <a:lnTo>
                    <a:pt x="121" y="3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A7998B92-58EA-387E-5784-4DDD979F477D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8" y="-198"/>
              <a:ext cx="77" cy="100"/>
            </a:xfrm>
            <a:custGeom>
              <a:avLst/>
              <a:gdLst>
                <a:gd name="T0" fmla="*/ 145 w 233"/>
                <a:gd name="T1" fmla="*/ 0 h 300"/>
                <a:gd name="T2" fmla="*/ 166 w 233"/>
                <a:gd name="T3" fmla="*/ 2 h 300"/>
                <a:gd name="T4" fmla="*/ 183 w 233"/>
                <a:gd name="T5" fmla="*/ 6 h 300"/>
                <a:gd name="T6" fmla="*/ 198 w 233"/>
                <a:gd name="T7" fmla="*/ 13 h 300"/>
                <a:gd name="T8" fmla="*/ 209 w 233"/>
                <a:gd name="T9" fmla="*/ 23 h 300"/>
                <a:gd name="T10" fmla="*/ 218 w 233"/>
                <a:gd name="T11" fmla="*/ 34 h 300"/>
                <a:gd name="T12" fmla="*/ 225 w 233"/>
                <a:gd name="T13" fmla="*/ 47 h 300"/>
                <a:gd name="T14" fmla="*/ 230 w 233"/>
                <a:gd name="T15" fmla="*/ 62 h 300"/>
                <a:gd name="T16" fmla="*/ 232 w 233"/>
                <a:gd name="T17" fmla="*/ 78 h 300"/>
                <a:gd name="T18" fmla="*/ 233 w 233"/>
                <a:gd name="T19" fmla="*/ 95 h 300"/>
                <a:gd name="T20" fmla="*/ 233 w 233"/>
                <a:gd name="T21" fmla="*/ 300 h 300"/>
                <a:gd name="T22" fmla="*/ 189 w 233"/>
                <a:gd name="T23" fmla="*/ 300 h 300"/>
                <a:gd name="T24" fmla="*/ 189 w 233"/>
                <a:gd name="T25" fmla="*/ 110 h 300"/>
                <a:gd name="T26" fmla="*/ 188 w 233"/>
                <a:gd name="T27" fmla="*/ 91 h 300"/>
                <a:gd name="T28" fmla="*/ 185 w 233"/>
                <a:gd name="T29" fmla="*/ 75 h 300"/>
                <a:gd name="T30" fmla="*/ 181 w 233"/>
                <a:gd name="T31" fmla="*/ 61 h 300"/>
                <a:gd name="T32" fmla="*/ 173 w 233"/>
                <a:gd name="T33" fmla="*/ 51 h 300"/>
                <a:gd name="T34" fmla="*/ 163 w 233"/>
                <a:gd name="T35" fmla="*/ 43 h 300"/>
                <a:gd name="T36" fmla="*/ 150 w 233"/>
                <a:gd name="T37" fmla="*/ 38 h 300"/>
                <a:gd name="T38" fmla="*/ 134 w 233"/>
                <a:gd name="T39" fmla="*/ 37 h 300"/>
                <a:gd name="T40" fmla="*/ 115 w 233"/>
                <a:gd name="T41" fmla="*/ 39 h 300"/>
                <a:gd name="T42" fmla="*/ 98 w 233"/>
                <a:gd name="T43" fmla="*/ 46 h 300"/>
                <a:gd name="T44" fmla="*/ 83 w 233"/>
                <a:gd name="T45" fmla="*/ 57 h 300"/>
                <a:gd name="T46" fmla="*/ 70 w 233"/>
                <a:gd name="T47" fmla="*/ 71 h 300"/>
                <a:gd name="T48" fmla="*/ 59 w 233"/>
                <a:gd name="T49" fmla="*/ 89 h 300"/>
                <a:gd name="T50" fmla="*/ 51 w 233"/>
                <a:gd name="T51" fmla="*/ 111 h 300"/>
                <a:gd name="T52" fmla="*/ 46 w 233"/>
                <a:gd name="T53" fmla="*/ 134 h 300"/>
                <a:gd name="T54" fmla="*/ 45 w 233"/>
                <a:gd name="T55" fmla="*/ 159 h 300"/>
                <a:gd name="T56" fmla="*/ 45 w 233"/>
                <a:gd name="T57" fmla="*/ 300 h 300"/>
                <a:gd name="T58" fmla="*/ 0 w 233"/>
                <a:gd name="T59" fmla="*/ 300 h 300"/>
                <a:gd name="T60" fmla="*/ 0 w 233"/>
                <a:gd name="T61" fmla="*/ 6 h 300"/>
                <a:gd name="T62" fmla="*/ 44 w 233"/>
                <a:gd name="T63" fmla="*/ 6 h 300"/>
                <a:gd name="T64" fmla="*/ 44 w 233"/>
                <a:gd name="T65" fmla="*/ 28 h 300"/>
                <a:gd name="T66" fmla="*/ 42 w 233"/>
                <a:gd name="T67" fmla="*/ 51 h 300"/>
                <a:gd name="T68" fmla="*/ 39 w 233"/>
                <a:gd name="T69" fmla="*/ 71 h 300"/>
                <a:gd name="T70" fmla="*/ 41 w 233"/>
                <a:gd name="T71" fmla="*/ 72 h 300"/>
                <a:gd name="T72" fmla="*/ 51 w 233"/>
                <a:gd name="T73" fmla="*/ 52 h 300"/>
                <a:gd name="T74" fmla="*/ 64 w 233"/>
                <a:gd name="T75" fmla="*/ 34 h 300"/>
                <a:gd name="T76" fmla="*/ 80 w 233"/>
                <a:gd name="T77" fmla="*/ 20 h 300"/>
                <a:gd name="T78" fmla="*/ 99 w 233"/>
                <a:gd name="T79" fmla="*/ 9 h 300"/>
                <a:gd name="T80" fmla="*/ 121 w 233"/>
                <a:gd name="T81" fmla="*/ 3 h 300"/>
                <a:gd name="T82" fmla="*/ 145 w 233"/>
                <a:gd name="T83" fmla="*/ 0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33" h="300">
                  <a:moveTo>
                    <a:pt x="145" y="0"/>
                  </a:moveTo>
                  <a:lnTo>
                    <a:pt x="166" y="2"/>
                  </a:lnTo>
                  <a:lnTo>
                    <a:pt x="183" y="6"/>
                  </a:lnTo>
                  <a:lnTo>
                    <a:pt x="198" y="13"/>
                  </a:lnTo>
                  <a:lnTo>
                    <a:pt x="209" y="23"/>
                  </a:lnTo>
                  <a:lnTo>
                    <a:pt x="218" y="34"/>
                  </a:lnTo>
                  <a:lnTo>
                    <a:pt x="225" y="47"/>
                  </a:lnTo>
                  <a:lnTo>
                    <a:pt x="230" y="62"/>
                  </a:lnTo>
                  <a:lnTo>
                    <a:pt x="232" y="78"/>
                  </a:lnTo>
                  <a:lnTo>
                    <a:pt x="233" y="95"/>
                  </a:lnTo>
                  <a:lnTo>
                    <a:pt x="233" y="300"/>
                  </a:lnTo>
                  <a:lnTo>
                    <a:pt x="189" y="300"/>
                  </a:lnTo>
                  <a:lnTo>
                    <a:pt x="189" y="110"/>
                  </a:lnTo>
                  <a:lnTo>
                    <a:pt x="188" y="91"/>
                  </a:lnTo>
                  <a:lnTo>
                    <a:pt x="185" y="75"/>
                  </a:lnTo>
                  <a:lnTo>
                    <a:pt x="181" y="61"/>
                  </a:lnTo>
                  <a:lnTo>
                    <a:pt x="173" y="51"/>
                  </a:lnTo>
                  <a:lnTo>
                    <a:pt x="163" y="43"/>
                  </a:lnTo>
                  <a:lnTo>
                    <a:pt x="150" y="38"/>
                  </a:lnTo>
                  <a:lnTo>
                    <a:pt x="134" y="37"/>
                  </a:lnTo>
                  <a:lnTo>
                    <a:pt x="115" y="39"/>
                  </a:lnTo>
                  <a:lnTo>
                    <a:pt x="98" y="46"/>
                  </a:lnTo>
                  <a:lnTo>
                    <a:pt x="83" y="57"/>
                  </a:lnTo>
                  <a:lnTo>
                    <a:pt x="70" y="71"/>
                  </a:lnTo>
                  <a:lnTo>
                    <a:pt x="59" y="89"/>
                  </a:lnTo>
                  <a:lnTo>
                    <a:pt x="51" y="111"/>
                  </a:lnTo>
                  <a:lnTo>
                    <a:pt x="46" y="134"/>
                  </a:lnTo>
                  <a:lnTo>
                    <a:pt x="45" y="159"/>
                  </a:lnTo>
                  <a:lnTo>
                    <a:pt x="45" y="300"/>
                  </a:lnTo>
                  <a:lnTo>
                    <a:pt x="0" y="300"/>
                  </a:lnTo>
                  <a:lnTo>
                    <a:pt x="0" y="6"/>
                  </a:lnTo>
                  <a:lnTo>
                    <a:pt x="44" y="6"/>
                  </a:lnTo>
                  <a:lnTo>
                    <a:pt x="44" y="28"/>
                  </a:lnTo>
                  <a:lnTo>
                    <a:pt x="42" y="51"/>
                  </a:lnTo>
                  <a:lnTo>
                    <a:pt x="39" y="71"/>
                  </a:lnTo>
                  <a:lnTo>
                    <a:pt x="41" y="72"/>
                  </a:lnTo>
                  <a:lnTo>
                    <a:pt x="51" y="52"/>
                  </a:lnTo>
                  <a:lnTo>
                    <a:pt x="64" y="34"/>
                  </a:lnTo>
                  <a:lnTo>
                    <a:pt x="80" y="20"/>
                  </a:lnTo>
                  <a:lnTo>
                    <a:pt x="99" y="9"/>
                  </a:lnTo>
                  <a:lnTo>
                    <a:pt x="121" y="3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56C46F5-2C31-BDC3-35E1-7087BBFFEDF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79" y="-197"/>
              <a:ext cx="81" cy="101"/>
            </a:xfrm>
            <a:custGeom>
              <a:avLst/>
              <a:gdLst>
                <a:gd name="T0" fmla="*/ 127 w 243"/>
                <a:gd name="T1" fmla="*/ 34 h 304"/>
                <a:gd name="T2" fmla="*/ 107 w 243"/>
                <a:gd name="T3" fmla="*/ 36 h 304"/>
                <a:gd name="T4" fmla="*/ 90 w 243"/>
                <a:gd name="T5" fmla="*/ 43 h 304"/>
                <a:gd name="T6" fmla="*/ 75 w 243"/>
                <a:gd name="T7" fmla="*/ 54 h 304"/>
                <a:gd name="T8" fmla="*/ 63 w 243"/>
                <a:gd name="T9" fmla="*/ 69 h 304"/>
                <a:gd name="T10" fmla="*/ 54 w 243"/>
                <a:gd name="T11" fmla="*/ 88 h 304"/>
                <a:gd name="T12" fmla="*/ 49 w 243"/>
                <a:gd name="T13" fmla="*/ 110 h 304"/>
                <a:gd name="T14" fmla="*/ 197 w 243"/>
                <a:gd name="T15" fmla="*/ 110 h 304"/>
                <a:gd name="T16" fmla="*/ 196 w 243"/>
                <a:gd name="T17" fmla="*/ 91 h 304"/>
                <a:gd name="T18" fmla="*/ 191 w 243"/>
                <a:gd name="T19" fmla="*/ 75 h 304"/>
                <a:gd name="T20" fmla="*/ 184 w 243"/>
                <a:gd name="T21" fmla="*/ 61 h 304"/>
                <a:gd name="T22" fmla="*/ 173 w 243"/>
                <a:gd name="T23" fmla="*/ 49 h 304"/>
                <a:gd name="T24" fmla="*/ 160 w 243"/>
                <a:gd name="T25" fmla="*/ 41 h 304"/>
                <a:gd name="T26" fmla="*/ 145 w 243"/>
                <a:gd name="T27" fmla="*/ 35 h 304"/>
                <a:gd name="T28" fmla="*/ 127 w 243"/>
                <a:gd name="T29" fmla="*/ 34 h 304"/>
                <a:gd name="T30" fmla="*/ 129 w 243"/>
                <a:gd name="T31" fmla="*/ 0 h 304"/>
                <a:gd name="T32" fmla="*/ 154 w 243"/>
                <a:gd name="T33" fmla="*/ 2 h 304"/>
                <a:gd name="T34" fmla="*/ 176 w 243"/>
                <a:gd name="T35" fmla="*/ 8 h 304"/>
                <a:gd name="T36" fmla="*/ 194 w 243"/>
                <a:gd name="T37" fmla="*/ 17 h 304"/>
                <a:gd name="T38" fmla="*/ 210 w 243"/>
                <a:gd name="T39" fmla="*/ 29 h 304"/>
                <a:gd name="T40" fmla="*/ 222 w 243"/>
                <a:gd name="T41" fmla="*/ 44 h 304"/>
                <a:gd name="T42" fmla="*/ 231 w 243"/>
                <a:gd name="T43" fmla="*/ 61 h 304"/>
                <a:gd name="T44" fmla="*/ 238 w 243"/>
                <a:gd name="T45" fmla="*/ 79 h 304"/>
                <a:gd name="T46" fmla="*/ 242 w 243"/>
                <a:gd name="T47" fmla="*/ 99 h 304"/>
                <a:gd name="T48" fmla="*/ 243 w 243"/>
                <a:gd name="T49" fmla="*/ 122 h 304"/>
                <a:gd name="T50" fmla="*/ 243 w 243"/>
                <a:gd name="T51" fmla="*/ 131 h 304"/>
                <a:gd name="T52" fmla="*/ 242 w 243"/>
                <a:gd name="T53" fmla="*/ 143 h 304"/>
                <a:gd name="T54" fmla="*/ 47 w 243"/>
                <a:gd name="T55" fmla="*/ 143 h 304"/>
                <a:gd name="T56" fmla="*/ 47 w 243"/>
                <a:gd name="T57" fmla="*/ 171 h 304"/>
                <a:gd name="T58" fmla="*/ 50 w 243"/>
                <a:gd name="T59" fmla="*/ 194 h 304"/>
                <a:gd name="T60" fmla="*/ 56 w 243"/>
                <a:gd name="T61" fmla="*/ 214 h 304"/>
                <a:gd name="T62" fmla="*/ 64 w 243"/>
                <a:gd name="T63" fmla="*/ 231 h 304"/>
                <a:gd name="T64" fmla="*/ 75 w 243"/>
                <a:gd name="T65" fmla="*/ 244 h 304"/>
                <a:gd name="T66" fmla="*/ 89 w 243"/>
                <a:gd name="T67" fmla="*/ 255 h 304"/>
                <a:gd name="T68" fmla="*/ 105 w 243"/>
                <a:gd name="T69" fmla="*/ 262 h 304"/>
                <a:gd name="T70" fmla="*/ 123 w 243"/>
                <a:gd name="T71" fmla="*/ 266 h 304"/>
                <a:gd name="T72" fmla="*/ 144 w 243"/>
                <a:gd name="T73" fmla="*/ 267 h 304"/>
                <a:gd name="T74" fmla="*/ 167 w 243"/>
                <a:gd name="T75" fmla="*/ 266 h 304"/>
                <a:gd name="T76" fmla="*/ 189 w 243"/>
                <a:gd name="T77" fmla="*/ 262 h 304"/>
                <a:gd name="T78" fmla="*/ 210 w 243"/>
                <a:gd name="T79" fmla="*/ 256 h 304"/>
                <a:gd name="T80" fmla="*/ 228 w 243"/>
                <a:gd name="T81" fmla="*/ 249 h 304"/>
                <a:gd name="T82" fmla="*/ 232 w 243"/>
                <a:gd name="T83" fmla="*/ 286 h 304"/>
                <a:gd name="T84" fmla="*/ 203 w 243"/>
                <a:gd name="T85" fmla="*/ 296 h 304"/>
                <a:gd name="T86" fmla="*/ 171 w 243"/>
                <a:gd name="T87" fmla="*/ 302 h 304"/>
                <a:gd name="T88" fmla="*/ 136 w 243"/>
                <a:gd name="T89" fmla="*/ 304 h 304"/>
                <a:gd name="T90" fmla="*/ 108 w 243"/>
                <a:gd name="T91" fmla="*/ 302 h 304"/>
                <a:gd name="T92" fmla="*/ 83 w 243"/>
                <a:gd name="T93" fmla="*/ 297 h 304"/>
                <a:gd name="T94" fmla="*/ 62 w 243"/>
                <a:gd name="T95" fmla="*/ 288 h 304"/>
                <a:gd name="T96" fmla="*/ 43 w 243"/>
                <a:gd name="T97" fmla="*/ 275 h 304"/>
                <a:gd name="T98" fmla="*/ 28 w 243"/>
                <a:gd name="T99" fmla="*/ 259 h 304"/>
                <a:gd name="T100" fmla="*/ 15 w 243"/>
                <a:gd name="T101" fmla="*/ 238 h 304"/>
                <a:gd name="T102" fmla="*/ 7 w 243"/>
                <a:gd name="T103" fmla="*/ 214 h 304"/>
                <a:gd name="T104" fmla="*/ 1 w 243"/>
                <a:gd name="T105" fmla="*/ 186 h 304"/>
                <a:gd name="T106" fmla="*/ 0 w 243"/>
                <a:gd name="T107" fmla="*/ 154 h 304"/>
                <a:gd name="T108" fmla="*/ 1 w 243"/>
                <a:gd name="T109" fmla="*/ 126 h 304"/>
                <a:gd name="T110" fmla="*/ 7 w 243"/>
                <a:gd name="T111" fmla="*/ 98 h 304"/>
                <a:gd name="T112" fmla="*/ 15 w 243"/>
                <a:gd name="T113" fmla="*/ 74 h 304"/>
                <a:gd name="T114" fmla="*/ 27 w 243"/>
                <a:gd name="T115" fmla="*/ 53 h 304"/>
                <a:gd name="T116" fmla="*/ 42 w 243"/>
                <a:gd name="T117" fmla="*/ 35 h 304"/>
                <a:gd name="T118" fmla="*/ 60 w 243"/>
                <a:gd name="T119" fmla="*/ 20 h 304"/>
                <a:gd name="T120" fmla="*/ 80 w 243"/>
                <a:gd name="T121" fmla="*/ 9 h 304"/>
                <a:gd name="T122" fmla="*/ 103 w 243"/>
                <a:gd name="T123" fmla="*/ 2 h 304"/>
                <a:gd name="T124" fmla="*/ 129 w 243"/>
                <a:gd name="T125" fmla="*/ 0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43" h="304">
                  <a:moveTo>
                    <a:pt x="127" y="34"/>
                  </a:moveTo>
                  <a:lnTo>
                    <a:pt x="107" y="36"/>
                  </a:lnTo>
                  <a:lnTo>
                    <a:pt x="90" y="43"/>
                  </a:lnTo>
                  <a:lnTo>
                    <a:pt x="75" y="54"/>
                  </a:lnTo>
                  <a:lnTo>
                    <a:pt x="63" y="69"/>
                  </a:lnTo>
                  <a:lnTo>
                    <a:pt x="54" y="88"/>
                  </a:lnTo>
                  <a:lnTo>
                    <a:pt x="49" y="110"/>
                  </a:lnTo>
                  <a:lnTo>
                    <a:pt x="197" y="110"/>
                  </a:lnTo>
                  <a:lnTo>
                    <a:pt x="196" y="91"/>
                  </a:lnTo>
                  <a:lnTo>
                    <a:pt x="191" y="75"/>
                  </a:lnTo>
                  <a:lnTo>
                    <a:pt x="184" y="61"/>
                  </a:lnTo>
                  <a:lnTo>
                    <a:pt x="173" y="49"/>
                  </a:lnTo>
                  <a:lnTo>
                    <a:pt x="160" y="41"/>
                  </a:lnTo>
                  <a:lnTo>
                    <a:pt x="145" y="35"/>
                  </a:lnTo>
                  <a:lnTo>
                    <a:pt x="127" y="34"/>
                  </a:lnTo>
                  <a:close/>
                  <a:moveTo>
                    <a:pt x="129" y="0"/>
                  </a:moveTo>
                  <a:lnTo>
                    <a:pt x="154" y="2"/>
                  </a:lnTo>
                  <a:lnTo>
                    <a:pt x="176" y="8"/>
                  </a:lnTo>
                  <a:lnTo>
                    <a:pt x="194" y="17"/>
                  </a:lnTo>
                  <a:lnTo>
                    <a:pt x="210" y="29"/>
                  </a:lnTo>
                  <a:lnTo>
                    <a:pt x="222" y="44"/>
                  </a:lnTo>
                  <a:lnTo>
                    <a:pt x="231" y="61"/>
                  </a:lnTo>
                  <a:lnTo>
                    <a:pt x="238" y="79"/>
                  </a:lnTo>
                  <a:lnTo>
                    <a:pt x="242" y="99"/>
                  </a:lnTo>
                  <a:lnTo>
                    <a:pt x="243" y="122"/>
                  </a:lnTo>
                  <a:lnTo>
                    <a:pt x="243" y="131"/>
                  </a:lnTo>
                  <a:lnTo>
                    <a:pt x="242" y="143"/>
                  </a:lnTo>
                  <a:lnTo>
                    <a:pt x="47" y="143"/>
                  </a:lnTo>
                  <a:lnTo>
                    <a:pt x="47" y="171"/>
                  </a:lnTo>
                  <a:lnTo>
                    <a:pt x="50" y="194"/>
                  </a:lnTo>
                  <a:lnTo>
                    <a:pt x="56" y="214"/>
                  </a:lnTo>
                  <a:lnTo>
                    <a:pt x="64" y="231"/>
                  </a:lnTo>
                  <a:lnTo>
                    <a:pt x="75" y="244"/>
                  </a:lnTo>
                  <a:lnTo>
                    <a:pt x="89" y="255"/>
                  </a:lnTo>
                  <a:lnTo>
                    <a:pt x="105" y="262"/>
                  </a:lnTo>
                  <a:lnTo>
                    <a:pt x="123" y="266"/>
                  </a:lnTo>
                  <a:lnTo>
                    <a:pt x="144" y="267"/>
                  </a:lnTo>
                  <a:lnTo>
                    <a:pt x="167" y="266"/>
                  </a:lnTo>
                  <a:lnTo>
                    <a:pt x="189" y="262"/>
                  </a:lnTo>
                  <a:lnTo>
                    <a:pt x="210" y="256"/>
                  </a:lnTo>
                  <a:lnTo>
                    <a:pt x="228" y="249"/>
                  </a:lnTo>
                  <a:lnTo>
                    <a:pt x="232" y="286"/>
                  </a:lnTo>
                  <a:lnTo>
                    <a:pt x="203" y="296"/>
                  </a:lnTo>
                  <a:lnTo>
                    <a:pt x="171" y="302"/>
                  </a:lnTo>
                  <a:lnTo>
                    <a:pt x="136" y="304"/>
                  </a:lnTo>
                  <a:lnTo>
                    <a:pt x="108" y="302"/>
                  </a:lnTo>
                  <a:lnTo>
                    <a:pt x="83" y="297"/>
                  </a:lnTo>
                  <a:lnTo>
                    <a:pt x="62" y="288"/>
                  </a:lnTo>
                  <a:lnTo>
                    <a:pt x="43" y="275"/>
                  </a:lnTo>
                  <a:lnTo>
                    <a:pt x="28" y="259"/>
                  </a:lnTo>
                  <a:lnTo>
                    <a:pt x="15" y="238"/>
                  </a:lnTo>
                  <a:lnTo>
                    <a:pt x="7" y="214"/>
                  </a:lnTo>
                  <a:lnTo>
                    <a:pt x="1" y="186"/>
                  </a:lnTo>
                  <a:lnTo>
                    <a:pt x="0" y="154"/>
                  </a:lnTo>
                  <a:lnTo>
                    <a:pt x="1" y="126"/>
                  </a:lnTo>
                  <a:lnTo>
                    <a:pt x="7" y="98"/>
                  </a:lnTo>
                  <a:lnTo>
                    <a:pt x="15" y="74"/>
                  </a:lnTo>
                  <a:lnTo>
                    <a:pt x="27" y="53"/>
                  </a:lnTo>
                  <a:lnTo>
                    <a:pt x="42" y="35"/>
                  </a:lnTo>
                  <a:lnTo>
                    <a:pt x="60" y="20"/>
                  </a:lnTo>
                  <a:lnTo>
                    <a:pt x="80" y="9"/>
                  </a:lnTo>
                  <a:lnTo>
                    <a:pt x="103" y="2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</p:grpSp>
    </p:spTree>
    <p:extLst>
      <p:ext uri="{BB962C8B-B14F-4D97-AF65-F5344CB8AC3E}">
        <p14:creationId xmlns:p14="http://schemas.microsoft.com/office/powerpoint/2010/main" val="347613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Argonne DO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A3DEC59-F5CF-CEAA-802E-33C6505C44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27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0802B6-4722-244C-B8A6-46B69A03D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08"/>
          <a:stretch/>
        </p:blipFill>
        <p:spPr>
          <a:xfrm>
            <a:off x="0" y="-10684"/>
            <a:ext cx="9144000" cy="515418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16EAD72-ACE3-58B2-05E0-199FBEA355E2}"/>
              </a:ext>
            </a:extLst>
          </p:cNvPr>
          <p:cNvGrpSpPr/>
          <p:nvPr userDrawn="1"/>
        </p:nvGrpSpPr>
        <p:grpSpPr>
          <a:xfrm>
            <a:off x="1016153" y="2179943"/>
            <a:ext cx="3176801" cy="852400"/>
            <a:chOff x="921159" y="2169231"/>
            <a:chExt cx="2098944" cy="563189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92F3FF0-EF03-9DDD-3A6F-6752ED1603A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61033" y="2169231"/>
              <a:ext cx="459070" cy="397545"/>
            </a:xfrm>
            <a:custGeom>
              <a:avLst/>
              <a:gdLst>
                <a:gd name="T0" fmla="*/ 405 w 580"/>
                <a:gd name="T1" fmla="*/ 360 h 502"/>
                <a:gd name="T2" fmla="*/ 441 w 580"/>
                <a:gd name="T3" fmla="*/ 422 h 502"/>
                <a:gd name="T4" fmla="*/ 473 w 580"/>
                <a:gd name="T5" fmla="*/ 478 h 502"/>
                <a:gd name="T6" fmla="*/ 485 w 580"/>
                <a:gd name="T7" fmla="*/ 478 h 502"/>
                <a:gd name="T8" fmla="*/ 518 w 580"/>
                <a:gd name="T9" fmla="*/ 422 h 502"/>
                <a:gd name="T10" fmla="*/ 554 w 580"/>
                <a:gd name="T11" fmla="*/ 360 h 502"/>
                <a:gd name="T12" fmla="*/ 392 w 580"/>
                <a:gd name="T13" fmla="*/ 338 h 502"/>
                <a:gd name="T14" fmla="*/ 186 w 580"/>
                <a:gd name="T15" fmla="*/ 357 h 502"/>
                <a:gd name="T16" fmla="*/ 153 w 580"/>
                <a:gd name="T17" fmla="*/ 415 h 502"/>
                <a:gd name="T18" fmla="*/ 119 w 580"/>
                <a:gd name="T19" fmla="*/ 473 h 502"/>
                <a:gd name="T20" fmla="*/ 471 w 580"/>
                <a:gd name="T21" fmla="*/ 493 h 502"/>
                <a:gd name="T22" fmla="*/ 452 w 580"/>
                <a:gd name="T23" fmla="*/ 461 h 502"/>
                <a:gd name="T24" fmla="*/ 416 w 580"/>
                <a:gd name="T25" fmla="*/ 399 h 502"/>
                <a:gd name="T26" fmla="*/ 387 w 580"/>
                <a:gd name="T27" fmla="*/ 347 h 502"/>
                <a:gd name="T28" fmla="*/ 13 w 580"/>
                <a:gd name="T29" fmla="*/ 338 h 502"/>
                <a:gd name="T30" fmla="*/ 33 w 580"/>
                <a:gd name="T31" fmla="*/ 373 h 502"/>
                <a:gd name="T32" fmla="*/ 71 w 580"/>
                <a:gd name="T33" fmla="*/ 438 h 502"/>
                <a:gd name="T34" fmla="*/ 98 w 580"/>
                <a:gd name="T35" fmla="*/ 485 h 502"/>
                <a:gd name="T36" fmla="*/ 112 w 580"/>
                <a:gd name="T37" fmla="*/ 467 h 502"/>
                <a:gd name="T38" fmla="*/ 148 w 580"/>
                <a:gd name="T39" fmla="*/ 405 h 502"/>
                <a:gd name="T40" fmla="*/ 180 w 580"/>
                <a:gd name="T41" fmla="*/ 349 h 502"/>
                <a:gd name="T42" fmla="*/ 290 w 580"/>
                <a:gd name="T43" fmla="*/ 178 h 502"/>
                <a:gd name="T44" fmla="*/ 270 w 580"/>
                <a:gd name="T45" fmla="*/ 213 h 502"/>
                <a:gd name="T46" fmla="*/ 232 w 580"/>
                <a:gd name="T47" fmla="*/ 278 h 502"/>
                <a:gd name="T48" fmla="*/ 204 w 580"/>
                <a:gd name="T49" fmla="*/ 326 h 502"/>
                <a:gd name="T50" fmla="*/ 370 w 580"/>
                <a:gd name="T51" fmla="*/ 319 h 502"/>
                <a:gd name="T52" fmla="*/ 338 w 580"/>
                <a:gd name="T53" fmla="*/ 262 h 502"/>
                <a:gd name="T54" fmla="*/ 302 w 580"/>
                <a:gd name="T55" fmla="*/ 200 h 502"/>
                <a:gd name="T56" fmla="*/ 384 w 580"/>
                <a:gd name="T57" fmla="*/ 14 h 502"/>
                <a:gd name="T58" fmla="*/ 366 w 580"/>
                <a:gd name="T59" fmla="*/ 47 h 502"/>
                <a:gd name="T60" fmla="*/ 330 w 580"/>
                <a:gd name="T61" fmla="*/ 109 h 502"/>
                <a:gd name="T62" fmla="*/ 300 w 580"/>
                <a:gd name="T63" fmla="*/ 160 h 502"/>
                <a:gd name="T64" fmla="*/ 301 w 580"/>
                <a:gd name="T65" fmla="*/ 178 h 502"/>
                <a:gd name="T66" fmla="*/ 331 w 580"/>
                <a:gd name="T67" fmla="*/ 232 h 502"/>
                <a:gd name="T68" fmla="*/ 369 w 580"/>
                <a:gd name="T69" fmla="*/ 296 h 502"/>
                <a:gd name="T70" fmla="*/ 387 w 580"/>
                <a:gd name="T71" fmla="*/ 329 h 502"/>
                <a:gd name="T72" fmla="*/ 554 w 580"/>
                <a:gd name="T73" fmla="*/ 307 h 502"/>
                <a:gd name="T74" fmla="*/ 510 w 580"/>
                <a:gd name="T75" fmla="*/ 231 h 502"/>
                <a:gd name="T76" fmla="*/ 454 w 580"/>
                <a:gd name="T77" fmla="*/ 135 h 502"/>
                <a:gd name="T78" fmla="*/ 406 w 580"/>
                <a:gd name="T79" fmla="*/ 52 h 502"/>
                <a:gd name="T80" fmla="*/ 384 w 580"/>
                <a:gd name="T81" fmla="*/ 14 h 502"/>
                <a:gd name="T82" fmla="*/ 182 w 580"/>
                <a:gd name="T83" fmla="*/ 36 h 502"/>
                <a:gd name="T84" fmla="*/ 138 w 580"/>
                <a:gd name="T85" fmla="*/ 112 h 502"/>
                <a:gd name="T86" fmla="*/ 83 w 580"/>
                <a:gd name="T87" fmla="*/ 208 h 502"/>
                <a:gd name="T88" fmla="*/ 35 w 580"/>
                <a:gd name="T89" fmla="*/ 291 h 502"/>
                <a:gd name="T90" fmla="*/ 13 w 580"/>
                <a:gd name="T91" fmla="*/ 329 h 502"/>
                <a:gd name="T92" fmla="*/ 203 w 580"/>
                <a:gd name="T93" fmla="*/ 310 h 502"/>
                <a:gd name="T94" fmla="*/ 239 w 580"/>
                <a:gd name="T95" fmla="*/ 249 h 502"/>
                <a:gd name="T96" fmla="*/ 273 w 580"/>
                <a:gd name="T97" fmla="*/ 188 h 502"/>
                <a:gd name="T98" fmla="*/ 283 w 580"/>
                <a:gd name="T99" fmla="*/ 167 h 502"/>
                <a:gd name="T100" fmla="*/ 259 w 580"/>
                <a:gd name="T101" fmla="*/ 124 h 502"/>
                <a:gd name="T102" fmla="*/ 222 w 580"/>
                <a:gd name="T103" fmla="*/ 61 h 502"/>
                <a:gd name="T104" fmla="*/ 196 w 580"/>
                <a:gd name="T105" fmla="*/ 17 h 502"/>
                <a:gd name="T106" fmla="*/ 209 w 580"/>
                <a:gd name="T107" fmla="*/ 20 h 502"/>
                <a:gd name="T108" fmla="*/ 242 w 580"/>
                <a:gd name="T109" fmla="*/ 77 h 502"/>
                <a:gd name="T110" fmla="*/ 277 w 580"/>
                <a:gd name="T111" fmla="*/ 138 h 502"/>
                <a:gd name="T112" fmla="*/ 292 w 580"/>
                <a:gd name="T113" fmla="*/ 157 h 502"/>
                <a:gd name="T114" fmla="*/ 319 w 580"/>
                <a:gd name="T115" fmla="*/ 110 h 502"/>
                <a:gd name="T116" fmla="*/ 356 w 580"/>
                <a:gd name="T117" fmla="*/ 44 h 502"/>
                <a:gd name="T118" fmla="*/ 376 w 580"/>
                <a:gd name="T119" fmla="*/ 9 h 502"/>
                <a:gd name="T120" fmla="*/ 580 w 580"/>
                <a:gd name="T121" fmla="*/ 334 h 502"/>
                <a:gd name="T122" fmla="*/ 192 w 580"/>
                <a:gd name="T123" fmla="*/ 0 h 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80" h="502">
                  <a:moveTo>
                    <a:pt x="392" y="338"/>
                  </a:moveTo>
                  <a:lnTo>
                    <a:pt x="394" y="342"/>
                  </a:lnTo>
                  <a:lnTo>
                    <a:pt x="399" y="349"/>
                  </a:lnTo>
                  <a:lnTo>
                    <a:pt x="405" y="360"/>
                  </a:lnTo>
                  <a:lnTo>
                    <a:pt x="413" y="373"/>
                  </a:lnTo>
                  <a:lnTo>
                    <a:pt x="421" y="389"/>
                  </a:lnTo>
                  <a:lnTo>
                    <a:pt x="431" y="405"/>
                  </a:lnTo>
                  <a:lnTo>
                    <a:pt x="441" y="422"/>
                  </a:lnTo>
                  <a:lnTo>
                    <a:pt x="450" y="438"/>
                  </a:lnTo>
                  <a:lnTo>
                    <a:pt x="459" y="453"/>
                  </a:lnTo>
                  <a:lnTo>
                    <a:pt x="467" y="467"/>
                  </a:lnTo>
                  <a:lnTo>
                    <a:pt x="473" y="478"/>
                  </a:lnTo>
                  <a:lnTo>
                    <a:pt x="477" y="485"/>
                  </a:lnTo>
                  <a:lnTo>
                    <a:pt x="479" y="488"/>
                  </a:lnTo>
                  <a:lnTo>
                    <a:pt x="481" y="485"/>
                  </a:lnTo>
                  <a:lnTo>
                    <a:pt x="485" y="478"/>
                  </a:lnTo>
                  <a:lnTo>
                    <a:pt x="491" y="467"/>
                  </a:lnTo>
                  <a:lnTo>
                    <a:pt x="500" y="453"/>
                  </a:lnTo>
                  <a:lnTo>
                    <a:pt x="509" y="438"/>
                  </a:lnTo>
                  <a:lnTo>
                    <a:pt x="518" y="422"/>
                  </a:lnTo>
                  <a:lnTo>
                    <a:pt x="528" y="405"/>
                  </a:lnTo>
                  <a:lnTo>
                    <a:pt x="538" y="389"/>
                  </a:lnTo>
                  <a:lnTo>
                    <a:pt x="546" y="373"/>
                  </a:lnTo>
                  <a:lnTo>
                    <a:pt x="554" y="360"/>
                  </a:lnTo>
                  <a:lnTo>
                    <a:pt x="560" y="349"/>
                  </a:lnTo>
                  <a:lnTo>
                    <a:pt x="565" y="342"/>
                  </a:lnTo>
                  <a:lnTo>
                    <a:pt x="567" y="338"/>
                  </a:lnTo>
                  <a:lnTo>
                    <a:pt x="392" y="338"/>
                  </a:lnTo>
                  <a:close/>
                  <a:moveTo>
                    <a:pt x="197" y="338"/>
                  </a:moveTo>
                  <a:lnTo>
                    <a:pt x="196" y="341"/>
                  </a:lnTo>
                  <a:lnTo>
                    <a:pt x="192" y="347"/>
                  </a:lnTo>
                  <a:lnTo>
                    <a:pt x="186" y="357"/>
                  </a:lnTo>
                  <a:lnTo>
                    <a:pt x="179" y="369"/>
                  </a:lnTo>
                  <a:lnTo>
                    <a:pt x="171" y="383"/>
                  </a:lnTo>
                  <a:lnTo>
                    <a:pt x="162" y="399"/>
                  </a:lnTo>
                  <a:lnTo>
                    <a:pt x="153" y="415"/>
                  </a:lnTo>
                  <a:lnTo>
                    <a:pt x="144" y="431"/>
                  </a:lnTo>
                  <a:lnTo>
                    <a:pt x="135" y="446"/>
                  </a:lnTo>
                  <a:lnTo>
                    <a:pt x="126" y="461"/>
                  </a:lnTo>
                  <a:lnTo>
                    <a:pt x="119" y="473"/>
                  </a:lnTo>
                  <a:lnTo>
                    <a:pt x="114" y="483"/>
                  </a:lnTo>
                  <a:lnTo>
                    <a:pt x="110" y="490"/>
                  </a:lnTo>
                  <a:lnTo>
                    <a:pt x="108" y="493"/>
                  </a:lnTo>
                  <a:lnTo>
                    <a:pt x="471" y="493"/>
                  </a:lnTo>
                  <a:lnTo>
                    <a:pt x="469" y="490"/>
                  </a:lnTo>
                  <a:lnTo>
                    <a:pt x="465" y="483"/>
                  </a:lnTo>
                  <a:lnTo>
                    <a:pt x="460" y="473"/>
                  </a:lnTo>
                  <a:lnTo>
                    <a:pt x="452" y="461"/>
                  </a:lnTo>
                  <a:lnTo>
                    <a:pt x="444" y="446"/>
                  </a:lnTo>
                  <a:lnTo>
                    <a:pt x="435" y="431"/>
                  </a:lnTo>
                  <a:lnTo>
                    <a:pt x="426" y="415"/>
                  </a:lnTo>
                  <a:lnTo>
                    <a:pt x="416" y="399"/>
                  </a:lnTo>
                  <a:lnTo>
                    <a:pt x="408" y="383"/>
                  </a:lnTo>
                  <a:lnTo>
                    <a:pt x="399" y="369"/>
                  </a:lnTo>
                  <a:lnTo>
                    <a:pt x="392" y="357"/>
                  </a:lnTo>
                  <a:lnTo>
                    <a:pt x="387" y="347"/>
                  </a:lnTo>
                  <a:lnTo>
                    <a:pt x="383" y="341"/>
                  </a:lnTo>
                  <a:lnTo>
                    <a:pt x="382" y="338"/>
                  </a:lnTo>
                  <a:lnTo>
                    <a:pt x="197" y="338"/>
                  </a:lnTo>
                  <a:close/>
                  <a:moveTo>
                    <a:pt x="13" y="338"/>
                  </a:moveTo>
                  <a:lnTo>
                    <a:pt x="15" y="342"/>
                  </a:lnTo>
                  <a:lnTo>
                    <a:pt x="19" y="349"/>
                  </a:lnTo>
                  <a:lnTo>
                    <a:pt x="25" y="359"/>
                  </a:lnTo>
                  <a:lnTo>
                    <a:pt x="33" y="373"/>
                  </a:lnTo>
                  <a:lnTo>
                    <a:pt x="42" y="388"/>
                  </a:lnTo>
                  <a:lnTo>
                    <a:pt x="51" y="405"/>
                  </a:lnTo>
                  <a:lnTo>
                    <a:pt x="61" y="421"/>
                  </a:lnTo>
                  <a:lnTo>
                    <a:pt x="71" y="438"/>
                  </a:lnTo>
                  <a:lnTo>
                    <a:pt x="80" y="453"/>
                  </a:lnTo>
                  <a:lnTo>
                    <a:pt x="87" y="467"/>
                  </a:lnTo>
                  <a:lnTo>
                    <a:pt x="94" y="478"/>
                  </a:lnTo>
                  <a:lnTo>
                    <a:pt x="98" y="485"/>
                  </a:lnTo>
                  <a:lnTo>
                    <a:pt x="100" y="488"/>
                  </a:lnTo>
                  <a:lnTo>
                    <a:pt x="102" y="485"/>
                  </a:lnTo>
                  <a:lnTo>
                    <a:pt x="106" y="478"/>
                  </a:lnTo>
                  <a:lnTo>
                    <a:pt x="112" y="467"/>
                  </a:lnTo>
                  <a:lnTo>
                    <a:pt x="120" y="453"/>
                  </a:lnTo>
                  <a:lnTo>
                    <a:pt x="129" y="438"/>
                  </a:lnTo>
                  <a:lnTo>
                    <a:pt x="138" y="422"/>
                  </a:lnTo>
                  <a:lnTo>
                    <a:pt x="148" y="405"/>
                  </a:lnTo>
                  <a:lnTo>
                    <a:pt x="157" y="389"/>
                  </a:lnTo>
                  <a:lnTo>
                    <a:pt x="166" y="373"/>
                  </a:lnTo>
                  <a:lnTo>
                    <a:pt x="174" y="360"/>
                  </a:lnTo>
                  <a:lnTo>
                    <a:pt x="180" y="349"/>
                  </a:lnTo>
                  <a:lnTo>
                    <a:pt x="184" y="342"/>
                  </a:lnTo>
                  <a:lnTo>
                    <a:pt x="186" y="338"/>
                  </a:lnTo>
                  <a:lnTo>
                    <a:pt x="13" y="338"/>
                  </a:lnTo>
                  <a:close/>
                  <a:moveTo>
                    <a:pt x="290" y="178"/>
                  </a:moveTo>
                  <a:lnTo>
                    <a:pt x="288" y="182"/>
                  </a:lnTo>
                  <a:lnTo>
                    <a:pt x="284" y="189"/>
                  </a:lnTo>
                  <a:lnTo>
                    <a:pt x="277" y="200"/>
                  </a:lnTo>
                  <a:lnTo>
                    <a:pt x="270" y="213"/>
                  </a:lnTo>
                  <a:lnTo>
                    <a:pt x="261" y="229"/>
                  </a:lnTo>
                  <a:lnTo>
                    <a:pt x="251" y="245"/>
                  </a:lnTo>
                  <a:lnTo>
                    <a:pt x="242" y="262"/>
                  </a:lnTo>
                  <a:lnTo>
                    <a:pt x="232" y="278"/>
                  </a:lnTo>
                  <a:lnTo>
                    <a:pt x="224" y="293"/>
                  </a:lnTo>
                  <a:lnTo>
                    <a:pt x="215" y="308"/>
                  </a:lnTo>
                  <a:lnTo>
                    <a:pt x="209" y="319"/>
                  </a:lnTo>
                  <a:lnTo>
                    <a:pt x="204" y="326"/>
                  </a:lnTo>
                  <a:lnTo>
                    <a:pt x="202" y="329"/>
                  </a:lnTo>
                  <a:lnTo>
                    <a:pt x="376" y="329"/>
                  </a:lnTo>
                  <a:lnTo>
                    <a:pt x="375" y="326"/>
                  </a:lnTo>
                  <a:lnTo>
                    <a:pt x="370" y="319"/>
                  </a:lnTo>
                  <a:lnTo>
                    <a:pt x="364" y="308"/>
                  </a:lnTo>
                  <a:lnTo>
                    <a:pt x="356" y="293"/>
                  </a:lnTo>
                  <a:lnTo>
                    <a:pt x="347" y="278"/>
                  </a:lnTo>
                  <a:lnTo>
                    <a:pt x="338" y="262"/>
                  </a:lnTo>
                  <a:lnTo>
                    <a:pt x="328" y="245"/>
                  </a:lnTo>
                  <a:lnTo>
                    <a:pt x="319" y="229"/>
                  </a:lnTo>
                  <a:lnTo>
                    <a:pt x="310" y="213"/>
                  </a:lnTo>
                  <a:lnTo>
                    <a:pt x="302" y="200"/>
                  </a:lnTo>
                  <a:lnTo>
                    <a:pt x="296" y="189"/>
                  </a:lnTo>
                  <a:lnTo>
                    <a:pt x="292" y="182"/>
                  </a:lnTo>
                  <a:lnTo>
                    <a:pt x="290" y="178"/>
                  </a:lnTo>
                  <a:close/>
                  <a:moveTo>
                    <a:pt x="384" y="14"/>
                  </a:moveTo>
                  <a:lnTo>
                    <a:pt x="383" y="17"/>
                  </a:lnTo>
                  <a:lnTo>
                    <a:pt x="379" y="23"/>
                  </a:lnTo>
                  <a:lnTo>
                    <a:pt x="373" y="33"/>
                  </a:lnTo>
                  <a:lnTo>
                    <a:pt x="366" y="47"/>
                  </a:lnTo>
                  <a:lnTo>
                    <a:pt x="358" y="61"/>
                  </a:lnTo>
                  <a:lnTo>
                    <a:pt x="349" y="77"/>
                  </a:lnTo>
                  <a:lnTo>
                    <a:pt x="339" y="93"/>
                  </a:lnTo>
                  <a:lnTo>
                    <a:pt x="330" y="109"/>
                  </a:lnTo>
                  <a:lnTo>
                    <a:pt x="321" y="124"/>
                  </a:lnTo>
                  <a:lnTo>
                    <a:pt x="313" y="139"/>
                  </a:lnTo>
                  <a:lnTo>
                    <a:pt x="306" y="151"/>
                  </a:lnTo>
                  <a:lnTo>
                    <a:pt x="300" y="160"/>
                  </a:lnTo>
                  <a:lnTo>
                    <a:pt x="297" y="167"/>
                  </a:lnTo>
                  <a:lnTo>
                    <a:pt x="295" y="169"/>
                  </a:lnTo>
                  <a:lnTo>
                    <a:pt x="297" y="172"/>
                  </a:lnTo>
                  <a:lnTo>
                    <a:pt x="301" y="178"/>
                  </a:lnTo>
                  <a:lnTo>
                    <a:pt x="306" y="188"/>
                  </a:lnTo>
                  <a:lnTo>
                    <a:pt x="314" y="201"/>
                  </a:lnTo>
                  <a:lnTo>
                    <a:pt x="322" y="216"/>
                  </a:lnTo>
                  <a:lnTo>
                    <a:pt x="331" y="232"/>
                  </a:lnTo>
                  <a:lnTo>
                    <a:pt x="341" y="249"/>
                  </a:lnTo>
                  <a:lnTo>
                    <a:pt x="351" y="265"/>
                  </a:lnTo>
                  <a:lnTo>
                    <a:pt x="360" y="282"/>
                  </a:lnTo>
                  <a:lnTo>
                    <a:pt x="369" y="296"/>
                  </a:lnTo>
                  <a:lnTo>
                    <a:pt x="376" y="310"/>
                  </a:lnTo>
                  <a:lnTo>
                    <a:pt x="382" y="320"/>
                  </a:lnTo>
                  <a:lnTo>
                    <a:pt x="386" y="327"/>
                  </a:lnTo>
                  <a:lnTo>
                    <a:pt x="387" y="329"/>
                  </a:lnTo>
                  <a:lnTo>
                    <a:pt x="567" y="329"/>
                  </a:lnTo>
                  <a:lnTo>
                    <a:pt x="565" y="326"/>
                  </a:lnTo>
                  <a:lnTo>
                    <a:pt x="560" y="319"/>
                  </a:lnTo>
                  <a:lnTo>
                    <a:pt x="554" y="307"/>
                  </a:lnTo>
                  <a:lnTo>
                    <a:pt x="545" y="291"/>
                  </a:lnTo>
                  <a:lnTo>
                    <a:pt x="535" y="273"/>
                  </a:lnTo>
                  <a:lnTo>
                    <a:pt x="523" y="253"/>
                  </a:lnTo>
                  <a:lnTo>
                    <a:pt x="510" y="231"/>
                  </a:lnTo>
                  <a:lnTo>
                    <a:pt x="496" y="208"/>
                  </a:lnTo>
                  <a:lnTo>
                    <a:pt x="482" y="184"/>
                  </a:lnTo>
                  <a:lnTo>
                    <a:pt x="468" y="159"/>
                  </a:lnTo>
                  <a:lnTo>
                    <a:pt x="454" y="135"/>
                  </a:lnTo>
                  <a:lnTo>
                    <a:pt x="441" y="112"/>
                  </a:lnTo>
                  <a:lnTo>
                    <a:pt x="428" y="90"/>
                  </a:lnTo>
                  <a:lnTo>
                    <a:pt x="416" y="70"/>
                  </a:lnTo>
                  <a:lnTo>
                    <a:pt x="406" y="52"/>
                  </a:lnTo>
                  <a:lnTo>
                    <a:pt x="397" y="36"/>
                  </a:lnTo>
                  <a:lnTo>
                    <a:pt x="391" y="24"/>
                  </a:lnTo>
                  <a:lnTo>
                    <a:pt x="386" y="17"/>
                  </a:lnTo>
                  <a:lnTo>
                    <a:pt x="384" y="14"/>
                  </a:lnTo>
                  <a:close/>
                  <a:moveTo>
                    <a:pt x="194" y="14"/>
                  </a:moveTo>
                  <a:lnTo>
                    <a:pt x="193" y="17"/>
                  </a:lnTo>
                  <a:lnTo>
                    <a:pt x="188" y="24"/>
                  </a:lnTo>
                  <a:lnTo>
                    <a:pt x="182" y="36"/>
                  </a:lnTo>
                  <a:lnTo>
                    <a:pt x="173" y="52"/>
                  </a:lnTo>
                  <a:lnTo>
                    <a:pt x="163" y="70"/>
                  </a:lnTo>
                  <a:lnTo>
                    <a:pt x="151" y="90"/>
                  </a:lnTo>
                  <a:lnTo>
                    <a:pt x="138" y="112"/>
                  </a:lnTo>
                  <a:lnTo>
                    <a:pt x="125" y="135"/>
                  </a:lnTo>
                  <a:lnTo>
                    <a:pt x="111" y="159"/>
                  </a:lnTo>
                  <a:lnTo>
                    <a:pt x="97" y="184"/>
                  </a:lnTo>
                  <a:lnTo>
                    <a:pt x="83" y="208"/>
                  </a:lnTo>
                  <a:lnTo>
                    <a:pt x="69" y="231"/>
                  </a:lnTo>
                  <a:lnTo>
                    <a:pt x="57" y="253"/>
                  </a:lnTo>
                  <a:lnTo>
                    <a:pt x="45" y="273"/>
                  </a:lnTo>
                  <a:lnTo>
                    <a:pt x="35" y="291"/>
                  </a:lnTo>
                  <a:lnTo>
                    <a:pt x="26" y="307"/>
                  </a:lnTo>
                  <a:lnTo>
                    <a:pt x="19" y="319"/>
                  </a:lnTo>
                  <a:lnTo>
                    <a:pt x="15" y="326"/>
                  </a:lnTo>
                  <a:lnTo>
                    <a:pt x="13" y="329"/>
                  </a:lnTo>
                  <a:lnTo>
                    <a:pt x="192" y="329"/>
                  </a:lnTo>
                  <a:lnTo>
                    <a:pt x="193" y="327"/>
                  </a:lnTo>
                  <a:lnTo>
                    <a:pt x="197" y="320"/>
                  </a:lnTo>
                  <a:lnTo>
                    <a:pt x="203" y="310"/>
                  </a:lnTo>
                  <a:lnTo>
                    <a:pt x="210" y="296"/>
                  </a:lnTo>
                  <a:lnTo>
                    <a:pt x="219" y="282"/>
                  </a:lnTo>
                  <a:lnTo>
                    <a:pt x="229" y="265"/>
                  </a:lnTo>
                  <a:lnTo>
                    <a:pt x="239" y="249"/>
                  </a:lnTo>
                  <a:lnTo>
                    <a:pt x="248" y="232"/>
                  </a:lnTo>
                  <a:lnTo>
                    <a:pt x="258" y="216"/>
                  </a:lnTo>
                  <a:lnTo>
                    <a:pt x="266" y="201"/>
                  </a:lnTo>
                  <a:lnTo>
                    <a:pt x="273" y="188"/>
                  </a:lnTo>
                  <a:lnTo>
                    <a:pt x="279" y="178"/>
                  </a:lnTo>
                  <a:lnTo>
                    <a:pt x="283" y="172"/>
                  </a:lnTo>
                  <a:lnTo>
                    <a:pt x="285" y="169"/>
                  </a:lnTo>
                  <a:lnTo>
                    <a:pt x="283" y="167"/>
                  </a:lnTo>
                  <a:lnTo>
                    <a:pt x="280" y="160"/>
                  </a:lnTo>
                  <a:lnTo>
                    <a:pt x="274" y="151"/>
                  </a:lnTo>
                  <a:lnTo>
                    <a:pt x="267" y="139"/>
                  </a:lnTo>
                  <a:lnTo>
                    <a:pt x="259" y="124"/>
                  </a:lnTo>
                  <a:lnTo>
                    <a:pt x="250" y="109"/>
                  </a:lnTo>
                  <a:lnTo>
                    <a:pt x="241" y="93"/>
                  </a:lnTo>
                  <a:lnTo>
                    <a:pt x="231" y="77"/>
                  </a:lnTo>
                  <a:lnTo>
                    <a:pt x="222" y="61"/>
                  </a:lnTo>
                  <a:lnTo>
                    <a:pt x="213" y="47"/>
                  </a:lnTo>
                  <a:lnTo>
                    <a:pt x="206" y="33"/>
                  </a:lnTo>
                  <a:lnTo>
                    <a:pt x="200" y="23"/>
                  </a:lnTo>
                  <a:lnTo>
                    <a:pt x="196" y="17"/>
                  </a:lnTo>
                  <a:lnTo>
                    <a:pt x="194" y="14"/>
                  </a:lnTo>
                  <a:close/>
                  <a:moveTo>
                    <a:pt x="202" y="9"/>
                  </a:moveTo>
                  <a:lnTo>
                    <a:pt x="204" y="12"/>
                  </a:lnTo>
                  <a:lnTo>
                    <a:pt x="209" y="20"/>
                  </a:lnTo>
                  <a:lnTo>
                    <a:pt x="215" y="30"/>
                  </a:lnTo>
                  <a:lnTo>
                    <a:pt x="224" y="44"/>
                  </a:lnTo>
                  <a:lnTo>
                    <a:pt x="232" y="60"/>
                  </a:lnTo>
                  <a:lnTo>
                    <a:pt x="242" y="77"/>
                  </a:lnTo>
                  <a:lnTo>
                    <a:pt x="251" y="93"/>
                  </a:lnTo>
                  <a:lnTo>
                    <a:pt x="261" y="110"/>
                  </a:lnTo>
                  <a:lnTo>
                    <a:pt x="270" y="125"/>
                  </a:lnTo>
                  <a:lnTo>
                    <a:pt x="277" y="138"/>
                  </a:lnTo>
                  <a:lnTo>
                    <a:pt x="284" y="149"/>
                  </a:lnTo>
                  <a:lnTo>
                    <a:pt x="288" y="157"/>
                  </a:lnTo>
                  <a:lnTo>
                    <a:pt x="290" y="160"/>
                  </a:lnTo>
                  <a:lnTo>
                    <a:pt x="292" y="157"/>
                  </a:lnTo>
                  <a:lnTo>
                    <a:pt x="296" y="149"/>
                  </a:lnTo>
                  <a:lnTo>
                    <a:pt x="302" y="138"/>
                  </a:lnTo>
                  <a:lnTo>
                    <a:pt x="310" y="125"/>
                  </a:lnTo>
                  <a:lnTo>
                    <a:pt x="319" y="110"/>
                  </a:lnTo>
                  <a:lnTo>
                    <a:pt x="328" y="93"/>
                  </a:lnTo>
                  <a:lnTo>
                    <a:pt x="338" y="77"/>
                  </a:lnTo>
                  <a:lnTo>
                    <a:pt x="347" y="60"/>
                  </a:lnTo>
                  <a:lnTo>
                    <a:pt x="356" y="44"/>
                  </a:lnTo>
                  <a:lnTo>
                    <a:pt x="364" y="30"/>
                  </a:lnTo>
                  <a:lnTo>
                    <a:pt x="370" y="20"/>
                  </a:lnTo>
                  <a:lnTo>
                    <a:pt x="375" y="12"/>
                  </a:lnTo>
                  <a:lnTo>
                    <a:pt x="376" y="9"/>
                  </a:lnTo>
                  <a:lnTo>
                    <a:pt x="202" y="9"/>
                  </a:lnTo>
                  <a:close/>
                  <a:moveTo>
                    <a:pt x="192" y="0"/>
                  </a:moveTo>
                  <a:lnTo>
                    <a:pt x="387" y="0"/>
                  </a:lnTo>
                  <a:lnTo>
                    <a:pt x="580" y="334"/>
                  </a:lnTo>
                  <a:lnTo>
                    <a:pt x="482" y="502"/>
                  </a:lnTo>
                  <a:lnTo>
                    <a:pt x="97" y="502"/>
                  </a:lnTo>
                  <a:lnTo>
                    <a:pt x="0" y="334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A9B6C0B-D8E0-FBEC-188A-90B324FB8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7932" y="2651964"/>
              <a:ext cx="66258" cy="80456"/>
            </a:xfrm>
            <a:custGeom>
              <a:avLst/>
              <a:gdLst>
                <a:gd name="T0" fmla="*/ 0 w 84"/>
                <a:gd name="T1" fmla="*/ 0 h 101"/>
                <a:gd name="T2" fmla="*/ 25 w 84"/>
                <a:gd name="T3" fmla="*/ 0 h 101"/>
                <a:gd name="T4" fmla="*/ 53 w 84"/>
                <a:gd name="T5" fmla="*/ 48 h 101"/>
                <a:gd name="T6" fmla="*/ 66 w 84"/>
                <a:gd name="T7" fmla="*/ 72 h 101"/>
                <a:gd name="T8" fmla="*/ 66 w 84"/>
                <a:gd name="T9" fmla="*/ 60 h 101"/>
                <a:gd name="T10" fmla="*/ 65 w 84"/>
                <a:gd name="T11" fmla="*/ 45 h 101"/>
                <a:gd name="T12" fmla="*/ 65 w 84"/>
                <a:gd name="T13" fmla="*/ 32 h 101"/>
                <a:gd name="T14" fmla="*/ 65 w 84"/>
                <a:gd name="T15" fmla="*/ 0 h 101"/>
                <a:gd name="T16" fmla="*/ 84 w 84"/>
                <a:gd name="T17" fmla="*/ 0 h 101"/>
                <a:gd name="T18" fmla="*/ 84 w 84"/>
                <a:gd name="T19" fmla="*/ 101 h 101"/>
                <a:gd name="T20" fmla="*/ 58 w 84"/>
                <a:gd name="T21" fmla="*/ 101 h 101"/>
                <a:gd name="T22" fmla="*/ 29 w 84"/>
                <a:gd name="T23" fmla="*/ 50 h 101"/>
                <a:gd name="T24" fmla="*/ 23 w 84"/>
                <a:gd name="T25" fmla="*/ 39 h 101"/>
                <a:gd name="T26" fmla="*/ 18 w 84"/>
                <a:gd name="T27" fmla="*/ 28 h 101"/>
                <a:gd name="T28" fmla="*/ 18 w 84"/>
                <a:gd name="T29" fmla="*/ 39 h 101"/>
                <a:gd name="T30" fmla="*/ 19 w 84"/>
                <a:gd name="T31" fmla="*/ 52 h 101"/>
                <a:gd name="T32" fmla="*/ 19 w 84"/>
                <a:gd name="T33" fmla="*/ 65 h 101"/>
                <a:gd name="T34" fmla="*/ 19 w 84"/>
                <a:gd name="T35" fmla="*/ 101 h 101"/>
                <a:gd name="T36" fmla="*/ 0 w 84"/>
                <a:gd name="T37" fmla="*/ 101 h 101"/>
                <a:gd name="T38" fmla="*/ 0 w 84"/>
                <a:gd name="T3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84" h="101">
                  <a:moveTo>
                    <a:pt x="0" y="0"/>
                  </a:moveTo>
                  <a:lnTo>
                    <a:pt x="25" y="0"/>
                  </a:lnTo>
                  <a:lnTo>
                    <a:pt x="53" y="48"/>
                  </a:lnTo>
                  <a:lnTo>
                    <a:pt x="66" y="72"/>
                  </a:lnTo>
                  <a:lnTo>
                    <a:pt x="66" y="60"/>
                  </a:lnTo>
                  <a:lnTo>
                    <a:pt x="65" y="45"/>
                  </a:lnTo>
                  <a:lnTo>
                    <a:pt x="65" y="32"/>
                  </a:lnTo>
                  <a:lnTo>
                    <a:pt x="65" y="0"/>
                  </a:lnTo>
                  <a:lnTo>
                    <a:pt x="84" y="0"/>
                  </a:lnTo>
                  <a:lnTo>
                    <a:pt x="84" y="101"/>
                  </a:lnTo>
                  <a:lnTo>
                    <a:pt x="58" y="101"/>
                  </a:lnTo>
                  <a:lnTo>
                    <a:pt x="29" y="50"/>
                  </a:lnTo>
                  <a:lnTo>
                    <a:pt x="23" y="39"/>
                  </a:lnTo>
                  <a:lnTo>
                    <a:pt x="18" y="28"/>
                  </a:lnTo>
                  <a:lnTo>
                    <a:pt x="18" y="39"/>
                  </a:lnTo>
                  <a:lnTo>
                    <a:pt x="19" y="52"/>
                  </a:lnTo>
                  <a:lnTo>
                    <a:pt x="19" y="65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8D34245F-91F6-675D-0161-975607FB4E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80754" y="2651964"/>
              <a:ext cx="73357" cy="80456"/>
            </a:xfrm>
            <a:custGeom>
              <a:avLst/>
              <a:gdLst>
                <a:gd name="T0" fmla="*/ 45 w 92"/>
                <a:gd name="T1" fmla="*/ 22 h 101"/>
                <a:gd name="T2" fmla="*/ 40 w 92"/>
                <a:gd name="T3" fmla="*/ 39 h 101"/>
                <a:gd name="T4" fmla="*/ 31 w 92"/>
                <a:gd name="T5" fmla="*/ 65 h 101"/>
                <a:gd name="T6" fmla="*/ 59 w 92"/>
                <a:gd name="T7" fmla="*/ 65 h 101"/>
                <a:gd name="T8" fmla="*/ 49 w 92"/>
                <a:gd name="T9" fmla="*/ 39 h 101"/>
                <a:gd name="T10" fmla="*/ 45 w 92"/>
                <a:gd name="T11" fmla="*/ 22 h 101"/>
                <a:gd name="T12" fmla="*/ 45 w 92"/>
                <a:gd name="T13" fmla="*/ 22 h 101"/>
                <a:gd name="T14" fmla="*/ 35 w 92"/>
                <a:gd name="T15" fmla="*/ 0 h 101"/>
                <a:gd name="T16" fmla="*/ 56 w 92"/>
                <a:gd name="T17" fmla="*/ 0 h 101"/>
                <a:gd name="T18" fmla="*/ 92 w 92"/>
                <a:gd name="T19" fmla="*/ 101 h 101"/>
                <a:gd name="T20" fmla="*/ 71 w 92"/>
                <a:gd name="T21" fmla="*/ 101 h 101"/>
                <a:gd name="T22" fmla="*/ 64 w 92"/>
                <a:gd name="T23" fmla="*/ 80 h 101"/>
                <a:gd name="T24" fmla="*/ 26 w 92"/>
                <a:gd name="T25" fmla="*/ 80 h 101"/>
                <a:gd name="T26" fmla="*/ 19 w 92"/>
                <a:gd name="T27" fmla="*/ 101 h 101"/>
                <a:gd name="T28" fmla="*/ 0 w 92"/>
                <a:gd name="T29" fmla="*/ 101 h 101"/>
                <a:gd name="T30" fmla="*/ 35 w 92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2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59" y="65"/>
                  </a:lnTo>
                  <a:lnTo>
                    <a:pt x="49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6" y="0"/>
                  </a:lnTo>
                  <a:lnTo>
                    <a:pt x="92" y="101"/>
                  </a:lnTo>
                  <a:lnTo>
                    <a:pt x="71" y="101"/>
                  </a:lnTo>
                  <a:lnTo>
                    <a:pt x="64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8B80F258-676D-38DD-F768-1F70094005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8843" y="2651964"/>
              <a:ext cx="56792" cy="80456"/>
            </a:xfrm>
            <a:custGeom>
              <a:avLst/>
              <a:gdLst>
                <a:gd name="T0" fmla="*/ 0 w 71"/>
                <a:gd name="T1" fmla="*/ 0 h 101"/>
                <a:gd name="T2" fmla="*/ 71 w 71"/>
                <a:gd name="T3" fmla="*/ 0 h 101"/>
                <a:gd name="T4" fmla="*/ 71 w 71"/>
                <a:gd name="T5" fmla="*/ 17 h 101"/>
                <a:gd name="T6" fmla="*/ 46 w 71"/>
                <a:gd name="T7" fmla="*/ 17 h 101"/>
                <a:gd name="T8" fmla="*/ 46 w 71"/>
                <a:gd name="T9" fmla="*/ 101 h 101"/>
                <a:gd name="T10" fmla="*/ 26 w 71"/>
                <a:gd name="T11" fmla="*/ 101 h 101"/>
                <a:gd name="T12" fmla="*/ 26 w 71"/>
                <a:gd name="T13" fmla="*/ 17 h 101"/>
                <a:gd name="T14" fmla="*/ 0 w 71"/>
                <a:gd name="T15" fmla="*/ 17 h 101"/>
                <a:gd name="T16" fmla="*/ 0 w 71"/>
                <a:gd name="T1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101">
                  <a:moveTo>
                    <a:pt x="0" y="0"/>
                  </a:moveTo>
                  <a:lnTo>
                    <a:pt x="71" y="0"/>
                  </a:lnTo>
                  <a:lnTo>
                    <a:pt x="71" y="17"/>
                  </a:lnTo>
                  <a:lnTo>
                    <a:pt x="46" y="17"/>
                  </a:lnTo>
                  <a:lnTo>
                    <a:pt x="46" y="101"/>
                  </a:lnTo>
                  <a:lnTo>
                    <a:pt x="26" y="101"/>
                  </a:lnTo>
                  <a:lnTo>
                    <a:pt x="26" y="17"/>
                  </a:lnTo>
                  <a:lnTo>
                    <a:pt x="0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93FB4BC-8E86-BF21-E7DB-50A6AD93E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2200" y="2651964"/>
              <a:ext cx="16564" cy="80456"/>
            </a:xfrm>
            <a:prstGeom prst="rect">
              <a:avLst/>
            </a:prstGeom>
            <a:solidFill>
              <a:srgbClr val="FFFFFF"/>
            </a:solidFill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8558D9F5-8DA3-2C55-EF2C-4E3C8B9372E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67695" y="2651964"/>
              <a:ext cx="73357" cy="80456"/>
            </a:xfrm>
            <a:custGeom>
              <a:avLst/>
              <a:gdLst>
                <a:gd name="T0" fmla="*/ 47 w 94"/>
                <a:gd name="T1" fmla="*/ 17 h 104"/>
                <a:gd name="T2" fmla="*/ 39 w 94"/>
                <a:gd name="T3" fmla="*/ 18 h 104"/>
                <a:gd name="T4" fmla="*/ 32 w 94"/>
                <a:gd name="T5" fmla="*/ 22 h 104"/>
                <a:gd name="T6" fmla="*/ 26 w 94"/>
                <a:gd name="T7" fmla="*/ 29 h 104"/>
                <a:gd name="T8" fmla="*/ 22 w 94"/>
                <a:gd name="T9" fmla="*/ 39 h 104"/>
                <a:gd name="T10" fmla="*/ 21 w 94"/>
                <a:gd name="T11" fmla="*/ 51 h 104"/>
                <a:gd name="T12" fmla="*/ 22 w 94"/>
                <a:gd name="T13" fmla="*/ 63 h 104"/>
                <a:gd name="T14" fmla="*/ 25 w 94"/>
                <a:gd name="T15" fmla="*/ 72 h 104"/>
                <a:gd name="T16" fmla="*/ 30 w 94"/>
                <a:gd name="T17" fmla="*/ 80 h 104"/>
                <a:gd name="T18" fmla="*/ 37 w 94"/>
                <a:gd name="T19" fmla="*/ 84 h 104"/>
                <a:gd name="T20" fmla="*/ 47 w 94"/>
                <a:gd name="T21" fmla="*/ 86 h 104"/>
                <a:gd name="T22" fmla="*/ 55 w 94"/>
                <a:gd name="T23" fmla="*/ 85 h 104"/>
                <a:gd name="T24" fmla="*/ 62 w 94"/>
                <a:gd name="T25" fmla="*/ 81 h 104"/>
                <a:gd name="T26" fmla="*/ 68 w 94"/>
                <a:gd name="T27" fmla="*/ 74 h 104"/>
                <a:gd name="T28" fmla="*/ 72 w 94"/>
                <a:gd name="T29" fmla="*/ 65 h 104"/>
                <a:gd name="T30" fmla="*/ 74 w 94"/>
                <a:gd name="T31" fmla="*/ 52 h 104"/>
                <a:gd name="T32" fmla="*/ 72 w 94"/>
                <a:gd name="T33" fmla="*/ 37 h 104"/>
                <a:gd name="T34" fmla="*/ 67 w 94"/>
                <a:gd name="T35" fmla="*/ 26 h 104"/>
                <a:gd name="T36" fmla="*/ 59 w 94"/>
                <a:gd name="T37" fmla="*/ 19 h 104"/>
                <a:gd name="T38" fmla="*/ 47 w 94"/>
                <a:gd name="T39" fmla="*/ 17 h 104"/>
                <a:gd name="T40" fmla="*/ 49 w 94"/>
                <a:gd name="T41" fmla="*/ 0 h 104"/>
                <a:gd name="T42" fmla="*/ 62 w 94"/>
                <a:gd name="T43" fmla="*/ 1 h 104"/>
                <a:gd name="T44" fmla="*/ 73 w 94"/>
                <a:gd name="T45" fmla="*/ 5 h 104"/>
                <a:gd name="T46" fmla="*/ 82 w 94"/>
                <a:gd name="T47" fmla="*/ 12 h 104"/>
                <a:gd name="T48" fmla="*/ 89 w 94"/>
                <a:gd name="T49" fmla="*/ 22 h 104"/>
                <a:gd name="T50" fmla="*/ 93 w 94"/>
                <a:gd name="T51" fmla="*/ 34 h 104"/>
                <a:gd name="T52" fmla="*/ 94 w 94"/>
                <a:gd name="T53" fmla="*/ 50 h 104"/>
                <a:gd name="T54" fmla="*/ 93 w 94"/>
                <a:gd name="T55" fmla="*/ 66 h 104"/>
                <a:gd name="T56" fmla="*/ 88 w 94"/>
                <a:gd name="T57" fmla="*/ 79 h 104"/>
                <a:gd name="T58" fmla="*/ 80 w 94"/>
                <a:gd name="T59" fmla="*/ 89 h 104"/>
                <a:gd name="T60" fmla="*/ 70 w 94"/>
                <a:gd name="T61" fmla="*/ 97 h 104"/>
                <a:gd name="T62" fmla="*/ 59 w 94"/>
                <a:gd name="T63" fmla="*/ 102 h 104"/>
                <a:gd name="T64" fmla="*/ 46 w 94"/>
                <a:gd name="T65" fmla="*/ 104 h 104"/>
                <a:gd name="T66" fmla="*/ 32 w 94"/>
                <a:gd name="T67" fmla="*/ 102 h 104"/>
                <a:gd name="T68" fmla="*/ 20 w 94"/>
                <a:gd name="T69" fmla="*/ 97 h 104"/>
                <a:gd name="T70" fmla="*/ 11 w 94"/>
                <a:gd name="T71" fmla="*/ 90 h 104"/>
                <a:gd name="T72" fmla="*/ 5 w 94"/>
                <a:gd name="T73" fmla="*/ 80 h 104"/>
                <a:gd name="T74" fmla="*/ 1 w 94"/>
                <a:gd name="T75" fmla="*/ 67 h 104"/>
                <a:gd name="T76" fmla="*/ 0 w 94"/>
                <a:gd name="T77" fmla="*/ 53 h 104"/>
                <a:gd name="T78" fmla="*/ 2 w 94"/>
                <a:gd name="T79" fmla="*/ 37 h 104"/>
                <a:gd name="T80" fmla="*/ 7 w 94"/>
                <a:gd name="T81" fmla="*/ 24 h 104"/>
                <a:gd name="T82" fmla="*/ 15 w 94"/>
                <a:gd name="T83" fmla="*/ 14 h 104"/>
                <a:gd name="T84" fmla="*/ 24 w 94"/>
                <a:gd name="T85" fmla="*/ 6 h 104"/>
                <a:gd name="T86" fmla="*/ 36 w 94"/>
                <a:gd name="T87" fmla="*/ 1 h 104"/>
                <a:gd name="T88" fmla="*/ 49 w 94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4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1" y="51"/>
                  </a:lnTo>
                  <a:lnTo>
                    <a:pt x="22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7" y="84"/>
                  </a:lnTo>
                  <a:lnTo>
                    <a:pt x="47" y="86"/>
                  </a:lnTo>
                  <a:lnTo>
                    <a:pt x="55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2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9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2" y="1"/>
                  </a:lnTo>
                  <a:lnTo>
                    <a:pt x="73" y="5"/>
                  </a:lnTo>
                  <a:lnTo>
                    <a:pt x="82" y="12"/>
                  </a:lnTo>
                  <a:lnTo>
                    <a:pt x="89" y="22"/>
                  </a:lnTo>
                  <a:lnTo>
                    <a:pt x="93" y="34"/>
                  </a:lnTo>
                  <a:lnTo>
                    <a:pt x="94" y="50"/>
                  </a:lnTo>
                  <a:lnTo>
                    <a:pt x="93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9" y="102"/>
                  </a:lnTo>
                  <a:lnTo>
                    <a:pt x="46" y="104"/>
                  </a:lnTo>
                  <a:lnTo>
                    <a:pt x="32" y="102"/>
                  </a:lnTo>
                  <a:lnTo>
                    <a:pt x="20" y="97"/>
                  </a:lnTo>
                  <a:lnTo>
                    <a:pt x="11" y="90"/>
                  </a:lnTo>
                  <a:lnTo>
                    <a:pt x="5" y="80"/>
                  </a:lnTo>
                  <a:lnTo>
                    <a:pt x="1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5" y="14"/>
                  </a:lnTo>
                  <a:lnTo>
                    <a:pt x="24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6A1F83F-2FA7-029D-A639-6622C64386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7616" y="2651964"/>
              <a:ext cx="66258" cy="80456"/>
            </a:xfrm>
            <a:custGeom>
              <a:avLst/>
              <a:gdLst>
                <a:gd name="T0" fmla="*/ 0 w 83"/>
                <a:gd name="T1" fmla="*/ 0 h 101"/>
                <a:gd name="T2" fmla="*/ 25 w 83"/>
                <a:gd name="T3" fmla="*/ 0 h 101"/>
                <a:gd name="T4" fmla="*/ 53 w 83"/>
                <a:gd name="T5" fmla="*/ 48 h 101"/>
                <a:gd name="T6" fmla="*/ 65 w 83"/>
                <a:gd name="T7" fmla="*/ 72 h 101"/>
                <a:gd name="T8" fmla="*/ 65 w 83"/>
                <a:gd name="T9" fmla="*/ 60 h 101"/>
                <a:gd name="T10" fmla="*/ 64 w 83"/>
                <a:gd name="T11" fmla="*/ 45 h 101"/>
                <a:gd name="T12" fmla="*/ 64 w 83"/>
                <a:gd name="T13" fmla="*/ 32 h 101"/>
                <a:gd name="T14" fmla="*/ 64 w 83"/>
                <a:gd name="T15" fmla="*/ 0 h 101"/>
                <a:gd name="T16" fmla="*/ 83 w 83"/>
                <a:gd name="T17" fmla="*/ 0 h 101"/>
                <a:gd name="T18" fmla="*/ 83 w 83"/>
                <a:gd name="T19" fmla="*/ 101 h 101"/>
                <a:gd name="T20" fmla="*/ 58 w 83"/>
                <a:gd name="T21" fmla="*/ 101 h 101"/>
                <a:gd name="T22" fmla="*/ 29 w 83"/>
                <a:gd name="T23" fmla="*/ 50 h 101"/>
                <a:gd name="T24" fmla="*/ 18 w 83"/>
                <a:gd name="T25" fmla="*/ 28 h 101"/>
                <a:gd name="T26" fmla="*/ 18 w 83"/>
                <a:gd name="T27" fmla="*/ 39 h 101"/>
                <a:gd name="T28" fmla="*/ 19 w 83"/>
                <a:gd name="T29" fmla="*/ 52 h 101"/>
                <a:gd name="T30" fmla="*/ 19 w 83"/>
                <a:gd name="T31" fmla="*/ 65 h 101"/>
                <a:gd name="T32" fmla="*/ 19 w 83"/>
                <a:gd name="T33" fmla="*/ 101 h 101"/>
                <a:gd name="T34" fmla="*/ 0 w 83"/>
                <a:gd name="T35" fmla="*/ 101 h 101"/>
                <a:gd name="T36" fmla="*/ 0 w 83"/>
                <a:gd name="T3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3" h="101">
                  <a:moveTo>
                    <a:pt x="0" y="0"/>
                  </a:moveTo>
                  <a:lnTo>
                    <a:pt x="25" y="0"/>
                  </a:lnTo>
                  <a:lnTo>
                    <a:pt x="53" y="48"/>
                  </a:lnTo>
                  <a:lnTo>
                    <a:pt x="65" y="72"/>
                  </a:lnTo>
                  <a:lnTo>
                    <a:pt x="65" y="60"/>
                  </a:lnTo>
                  <a:lnTo>
                    <a:pt x="64" y="45"/>
                  </a:lnTo>
                  <a:lnTo>
                    <a:pt x="64" y="32"/>
                  </a:lnTo>
                  <a:lnTo>
                    <a:pt x="64" y="0"/>
                  </a:lnTo>
                  <a:lnTo>
                    <a:pt x="83" y="0"/>
                  </a:lnTo>
                  <a:lnTo>
                    <a:pt x="83" y="101"/>
                  </a:lnTo>
                  <a:lnTo>
                    <a:pt x="58" y="101"/>
                  </a:lnTo>
                  <a:lnTo>
                    <a:pt x="29" y="50"/>
                  </a:lnTo>
                  <a:lnTo>
                    <a:pt x="18" y="28"/>
                  </a:lnTo>
                  <a:lnTo>
                    <a:pt x="18" y="39"/>
                  </a:lnTo>
                  <a:lnTo>
                    <a:pt x="19" y="52"/>
                  </a:lnTo>
                  <a:lnTo>
                    <a:pt x="19" y="65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1B924EC1-D62D-244C-1910-578F30F4460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40438" y="2651964"/>
              <a:ext cx="73357" cy="80456"/>
            </a:xfrm>
            <a:custGeom>
              <a:avLst/>
              <a:gdLst>
                <a:gd name="T0" fmla="*/ 45 w 93"/>
                <a:gd name="T1" fmla="*/ 22 h 101"/>
                <a:gd name="T2" fmla="*/ 40 w 93"/>
                <a:gd name="T3" fmla="*/ 39 h 101"/>
                <a:gd name="T4" fmla="*/ 31 w 93"/>
                <a:gd name="T5" fmla="*/ 65 h 101"/>
                <a:gd name="T6" fmla="*/ 60 w 93"/>
                <a:gd name="T7" fmla="*/ 65 h 101"/>
                <a:gd name="T8" fmla="*/ 49 w 93"/>
                <a:gd name="T9" fmla="*/ 39 h 101"/>
                <a:gd name="T10" fmla="*/ 45 w 93"/>
                <a:gd name="T11" fmla="*/ 22 h 101"/>
                <a:gd name="T12" fmla="*/ 45 w 93"/>
                <a:gd name="T13" fmla="*/ 22 h 101"/>
                <a:gd name="T14" fmla="*/ 35 w 93"/>
                <a:gd name="T15" fmla="*/ 0 h 101"/>
                <a:gd name="T16" fmla="*/ 57 w 93"/>
                <a:gd name="T17" fmla="*/ 0 h 101"/>
                <a:gd name="T18" fmla="*/ 93 w 93"/>
                <a:gd name="T19" fmla="*/ 101 h 101"/>
                <a:gd name="T20" fmla="*/ 72 w 93"/>
                <a:gd name="T21" fmla="*/ 101 h 101"/>
                <a:gd name="T22" fmla="*/ 65 w 93"/>
                <a:gd name="T23" fmla="*/ 80 h 101"/>
                <a:gd name="T24" fmla="*/ 26 w 93"/>
                <a:gd name="T25" fmla="*/ 80 h 101"/>
                <a:gd name="T26" fmla="*/ 19 w 93"/>
                <a:gd name="T27" fmla="*/ 101 h 101"/>
                <a:gd name="T28" fmla="*/ 0 w 93"/>
                <a:gd name="T29" fmla="*/ 101 h 101"/>
                <a:gd name="T30" fmla="*/ 35 w 93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3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60" y="65"/>
                  </a:lnTo>
                  <a:lnTo>
                    <a:pt x="49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3" y="101"/>
                  </a:lnTo>
                  <a:lnTo>
                    <a:pt x="72" y="101"/>
                  </a:lnTo>
                  <a:lnTo>
                    <a:pt x="65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7E569B6-DF89-6FCC-1D71-EEAB95E1C200}"/>
                </a:ext>
              </a:extLst>
            </p:cNvPr>
            <p:cNvSpPr>
              <a:spLocks/>
            </p:cNvSpPr>
            <p:nvPr/>
          </p:nvSpPr>
          <p:spPr bwMode="auto">
            <a:xfrm>
              <a:off x="2130359" y="2651964"/>
              <a:ext cx="42594" cy="80456"/>
            </a:xfrm>
            <a:custGeom>
              <a:avLst/>
              <a:gdLst>
                <a:gd name="T0" fmla="*/ 0 w 52"/>
                <a:gd name="T1" fmla="*/ 0 h 101"/>
                <a:gd name="T2" fmla="*/ 19 w 52"/>
                <a:gd name="T3" fmla="*/ 0 h 101"/>
                <a:gd name="T4" fmla="*/ 19 w 52"/>
                <a:gd name="T5" fmla="*/ 84 h 101"/>
                <a:gd name="T6" fmla="*/ 52 w 52"/>
                <a:gd name="T7" fmla="*/ 84 h 101"/>
                <a:gd name="T8" fmla="*/ 52 w 52"/>
                <a:gd name="T9" fmla="*/ 101 h 101"/>
                <a:gd name="T10" fmla="*/ 0 w 52"/>
                <a:gd name="T11" fmla="*/ 101 h 101"/>
                <a:gd name="T12" fmla="*/ 0 w 52"/>
                <a:gd name="T13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" h="101">
                  <a:moveTo>
                    <a:pt x="0" y="0"/>
                  </a:moveTo>
                  <a:lnTo>
                    <a:pt x="19" y="0"/>
                  </a:lnTo>
                  <a:lnTo>
                    <a:pt x="19" y="84"/>
                  </a:lnTo>
                  <a:lnTo>
                    <a:pt x="52" y="84"/>
                  </a:lnTo>
                  <a:lnTo>
                    <a:pt x="52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2E8D1774-4E0C-F3E6-24B8-B74121382F2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20280" y="2651964"/>
              <a:ext cx="42594" cy="80456"/>
            </a:xfrm>
            <a:custGeom>
              <a:avLst/>
              <a:gdLst>
                <a:gd name="T0" fmla="*/ 0 w 52"/>
                <a:gd name="T1" fmla="*/ 0 h 101"/>
                <a:gd name="T2" fmla="*/ 19 w 52"/>
                <a:gd name="T3" fmla="*/ 0 h 101"/>
                <a:gd name="T4" fmla="*/ 19 w 52"/>
                <a:gd name="T5" fmla="*/ 84 h 101"/>
                <a:gd name="T6" fmla="*/ 52 w 52"/>
                <a:gd name="T7" fmla="*/ 84 h 101"/>
                <a:gd name="T8" fmla="*/ 52 w 52"/>
                <a:gd name="T9" fmla="*/ 101 h 101"/>
                <a:gd name="T10" fmla="*/ 0 w 52"/>
                <a:gd name="T11" fmla="*/ 101 h 101"/>
                <a:gd name="T12" fmla="*/ 0 w 52"/>
                <a:gd name="T13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" h="101">
                  <a:moveTo>
                    <a:pt x="0" y="0"/>
                  </a:moveTo>
                  <a:lnTo>
                    <a:pt x="19" y="0"/>
                  </a:lnTo>
                  <a:lnTo>
                    <a:pt x="19" y="84"/>
                  </a:lnTo>
                  <a:lnTo>
                    <a:pt x="52" y="84"/>
                  </a:lnTo>
                  <a:lnTo>
                    <a:pt x="52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8B4D9F1-53D7-1C4F-12DF-A312FAD3F7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79439" y="2651964"/>
              <a:ext cx="73357" cy="80456"/>
            </a:xfrm>
            <a:custGeom>
              <a:avLst/>
              <a:gdLst>
                <a:gd name="T0" fmla="*/ 46 w 93"/>
                <a:gd name="T1" fmla="*/ 22 h 101"/>
                <a:gd name="T2" fmla="*/ 41 w 93"/>
                <a:gd name="T3" fmla="*/ 39 h 101"/>
                <a:gd name="T4" fmla="*/ 32 w 93"/>
                <a:gd name="T5" fmla="*/ 65 h 101"/>
                <a:gd name="T6" fmla="*/ 60 w 93"/>
                <a:gd name="T7" fmla="*/ 65 h 101"/>
                <a:gd name="T8" fmla="*/ 50 w 93"/>
                <a:gd name="T9" fmla="*/ 39 h 101"/>
                <a:gd name="T10" fmla="*/ 46 w 93"/>
                <a:gd name="T11" fmla="*/ 22 h 101"/>
                <a:gd name="T12" fmla="*/ 46 w 93"/>
                <a:gd name="T13" fmla="*/ 22 h 101"/>
                <a:gd name="T14" fmla="*/ 35 w 93"/>
                <a:gd name="T15" fmla="*/ 0 h 101"/>
                <a:gd name="T16" fmla="*/ 57 w 93"/>
                <a:gd name="T17" fmla="*/ 0 h 101"/>
                <a:gd name="T18" fmla="*/ 93 w 93"/>
                <a:gd name="T19" fmla="*/ 101 h 101"/>
                <a:gd name="T20" fmla="*/ 72 w 93"/>
                <a:gd name="T21" fmla="*/ 101 h 101"/>
                <a:gd name="T22" fmla="*/ 65 w 93"/>
                <a:gd name="T23" fmla="*/ 80 h 101"/>
                <a:gd name="T24" fmla="*/ 26 w 93"/>
                <a:gd name="T25" fmla="*/ 80 h 101"/>
                <a:gd name="T26" fmla="*/ 19 w 93"/>
                <a:gd name="T27" fmla="*/ 101 h 101"/>
                <a:gd name="T28" fmla="*/ 0 w 93"/>
                <a:gd name="T29" fmla="*/ 101 h 101"/>
                <a:gd name="T30" fmla="*/ 35 w 93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3" h="101">
                  <a:moveTo>
                    <a:pt x="46" y="22"/>
                  </a:moveTo>
                  <a:lnTo>
                    <a:pt x="41" y="39"/>
                  </a:lnTo>
                  <a:lnTo>
                    <a:pt x="32" y="65"/>
                  </a:lnTo>
                  <a:lnTo>
                    <a:pt x="60" y="65"/>
                  </a:lnTo>
                  <a:lnTo>
                    <a:pt x="50" y="39"/>
                  </a:lnTo>
                  <a:lnTo>
                    <a:pt x="46" y="22"/>
                  </a:lnTo>
                  <a:lnTo>
                    <a:pt x="46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3" y="101"/>
                  </a:lnTo>
                  <a:lnTo>
                    <a:pt x="72" y="101"/>
                  </a:lnTo>
                  <a:lnTo>
                    <a:pt x="65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DDF51265-9C31-4D79-2138-F19670D2440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369360" y="2651964"/>
              <a:ext cx="54426" cy="80456"/>
            </a:xfrm>
            <a:custGeom>
              <a:avLst/>
              <a:gdLst>
                <a:gd name="T0" fmla="*/ 28 w 70"/>
                <a:gd name="T1" fmla="*/ 56 h 101"/>
                <a:gd name="T2" fmla="*/ 26 w 70"/>
                <a:gd name="T3" fmla="*/ 56 h 101"/>
                <a:gd name="T4" fmla="*/ 24 w 70"/>
                <a:gd name="T5" fmla="*/ 56 h 101"/>
                <a:gd name="T6" fmla="*/ 22 w 70"/>
                <a:gd name="T7" fmla="*/ 57 h 101"/>
                <a:gd name="T8" fmla="*/ 20 w 70"/>
                <a:gd name="T9" fmla="*/ 57 h 101"/>
                <a:gd name="T10" fmla="*/ 20 w 70"/>
                <a:gd name="T11" fmla="*/ 85 h 101"/>
                <a:gd name="T12" fmla="*/ 22 w 70"/>
                <a:gd name="T13" fmla="*/ 85 h 101"/>
                <a:gd name="T14" fmla="*/ 26 w 70"/>
                <a:gd name="T15" fmla="*/ 85 h 101"/>
                <a:gd name="T16" fmla="*/ 30 w 70"/>
                <a:gd name="T17" fmla="*/ 85 h 101"/>
                <a:gd name="T18" fmla="*/ 38 w 70"/>
                <a:gd name="T19" fmla="*/ 84 h 101"/>
                <a:gd name="T20" fmla="*/ 44 w 70"/>
                <a:gd name="T21" fmla="*/ 81 h 101"/>
                <a:gd name="T22" fmla="*/ 48 w 70"/>
                <a:gd name="T23" fmla="*/ 77 h 101"/>
                <a:gd name="T24" fmla="*/ 49 w 70"/>
                <a:gd name="T25" fmla="*/ 70 h 101"/>
                <a:gd name="T26" fmla="*/ 47 w 70"/>
                <a:gd name="T27" fmla="*/ 64 h 101"/>
                <a:gd name="T28" fmla="*/ 43 w 70"/>
                <a:gd name="T29" fmla="*/ 60 h 101"/>
                <a:gd name="T30" fmla="*/ 37 w 70"/>
                <a:gd name="T31" fmla="*/ 57 h 101"/>
                <a:gd name="T32" fmla="*/ 28 w 70"/>
                <a:gd name="T33" fmla="*/ 56 h 101"/>
                <a:gd name="T34" fmla="*/ 31 w 70"/>
                <a:gd name="T35" fmla="*/ 15 h 101"/>
                <a:gd name="T36" fmla="*/ 25 w 70"/>
                <a:gd name="T37" fmla="*/ 15 h 101"/>
                <a:gd name="T38" fmla="*/ 20 w 70"/>
                <a:gd name="T39" fmla="*/ 16 h 101"/>
                <a:gd name="T40" fmla="*/ 20 w 70"/>
                <a:gd name="T41" fmla="*/ 42 h 101"/>
                <a:gd name="T42" fmla="*/ 23 w 70"/>
                <a:gd name="T43" fmla="*/ 42 h 101"/>
                <a:gd name="T44" fmla="*/ 27 w 70"/>
                <a:gd name="T45" fmla="*/ 42 h 101"/>
                <a:gd name="T46" fmla="*/ 38 w 70"/>
                <a:gd name="T47" fmla="*/ 40 h 101"/>
                <a:gd name="T48" fmla="*/ 45 w 70"/>
                <a:gd name="T49" fmla="*/ 35 h 101"/>
                <a:gd name="T50" fmla="*/ 47 w 70"/>
                <a:gd name="T51" fmla="*/ 28 h 101"/>
                <a:gd name="T52" fmla="*/ 46 w 70"/>
                <a:gd name="T53" fmla="*/ 23 h 101"/>
                <a:gd name="T54" fmla="*/ 44 w 70"/>
                <a:gd name="T55" fmla="*/ 19 h 101"/>
                <a:gd name="T56" fmla="*/ 39 w 70"/>
                <a:gd name="T57" fmla="*/ 16 h 101"/>
                <a:gd name="T58" fmla="*/ 31 w 70"/>
                <a:gd name="T59" fmla="*/ 15 h 101"/>
                <a:gd name="T60" fmla="*/ 34 w 70"/>
                <a:gd name="T61" fmla="*/ 0 h 101"/>
                <a:gd name="T62" fmla="*/ 48 w 70"/>
                <a:gd name="T63" fmla="*/ 1 h 101"/>
                <a:gd name="T64" fmla="*/ 59 w 70"/>
                <a:gd name="T65" fmla="*/ 6 h 101"/>
                <a:gd name="T66" fmla="*/ 65 w 70"/>
                <a:gd name="T67" fmla="*/ 14 h 101"/>
                <a:gd name="T68" fmla="*/ 68 w 70"/>
                <a:gd name="T69" fmla="*/ 25 h 101"/>
                <a:gd name="T70" fmla="*/ 66 w 70"/>
                <a:gd name="T71" fmla="*/ 34 h 101"/>
                <a:gd name="T72" fmla="*/ 60 w 70"/>
                <a:gd name="T73" fmla="*/ 42 h 101"/>
                <a:gd name="T74" fmla="*/ 52 w 70"/>
                <a:gd name="T75" fmla="*/ 47 h 101"/>
                <a:gd name="T76" fmla="*/ 52 w 70"/>
                <a:gd name="T77" fmla="*/ 47 h 101"/>
                <a:gd name="T78" fmla="*/ 60 w 70"/>
                <a:gd name="T79" fmla="*/ 51 h 101"/>
                <a:gd name="T80" fmla="*/ 65 w 70"/>
                <a:gd name="T81" fmla="*/ 56 h 101"/>
                <a:gd name="T82" fmla="*/ 68 w 70"/>
                <a:gd name="T83" fmla="*/ 62 h 101"/>
                <a:gd name="T84" fmla="*/ 70 w 70"/>
                <a:gd name="T85" fmla="*/ 70 h 101"/>
                <a:gd name="T86" fmla="*/ 69 w 70"/>
                <a:gd name="T87" fmla="*/ 77 h 101"/>
                <a:gd name="T88" fmla="*/ 66 w 70"/>
                <a:gd name="T89" fmla="*/ 85 h 101"/>
                <a:gd name="T90" fmla="*/ 61 w 70"/>
                <a:gd name="T91" fmla="*/ 91 h 101"/>
                <a:gd name="T92" fmla="*/ 53 w 70"/>
                <a:gd name="T93" fmla="*/ 96 h 101"/>
                <a:gd name="T94" fmla="*/ 43 w 70"/>
                <a:gd name="T95" fmla="*/ 100 h 101"/>
                <a:gd name="T96" fmla="*/ 29 w 70"/>
                <a:gd name="T97" fmla="*/ 101 h 101"/>
                <a:gd name="T98" fmla="*/ 17 w 70"/>
                <a:gd name="T99" fmla="*/ 101 h 101"/>
                <a:gd name="T100" fmla="*/ 0 w 70"/>
                <a:gd name="T101" fmla="*/ 101 h 101"/>
                <a:gd name="T102" fmla="*/ 0 w 70"/>
                <a:gd name="T103" fmla="*/ 0 h 101"/>
                <a:gd name="T104" fmla="*/ 16 w 70"/>
                <a:gd name="T105" fmla="*/ 0 h 101"/>
                <a:gd name="T106" fmla="*/ 34 w 70"/>
                <a:gd name="T10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70" h="101">
                  <a:moveTo>
                    <a:pt x="28" y="56"/>
                  </a:moveTo>
                  <a:lnTo>
                    <a:pt x="26" y="56"/>
                  </a:lnTo>
                  <a:lnTo>
                    <a:pt x="24" y="56"/>
                  </a:lnTo>
                  <a:lnTo>
                    <a:pt x="22" y="57"/>
                  </a:lnTo>
                  <a:lnTo>
                    <a:pt x="20" y="57"/>
                  </a:lnTo>
                  <a:lnTo>
                    <a:pt x="20" y="85"/>
                  </a:lnTo>
                  <a:lnTo>
                    <a:pt x="22" y="85"/>
                  </a:lnTo>
                  <a:lnTo>
                    <a:pt x="26" y="85"/>
                  </a:lnTo>
                  <a:lnTo>
                    <a:pt x="30" y="85"/>
                  </a:lnTo>
                  <a:lnTo>
                    <a:pt x="38" y="84"/>
                  </a:lnTo>
                  <a:lnTo>
                    <a:pt x="44" y="81"/>
                  </a:lnTo>
                  <a:lnTo>
                    <a:pt x="48" y="77"/>
                  </a:lnTo>
                  <a:lnTo>
                    <a:pt x="49" y="70"/>
                  </a:lnTo>
                  <a:lnTo>
                    <a:pt x="47" y="64"/>
                  </a:lnTo>
                  <a:lnTo>
                    <a:pt x="43" y="60"/>
                  </a:lnTo>
                  <a:lnTo>
                    <a:pt x="37" y="57"/>
                  </a:lnTo>
                  <a:lnTo>
                    <a:pt x="28" y="56"/>
                  </a:lnTo>
                  <a:close/>
                  <a:moveTo>
                    <a:pt x="31" y="15"/>
                  </a:moveTo>
                  <a:lnTo>
                    <a:pt x="25" y="15"/>
                  </a:lnTo>
                  <a:lnTo>
                    <a:pt x="20" y="16"/>
                  </a:lnTo>
                  <a:lnTo>
                    <a:pt x="20" y="42"/>
                  </a:lnTo>
                  <a:lnTo>
                    <a:pt x="23" y="42"/>
                  </a:lnTo>
                  <a:lnTo>
                    <a:pt x="27" y="42"/>
                  </a:lnTo>
                  <a:lnTo>
                    <a:pt x="38" y="40"/>
                  </a:lnTo>
                  <a:lnTo>
                    <a:pt x="45" y="35"/>
                  </a:lnTo>
                  <a:lnTo>
                    <a:pt x="47" y="28"/>
                  </a:lnTo>
                  <a:lnTo>
                    <a:pt x="46" y="23"/>
                  </a:lnTo>
                  <a:lnTo>
                    <a:pt x="44" y="19"/>
                  </a:lnTo>
                  <a:lnTo>
                    <a:pt x="39" y="16"/>
                  </a:lnTo>
                  <a:lnTo>
                    <a:pt x="31" y="15"/>
                  </a:lnTo>
                  <a:close/>
                  <a:moveTo>
                    <a:pt x="34" y="0"/>
                  </a:moveTo>
                  <a:lnTo>
                    <a:pt x="48" y="1"/>
                  </a:lnTo>
                  <a:lnTo>
                    <a:pt x="59" y="6"/>
                  </a:lnTo>
                  <a:lnTo>
                    <a:pt x="65" y="14"/>
                  </a:lnTo>
                  <a:lnTo>
                    <a:pt x="68" y="25"/>
                  </a:lnTo>
                  <a:lnTo>
                    <a:pt x="66" y="34"/>
                  </a:lnTo>
                  <a:lnTo>
                    <a:pt x="60" y="42"/>
                  </a:lnTo>
                  <a:lnTo>
                    <a:pt x="52" y="47"/>
                  </a:lnTo>
                  <a:lnTo>
                    <a:pt x="52" y="47"/>
                  </a:lnTo>
                  <a:lnTo>
                    <a:pt x="60" y="51"/>
                  </a:lnTo>
                  <a:lnTo>
                    <a:pt x="65" y="56"/>
                  </a:lnTo>
                  <a:lnTo>
                    <a:pt x="68" y="62"/>
                  </a:lnTo>
                  <a:lnTo>
                    <a:pt x="70" y="70"/>
                  </a:lnTo>
                  <a:lnTo>
                    <a:pt x="69" y="77"/>
                  </a:lnTo>
                  <a:lnTo>
                    <a:pt x="66" y="85"/>
                  </a:lnTo>
                  <a:lnTo>
                    <a:pt x="61" y="91"/>
                  </a:lnTo>
                  <a:lnTo>
                    <a:pt x="53" y="96"/>
                  </a:lnTo>
                  <a:lnTo>
                    <a:pt x="43" y="100"/>
                  </a:lnTo>
                  <a:lnTo>
                    <a:pt x="29" y="101"/>
                  </a:lnTo>
                  <a:lnTo>
                    <a:pt x="17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6" y="0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56E538D9-F0E9-42CF-5DCB-3D4EBD4CCA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40350" y="2651964"/>
              <a:ext cx="73357" cy="80456"/>
            </a:xfrm>
            <a:custGeom>
              <a:avLst/>
              <a:gdLst>
                <a:gd name="T0" fmla="*/ 47 w 94"/>
                <a:gd name="T1" fmla="*/ 17 h 104"/>
                <a:gd name="T2" fmla="*/ 39 w 94"/>
                <a:gd name="T3" fmla="*/ 18 h 104"/>
                <a:gd name="T4" fmla="*/ 32 w 94"/>
                <a:gd name="T5" fmla="*/ 22 h 104"/>
                <a:gd name="T6" fmla="*/ 26 w 94"/>
                <a:gd name="T7" fmla="*/ 29 h 104"/>
                <a:gd name="T8" fmla="*/ 22 w 94"/>
                <a:gd name="T9" fmla="*/ 39 h 104"/>
                <a:gd name="T10" fmla="*/ 20 w 94"/>
                <a:gd name="T11" fmla="*/ 51 h 104"/>
                <a:gd name="T12" fmla="*/ 21 w 94"/>
                <a:gd name="T13" fmla="*/ 63 h 104"/>
                <a:gd name="T14" fmla="*/ 25 w 94"/>
                <a:gd name="T15" fmla="*/ 72 h 104"/>
                <a:gd name="T16" fmla="*/ 30 w 94"/>
                <a:gd name="T17" fmla="*/ 80 h 104"/>
                <a:gd name="T18" fmla="*/ 37 w 94"/>
                <a:gd name="T19" fmla="*/ 84 h 104"/>
                <a:gd name="T20" fmla="*/ 47 w 94"/>
                <a:gd name="T21" fmla="*/ 86 h 104"/>
                <a:gd name="T22" fmla="*/ 54 w 94"/>
                <a:gd name="T23" fmla="*/ 85 h 104"/>
                <a:gd name="T24" fmla="*/ 62 w 94"/>
                <a:gd name="T25" fmla="*/ 81 h 104"/>
                <a:gd name="T26" fmla="*/ 68 w 94"/>
                <a:gd name="T27" fmla="*/ 74 h 104"/>
                <a:gd name="T28" fmla="*/ 72 w 94"/>
                <a:gd name="T29" fmla="*/ 65 h 104"/>
                <a:gd name="T30" fmla="*/ 74 w 94"/>
                <a:gd name="T31" fmla="*/ 52 h 104"/>
                <a:gd name="T32" fmla="*/ 72 w 94"/>
                <a:gd name="T33" fmla="*/ 37 h 104"/>
                <a:gd name="T34" fmla="*/ 67 w 94"/>
                <a:gd name="T35" fmla="*/ 26 h 104"/>
                <a:gd name="T36" fmla="*/ 58 w 94"/>
                <a:gd name="T37" fmla="*/ 19 h 104"/>
                <a:gd name="T38" fmla="*/ 47 w 94"/>
                <a:gd name="T39" fmla="*/ 17 h 104"/>
                <a:gd name="T40" fmla="*/ 49 w 94"/>
                <a:gd name="T41" fmla="*/ 0 h 104"/>
                <a:gd name="T42" fmla="*/ 61 w 94"/>
                <a:gd name="T43" fmla="*/ 1 h 104"/>
                <a:gd name="T44" fmla="*/ 72 w 94"/>
                <a:gd name="T45" fmla="*/ 5 h 104"/>
                <a:gd name="T46" fmla="*/ 81 w 94"/>
                <a:gd name="T47" fmla="*/ 12 h 104"/>
                <a:gd name="T48" fmla="*/ 88 w 94"/>
                <a:gd name="T49" fmla="*/ 22 h 104"/>
                <a:gd name="T50" fmla="*/ 93 w 94"/>
                <a:gd name="T51" fmla="*/ 34 h 104"/>
                <a:gd name="T52" fmla="*/ 94 w 94"/>
                <a:gd name="T53" fmla="*/ 50 h 104"/>
                <a:gd name="T54" fmla="*/ 92 w 94"/>
                <a:gd name="T55" fmla="*/ 66 h 104"/>
                <a:gd name="T56" fmla="*/ 88 w 94"/>
                <a:gd name="T57" fmla="*/ 79 h 104"/>
                <a:gd name="T58" fmla="*/ 80 w 94"/>
                <a:gd name="T59" fmla="*/ 89 h 104"/>
                <a:gd name="T60" fmla="*/ 70 w 94"/>
                <a:gd name="T61" fmla="*/ 97 h 104"/>
                <a:gd name="T62" fmla="*/ 58 w 94"/>
                <a:gd name="T63" fmla="*/ 102 h 104"/>
                <a:gd name="T64" fmla="*/ 45 w 94"/>
                <a:gd name="T65" fmla="*/ 104 h 104"/>
                <a:gd name="T66" fmla="*/ 31 w 94"/>
                <a:gd name="T67" fmla="*/ 102 h 104"/>
                <a:gd name="T68" fmla="*/ 20 w 94"/>
                <a:gd name="T69" fmla="*/ 97 h 104"/>
                <a:gd name="T70" fmla="*/ 11 w 94"/>
                <a:gd name="T71" fmla="*/ 90 h 104"/>
                <a:gd name="T72" fmla="*/ 5 w 94"/>
                <a:gd name="T73" fmla="*/ 80 h 104"/>
                <a:gd name="T74" fmla="*/ 1 w 94"/>
                <a:gd name="T75" fmla="*/ 67 h 104"/>
                <a:gd name="T76" fmla="*/ 0 w 94"/>
                <a:gd name="T77" fmla="*/ 53 h 104"/>
                <a:gd name="T78" fmla="*/ 2 w 94"/>
                <a:gd name="T79" fmla="*/ 37 h 104"/>
                <a:gd name="T80" fmla="*/ 7 w 94"/>
                <a:gd name="T81" fmla="*/ 24 h 104"/>
                <a:gd name="T82" fmla="*/ 14 w 94"/>
                <a:gd name="T83" fmla="*/ 14 h 104"/>
                <a:gd name="T84" fmla="*/ 24 w 94"/>
                <a:gd name="T85" fmla="*/ 6 h 104"/>
                <a:gd name="T86" fmla="*/ 36 w 94"/>
                <a:gd name="T87" fmla="*/ 1 h 104"/>
                <a:gd name="T88" fmla="*/ 49 w 94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4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0" y="51"/>
                  </a:lnTo>
                  <a:lnTo>
                    <a:pt x="21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7" y="84"/>
                  </a:lnTo>
                  <a:lnTo>
                    <a:pt x="47" y="86"/>
                  </a:lnTo>
                  <a:lnTo>
                    <a:pt x="54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2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8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1" y="1"/>
                  </a:lnTo>
                  <a:lnTo>
                    <a:pt x="72" y="5"/>
                  </a:lnTo>
                  <a:lnTo>
                    <a:pt x="81" y="12"/>
                  </a:lnTo>
                  <a:lnTo>
                    <a:pt x="88" y="22"/>
                  </a:lnTo>
                  <a:lnTo>
                    <a:pt x="93" y="34"/>
                  </a:lnTo>
                  <a:lnTo>
                    <a:pt x="94" y="50"/>
                  </a:lnTo>
                  <a:lnTo>
                    <a:pt x="92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8" y="102"/>
                  </a:lnTo>
                  <a:lnTo>
                    <a:pt x="45" y="104"/>
                  </a:lnTo>
                  <a:lnTo>
                    <a:pt x="31" y="102"/>
                  </a:lnTo>
                  <a:lnTo>
                    <a:pt x="20" y="97"/>
                  </a:lnTo>
                  <a:lnTo>
                    <a:pt x="11" y="90"/>
                  </a:lnTo>
                  <a:lnTo>
                    <a:pt x="5" y="80"/>
                  </a:lnTo>
                  <a:lnTo>
                    <a:pt x="1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4" y="14"/>
                  </a:lnTo>
                  <a:lnTo>
                    <a:pt x="24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2BF2FBD0-8400-6675-E82F-4B90633079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32637" y="2651964"/>
              <a:ext cx="56792" cy="80456"/>
            </a:xfrm>
            <a:custGeom>
              <a:avLst/>
              <a:gdLst>
                <a:gd name="T0" fmla="*/ 26 w 71"/>
                <a:gd name="T1" fmla="*/ 15 h 101"/>
                <a:gd name="T2" fmla="*/ 22 w 71"/>
                <a:gd name="T3" fmla="*/ 16 h 101"/>
                <a:gd name="T4" fmla="*/ 19 w 71"/>
                <a:gd name="T5" fmla="*/ 16 h 101"/>
                <a:gd name="T6" fmla="*/ 19 w 71"/>
                <a:gd name="T7" fmla="*/ 45 h 101"/>
                <a:gd name="T8" fmla="*/ 20 w 71"/>
                <a:gd name="T9" fmla="*/ 45 h 101"/>
                <a:gd name="T10" fmla="*/ 23 w 71"/>
                <a:gd name="T11" fmla="*/ 45 h 101"/>
                <a:gd name="T12" fmla="*/ 26 w 71"/>
                <a:gd name="T13" fmla="*/ 45 h 101"/>
                <a:gd name="T14" fmla="*/ 36 w 71"/>
                <a:gd name="T15" fmla="*/ 43 h 101"/>
                <a:gd name="T16" fmla="*/ 42 w 71"/>
                <a:gd name="T17" fmla="*/ 38 h 101"/>
                <a:gd name="T18" fmla="*/ 44 w 71"/>
                <a:gd name="T19" fmla="*/ 30 h 101"/>
                <a:gd name="T20" fmla="*/ 42 w 71"/>
                <a:gd name="T21" fmla="*/ 22 h 101"/>
                <a:gd name="T22" fmla="*/ 36 w 71"/>
                <a:gd name="T23" fmla="*/ 17 h 101"/>
                <a:gd name="T24" fmla="*/ 26 w 71"/>
                <a:gd name="T25" fmla="*/ 15 h 101"/>
                <a:gd name="T26" fmla="*/ 28 w 71"/>
                <a:gd name="T27" fmla="*/ 0 h 101"/>
                <a:gd name="T28" fmla="*/ 40 w 71"/>
                <a:gd name="T29" fmla="*/ 1 h 101"/>
                <a:gd name="T30" fmla="*/ 51 w 71"/>
                <a:gd name="T31" fmla="*/ 4 h 101"/>
                <a:gd name="T32" fmla="*/ 58 w 71"/>
                <a:gd name="T33" fmla="*/ 9 h 101"/>
                <a:gd name="T34" fmla="*/ 63 w 71"/>
                <a:gd name="T35" fmla="*/ 17 h 101"/>
                <a:gd name="T36" fmla="*/ 64 w 71"/>
                <a:gd name="T37" fmla="*/ 28 h 101"/>
                <a:gd name="T38" fmla="*/ 63 w 71"/>
                <a:gd name="T39" fmla="*/ 38 h 101"/>
                <a:gd name="T40" fmla="*/ 57 w 71"/>
                <a:gd name="T41" fmla="*/ 47 h 101"/>
                <a:gd name="T42" fmla="*/ 49 w 71"/>
                <a:gd name="T43" fmla="*/ 53 h 101"/>
                <a:gd name="T44" fmla="*/ 39 w 71"/>
                <a:gd name="T45" fmla="*/ 56 h 101"/>
                <a:gd name="T46" fmla="*/ 43 w 71"/>
                <a:gd name="T47" fmla="*/ 62 h 101"/>
                <a:gd name="T48" fmla="*/ 47 w 71"/>
                <a:gd name="T49" fmla="*/ 67 h 101"/>
                <a:gd name="T50" fmla="*/ 71 w 71"/>
                <a:gd name="T51" fmla="*/ 101 h 101"/>
                <a:gd name="T52" fmla="*/ 47 w 71"/>
                <a:gd name="T53" fmla="*/ 101 h 101"/>
                <a:gd name="T54" fmla="*/ 19 w 71"/>
                <a:gd name="T55" fmla="*/ 59 h 101"/>
                <a:gd name="T56" fmla="*/ 19 w 71"/>
                <a:gd name="T57" fmla="*/ 59 h 101"/>
                <a:gd name="T58" fmla="*/ 19 w 71"/>
                <a:gd name="T59" fmla="*/ 101 h 101"/>
                <a:gd name="T60" fmla="*/ 0 w 71"/>
                <a:gd name="T61" fmla="*/ 101 h 101"/>
                <a:gd name="T62" fmla="*/ 0 w 71"/>
                <a:gd name="T63" fmla="*/ 0 h 101"/>
                <a:gd name="T64" fmla="*/ 12 w 71"/>
                <a:gd name="T65" fmla="*/ 0 h 101"/>
                <a:gd name="T66" fmla="*/ 28 w 71"/>
                <a:gd name="T6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1" h="101">
                  <a:moveTo>
                    <a:pt x="26" y="15"/>
                  </a:moveTo>
                  <a:lnTo>
                    <a:pt x="22" y="16"/>
                  </a:lnTo>
                  <a:lnTo>
                    <a:pt x="19" y="16"/>
                  </a:lnTo>
                  <a:lnTo>
                    <a:pt x="19" y="45"/>
                  </a:lnTo>
                  <a:lnTo>
                    <a:pt x="20" y="45"/>
                  </a:lnTo>
                  <a:lnTo>
                    <a:pt x="23" y="45"/>
                  </a:lnTo>
                  <a:lnTo>
                    <a:pt x="26" y="45"/>
                  </a:lnTo>
                  <a:lnTo>
                    <a:pt x="36" y="43"/>
                  </a:lnTo>
                  <a:lnTo>
                    <a:pt x="42" y="38"/>
                  </a:lnTo>
                  <a:lnTo>
                    <a:pt x="44" y="30"/>
                  </a:lnTo>
                  <a:lnTo>
                    <a:pt x="42" y="22"/>
                  </a:lnTo>
                  <a:lnTo>
                    <a:pt x="36" y="17"/>
                  </a:lnTo>
                  <a:lnTo>
                    <a:pt x="26" y="15"/>
                  </a:lnTo>
                  <a:close/>
                  <a:moveTo>
                    <a:pt x="28" y="0"/>
                  </a:moveTo>
                  <a:lnTo>
                    <a:pt x="40" y="1"/>
                  </a:lnTo>
                  <a:lnTo>
                    <a:pt x="51" y="4"/>
                  </a:lnTo>
                  <a:lnTo>
                    <a:pt x="58" y="9"/>
                  </a:lnTo>
                  <a:lnTo>
                    <a:pt x="63" y="17"/>
                  </a:lnTo>
                  <a:lnTo>
                    <a:pt x="64" y="28"/>
                  </a:lnTo>
                  <a:lnTo>
                    <a:pt x="63" y="38"/>
                  </a:lnTo>
                  <a:lnTo>
                    <a:pt x="57" y="47"/>
                  </a:lnTo>
                  <a:lnTo>
                    <a:pt x="49" y="53"/>
                  </a:lnTo>
                  <a:lnTo>
                    <a:pt x="39" y="56"/>
                  </a:lnTo>
                  <a:lnTo>
                    <a:pt x="43" y="62"/>
                  </a:lnTo>
                  <a:lnTo>
                    <a:pt x="47" y="67"/>
                  </a:lnTo>
                  <a:lnTo>
                    <a:pt x="71" y="101"/>
                  </a:lnTo>
                  <a:lnTo>
                    <a:pt x="47" y="101"/>
                  </a:lnTo>
                  <a:lnTo>
                    <a:pt x="19" y="59"/>
                  </a:lnTo>
                  <a:lnTo>
                    <a:pt x="19" y="59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2" y="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62D30328-A51C-53FB-8209-564E27CAB2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3241" y="2651964"/>
              <a:ext cx="73357" cy="80456"/>
            </a:xfrm>
            <a:custGeom>
              <a:avLst/>
              <a:gdLst>
                <a:gd name="T0" fmla="*/ 47 w 95"/>
                <a:gd name="T1" fmla="*/ 17 h 104"/>
                <a:gd name="T2" fmla="*/ 39 w 95"/>
                <a:gd name="T3" fmla="*/ 18 h 104"/>
                <a:gd name="T4" fmla="*/ 32 w 95"/>
                <a:gd name="T5" fmla="*/ 22 h 104"/>
                <a:gd name="T6" fmla="*/ 26 w 95"/>
                <a:gd name="T7" fmla="*/ 29 h 104"/>
                <a:gd name="T8" fmla="*/ 22 w 95"/>
                <a:gd name="T9" fmla="*/ 39 h 104"/>
                <a:gd name="T10" fmla="*/ 21 w 95"/>
                <a:gd name="T11" fmla="*/ 51 h 104"/>
                <a:gd name="T12" fmla="*/ 22 w 95"/>
                <a:gd name="T13" fmla="*/ 63 h 104"/>
                <a:gd name="T14" fmla="*/ 25 w 95"/>
                <a:gd name="T15" fmla="*/ 72 h 104"/>
                <a:gd name="T16" fmla="*/ 30 w 95"/>
                <a:gd name="T17" fmla="*/ 80 h 104"/>
                <a:gd name="T18" fmla="*/ 38 w 95"/>
                <a:gd name="T19" fmla="*/ 84 h 104"/>
                <a:gd name="T20" fmla="*/ 47 w 95"/>
                <a:gd name="T21" fmla="*/ 86 h 104"/>
                <a:gd name="T22" fmla="*/ 55 w 95"/>
                <a:gd name="T23" fmla="*/ 85 h 104"/>
                <a:gd name="T24" fmla="*/ 62 w 95"/>
                <a:gd name="T25" fmla="*/ 81 h 104"/>
                <a:gd name="T26" fmla="*/ 68 w 95"/>
                <a:gd name="T27" fmla="*/ 74 h 104"/>
                <a:gd name="T28" fmla="*/ 73 w 95"/>
                <a:gd name="T29" fmla="*/ 65 h 104"/>
                <a:gd name="T30" fmla="*/ 74 w 95"/>
                <a:gd name="T31" fmla="*/ 52 h 104"/>
                <a:gd name="T32" fmla="*/ 72 w 95"/>
                <a:gd name="T33" fmla="*/ 37 h 104"/>
                <a:gd name="T34" fmla="*/ 67 w 95"/>
                <a:gd name="T35" fmla="*/ 26 h 104"/>
                <a:gd name="T36" fmla="*/ 59 w 95"/>
                <a:gd name="T37" fmla="*/ 19 h 104"/>
                <a:gd name="T38" fmla="*/ 47 w 95"/>
                <a:gd name="T39" fmla="*/ 17 h 104"/>
                <a:gd name="T40" fmla="*/ 49 w 95"/>
                <a:gd name="T41" fmla="*/ 0 h 104"/>
                <a:gd name="T42" fmla="*/ 62 w 95"/>
                <a:gd name="T43" fmla="*/ 1 h 104"/>
                <a:gd name="T44" fmla="*/ 73 w 95"/>
                <a:gd name="T45" fmla="*/ 5 h 104"/>
                <a:gd name="T46" fmla="*/ 82 w 95"/>
                <a:gd name="T47" fmla="*/ 12 h 104"/>
                <a:gd name="T48" fmla="*/ 89 w 95"/>
                <a:gd name="T49" fmla="*/ 22 h 104"/>
                <a:gd name="T50" fmla="*/ 93 w 95"/>
                <a:gd name="T51" fmla="*/ 34 h 104"/>
                <a:gd name="T52" fmla="*/ 95 w 95"/>
                <a:gd name="T53" fmla="*/ 50 h 104"/>
                <a:gd name="T54" fmla="*/ 93 w 95"/>
                <a:gd name="T55" fmla="*/ 66 h 104"/>
                <a:gd name="T56" fmla="*/ 88 w 95"/>
                <a:gd name="T57" fmla="*/ 79 h 104"/>
                <a:gd name="T58" fmla="*/ 80 w 95"/>
                <a:gd name="T59" fmla="*/ 89 h 104"/>
                <a:gd name="T60" fmla="*/ 70 w 95"/>
                <a:gd name="T61" fmla="*/ 97 h 104"/>
                <a:gd name="T62" fmla="*/ 59 w 95"/>
                <a:gd name="T63" fmla="*/ 102 h 104"/>
                <a:gd name="T64" fmla="*/ 46 w 95"/>
                <a:gd name="T65" fmla="*/ 104 h 104"/>
                <a:gd name="T66" fmla="*/ 32 w 95"/>
                <a:gd name="T67" fmla="*/ 102 h 104"/>
                <a:gd name="T68" fmla="*/ 20 w 95"/>
                <a:gd name="T69" fmla="*/ 97 h 104"/>
                <a:gd name="T70" fmla="*/ 12 w 95"/>
                <a:gd name="T71" fmla="*/ 90 h 104"/>
                <a:gd name="T72" fmla="*/ 5 w 95"/>
                <a:gd name="T73" fmla="*/ 80 h 104"/>
                <a:gd name="T74" fmla="*/ 2 w 95"/>
                <a:gd name="T75" fmla="*/ 67 h 104"/>
                <a:gd name="T76" fmla="*/ 0 w 95"/>
                <a:gd name="T77" fmla="*/ 53 h 104"/>
                <a:gd name="T78" fmla="*/ 2 w 95"/>
                <a:gd name="T79" fmla="*/ 37 h 104"/>
                <a:gd name="T80" fmla="*/ 7 w 95"/>
                <a:gd name="T81" fmla="*/ 24 h 104"/>
                <a:gd name="T82" fmla="*/ 15 w 95"/>
                <a:gd name="T83" fmla="*/ 14 h 104"/>
                <a:gd name="T84" fmla="*/ 25 w 95"/>
                <a:gd name="T85" fmla="*/ 6 h 104"/>
                <a:gd name="T86" fmla="*/ 36 w 95"/>
                <a:gd name="T87" fmla="*/ 1 h 104"/>
                <a:gd name="T88" fmla="*/ 49 w 95"/>
                <a:gd name="T89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5" h="104">
                  <a:moveTo>
                    <a:pt x="47" y="17"/>
                  </a:moveTo>
                  <a:lnTo>
                    <a:pt x="39" y="18"/>
                  </a:lnTo>
                  <a:lnTo>
                    <a:pt x="32" y="22"/>
                  </a:lnTo>
                  <a:lnTo>
                    <a:pt x="26" y="29"/>
                  </a:lnTo>
                  <a:lnTo>
                    <a:pt x="22" y="39"/>
                  </a:lnTo>
                  <a:lnTo>
                    <a:pt x="21" y="51"/>
                  </a:lnTo>
                  <a:lnTo>
                    <a:pt x="22" y="63"/>
                  </a:lnTo>
                  <a:lnTo>
                    <a:pt x="25" y="72"/>
                  </a:lnTo>
                  <a:lnTo>
                    <a:pt x="30" y="80"/>
                  </a:lnTo>
                  <a:lnTo>
                    <a:pt x="38" y="84"/>
                  </a:lnTo>
                  <a:lnTo>
                    <a:pt x="47" y="86"/>
                  </a:lnTo>
                  <a:lnTo>
                    <a:pt x="55" y="85"/>
                  </a:lnTo>
                  <a:lnTo>
                    <a:pt x="62" y="81"/>
                  </a:lnTo>
                  <a:lnTo>
                    <a:pt x="68" y="74"/>
                  </a:lnTo>
                  <a:lnTo>
                    <a:pt x="73" y="65"/>
                  </a:lnTo>
                  <a:lnTo>
                    <a:pt x="74" y="52"/>
                  </a:lnTo>
                  <a:lnTo>
                    <a:pt x="72" y="37"/>
                  </a:lnTo>
                  <a:lnTo>
                    <a:pt x="67" y="26"/>
                  </a:lnTo>
                  <a:lnTo>
                    <a:pt x="59" y="19"/>
                  </a:lnTo>
                  <a:lnTo>
                    <a:pt x="47" y="17"/>
                  </a:lnTo>
                  <a:close/>
                  <a:moveTo>
                    <a:pt x="49" y="0"/>
                  </a:moveTo>
                  <a:lnTo>
                    <a:pt x="62" y="1"/>
                  </a:lnTo>
                  <a:lnTo>
                    <a:pt x="73" y="5"/>
                  </a:lnTo>
                  <a:lnTo>
                    <a:pt x="82" y="12"/>
                  </a:lnTo>
                  <a:lnTo>
                    <a:pt x="89" y="22"/>
                  </a:lnTo>
                  <a:lnTo>
                    <a:pt x="93" y="34"/>
                  </a:lnTo>
                  <a:lnTo>
                    <a:pt x="95" y="50"/>
                  </a:lnTo>
                  <a:lnTo>
                    <a:pt x="93" y="66"/>
                  </a:lnTo>
                  <a:lnTo>
                    <a:pt x="88" y="79"/>
                  </a:lnTo>
                  <a:lnTo>
                    <a:pt x="80" y="89"/>
                  </a:lnTo>
                  <a:lnTo>
                    <a:pt x="70" y="97"/>
                  </a:lnTo>
                  <a:lnTo>
                    <a:pt x="59" y="102"/>
                  </a:lnTo>
                  <a:lnTo>
                    <a:pt x="46" y="104"/>
                  </a:lnTo>
                  <a:lnTo>
                    <a:pt x="32" y="102"/>
                  </a:lnTo>
                  <a:lnTo>
                    <a:pt x="20" y="97"/>
                  </a:lnTo>
                  <a:lnTo>
                    <a:pt x="12" y="90"/>
                  </a:lnTo>
                  <a:lnTo>
                    <a:pt x="5" y="80"/>
                  </a:lnTo>
                  <a:lnTo>
                    <a:pt x="2" y="67"/>
                  </a:lnTo>
                  <a:lnTo>
                    <a:pt x="0" y="53"/>
                  </a:lnTo>
                  <a:lnTo>
                    <a:pt x="2" y="37"/>
                  </a:lnTo>
                  <a:lnTo>
                    <a:pt x="7" y="24"/>
                  </a:lnTo>
                  <a:lnTo>
                    <a:pt x="15" y="14"/>
                  </a:lnTo>
                  <a:lnTo>
                    <a:pt x="25" y="6"/>
                  </a:lnTo>
                  <a:lnTo>
                    <a:pt x="36" y="1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FFD16D5B-931B-0128-A1A4-90E97E7BBD3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33162" y="2651964"/>
              <a:ext cx="56792" cy="80456"/>
            </a:xfrm>
            <a:custGeom>
              <a:avLst/>
              <a:gdLst>
                <a:gd name="T0" fmla="*/ 27 w 72"/>
                <a:gd name="T1" fmla="*/ 15 h 101"/>
                <a:gd name="T2" fmla="*/ 23 w 72"/>
                <a:gd name="T3" fmla="*/ 16 h 101"/>
                <a:gd name="T4" fmla="*/ 19 w 72"/>
                <a:gd name="T5" fmla="*/ 16 h 101"/>
                <a:gd name="T6" fmla="*/ 19 w 72"/>
                <a:gd name="T7" fmla="*/ 45 h 101"/>
                <a:gd name="T8" fmla="*/ 22 w 72"/>
                <a:gd name="T9" fmla="*/ 45 h 101"/>
                <a:gd name="T10" fmla="*/ 26 w 72"/>
                <a:gd name="T11" fmla="*/ 45 h 101"/>
                <a:gd name="T12" fmla="*/ 36 w 72"/>
                <a:gd name="T13" fmla="*/ 43 h 101"/>
                <a:gd name="T14" fmla="*/ 42 w 72"/>
                <a:gd name="T15" fmla="*/ 38 h 101"/>
                <a:gd name="T16" fmla="*/ 45 w 72"/>
                <a:gd name="T17" fmla="*/ 30 h 101"/>
                <a:gd name="T18" fmla="*/ 43 w 72"/>
                <a:gd name="T19" fmla="*/ 22 h 101"/>
                <a:gd name="T20" fmla="*/ 37 w 72"/>
                <a:gd name="T21" fmla="*/ 17 h 101"/>
                <a:gd name="T22" fmla="*/ 27 w 72"/>
                <a:gd name="T23" fmla="*/ 15 h 101"/>
                <a:gd name="T24" fmla="*/ 29 w 72"/>
                <a:gd name="T25" fmla="*/ 0 h 101"/>
                <a:gd name="T26" fmla="*/ 41 w 72"/>
                <a:gd name="T27" fmla="*/ 1 h 101"/>
                <a:gd name="T28" fmla="*/ 51 w 72"/>
                <a:gd name="T29" fmla="*/ 4 h 101"/>
                <a:gd name="T30" fmla="*/ 58 w 72"/>
                <a:gd name="T31" fmla="*/ 9 h 101"/>
                <a:gd name="T32" fmla="*/ 63 w 72"/>
                <a:gd name="T33" fmla="*/ 17 h 101"/>
                <a:gd name="T34" fmla="*/ 65 w 72"/>
                <a:gd name="T35" fmla="*/ 28 h 101"/>
                <a:gd name="T36" fmla="*/ 63 w 72"/>
                <a:gd name="T37" fmla="*/ 38 h 101"/>
                <a:gd name="T38" fmla="*/ 58 w 72"/>
                <a:gd name="T39" fmla="*/ 47 h 101"/>
                <a:gd name="T40" fmla="*/ 50 w 72"/>
                <a:gd name="T41" fmla="*/ 53 h 101"/>
                <a:gd name="T42" fmla="*/ 39 w 72"/>
                <a:gd name="T43" fmla="*/ 56 h 101"/>
                <a:gd name="T44" fmla="*/ 44 w 72"/>
                <a:gd name="T45" fmla="*/ 62 h 101"/>
                <a:gd name="T46" fmla="*/ 48 w 72"/>
                <a:gd name="T47" fmla="*/ 67 h 101"/>
                <a:gd name="T48" fmla="*/ 72 w 72"/>
                <a:gd name="T49" fmla="*/ 101 h 101"/>
                <a:gd name="T50" fmla="*/ 48 w 72"/>
                <a:gd name="T51" fmla="*/ 101 h 101"/>
                <a:gd name="T52" fmla="*/ 20 w 72"/>
                <a:gd name="T53" fmla="*/ 59 h 101"/>
                <a:gd name="T54" fmla="*/ 19 w 72"/>
                <a:gd name="T55" fmla="*/ 59 h 101"/>
                <a:gd name="T56" fmla="*/ 19 w 72"/>
                <a:gd name="T57" fmla="*/ 101 h 101"/>
                <a:gd name="T58" fmla="*/ 0 w 72"/>
                <a:gd name="T59" fmla="*/ 101 h 101"/>
                <a:gd name="T60" fmla="*/ 0 w 72"/>
                <a:gd name="T61" fmla="*/ 0 h 101"/>
                <a:gd name="T62" fmla="*/ 13 w 72"/>
                <a:gd name="T63" fmla="*/ 0 h 101"/>
                <a:gd name="T64" fmla="*/ 29 w 72"/>
                <a:gd name="T65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" h="101">
                  <a:moveTo>
                    <a:pt x="27" y="15"/>
                  </a:moveTo>
                  <a:lnTo>
                    <a:pt x="23" y="16"/>
                  </a:lnTo>
                  <a:lnTo>
                    <a:pt x="19" y="16"/>
                  </a:lnTo>
                  <a:lnTo>
                    <a:pt x="19" y="45"/>
                  </a:lnTo>
                  <a:lnTo>
                    <a:pt x="22" y="45"/>
                  </a:lnTo>
                  <a:lnTo>
                    <a:pt x="26" y="45"/>
                  </a:lnTo>
                  <a:lnTo>
                    <a:pt x="36" y="43"/>
                  </a:lnTo>
                  <a:lnTo>
                    <a:pt x="42" y="38"/>
                  </a:lnTo>
                  <a:lnTo>
                    <a:pt x="45" y="30"/>
                  </a:lnTo>
                  <a:lnTo>
                    <a:pt x="43" y="22"/>
                  </a:lnTo>
                  <a:lnTo>
                    <a:pt x="37" y="17"/>
                  </a:lnTo>
                  <a:lnTo>
                    <a:pt x="27" y="15"/>
                  </a:lnTo>
                  <a:close/>
                  <a:moveTo>
                    <a:pt x="29" y="0"/>
                  </a:moveTo>
                  <a:lnTo>
                    <a:pt x="41" y="1"/>
                  </a:lnTo>
                  <a:lnTo>
                    <a:pt x="51" y="4"/>
                  </a:lnTo>
                  <a:lnTo>
                    <a:pt x="58" y="9"/>
                  </a:lnTo>
                  <a:lnTo>
                    <a:pt x="63" y="17"/>
                  </a:lnTo>
                  <a:lnTo>
                    <a:pt x="65" y="28"/>
                  </a:lnTo>
                  <a:lnTo>
                    <a:pt x="63" y="38"/>
                  </a:lnTo>
                  <a:lnTo>
                    <a:pt x="58" y="47"/>
                  </a:lnTo>
                  <a:lnTo>
                    <a:pt x="50" y="53"/>
                  </a:lnTo>
                  <a:lnTo>
                    <a:pt x="39" y="56"/>
                  </a:lnTo>
                  <a:lnTo>
                    <a:pt x="44" y="62"/>
                  </a:lnTo>
                  <a:lnTo>
                    <a:pt x="48" y="67"/>
                  </a:lnTo>
                  <a:lnTo>
                    <a:pt x="72" y="101"/>
                  </a:lnTo>
                  <a:lnTo>
                    <a:pt x="48" y="101"/>
                  </a:lnTo>
                  <a:lnTo>
                    <a:pt x="20" y="59"/>
                  </a:lnTo>
                  <a:lnTo>
                    <a:pt x="19" y="59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0" y="0"/>
                  </a:lnTo>
                  <a:lnTo>
                    <a:pt x="13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82876C20-FE73-31D0-67F2-EB7917ABD7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601261" y="2651964"/>
              <a:ext cx="70990" cy="80456"/>
            </a:xfrm>
            <a:custGeom>
              <a:avLst/>
              <a:gdLst>
                <a:gd name="T0" fmla="*/ 45 w 92"/>
                <a:gd name="T1" fmla="*/ 22 h 101"/>
                <a:gd name="T2" fmla="*/ 40 w 92"/>
                <a:gd name="T3" fmla="*/ 39 h 101"/>
                <a:gd name="T4" fmla="*/ 31 w 92"/>
                <a:gd name="T5" fmla="*/ 65 h 101"/>
                <a:gd name="T6" fmla="*/ 59 w 92"/>
                <a:gd name="T7" fmla="*/ 65 h 101"/>
                <a:gd name="T8" fmla="*/ 50 w 92"/>
                <a:gd name="T9" fmla="*/ 39 h 101"/>
                <a:gd name="T10" fmla="*/ 45 w 92"/>
                <a:gd name="T11" fmla="*/ 22 h 101"/>
                <a:gd name="T12" fmla="*/ 45 w 92"/>
                <a:gd name="T13" fmla="*/ 22 h 101"/>
                <a:gd name="T14" fmla="*/ 35 w 92"/>
                <a:gd name="T15" fmla="*/ 0 h 101"/>
                <a:gd name="T16" fmla="*/ 57 w 92"/>
                <a:gd name="T17" fmla="*/ 0 h 101"/>
                <a:gd name="T18" fmla="*/ 92 w 92"/>
                <a:gd name="T19" fmla="*/ 101 h 101"/>
                <a:gd name="T20" fmla="*/ 71 w 92"/>
                <a:gd name="T21" fmla="*/ 101 h 101"/>
                <a:gd name="T22" fmla="*/ 64 w 92"/>
                <a:gd name="T23" fmla="*/ 80 h 101"/>
                <a:gd name="T24" fmla="*/ 26 w 92"/>
                <a:gd name="T25" fmla="*/ 80 h 101"/>
                <a:gd name="T26" fmla="*/ 19 w 92"/>
                <a:gd name="T27" fmla="*/ 101 h 101"/>
                <a:gd name="T28" fmla="*/ 0 w 92"/>
                <a:gd name="T29" fmla="*/ 101 h 101"/>
                <a:gd name="T30" fmla="*/ 35 w 92"/>
                <a:gd name="T31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2" h="101">
                  <a:moveTo>
                    <a:pt x="45" y="22"/>
                  </a:moveTo>
                  <a:lnTo>
                    <a:pt x="40" y="39"/>
                  </a:lnTo>
                  <a:lnTo>
                    <a:pt x="31" y="65"/>
                  </a:lnTo>
                  <a:lnTo>
                    <a:pt x="59" y="65"/>
                  </a:lnTo>
                  <a:lnTo>
                    <a:pt x="50" y="39"/>
                  </a:lnTo>
                  <a:lnTo>
                    <a:pt x="45" y="22"/>
                  </a:lnTo>
                  <a:lnTo>
                    <a:pt x="45" y="22"/>
                  </a:lnTo>
                  <a:close/>
                  <a:moveTo>
                    <a:pt x="35" y="0"/>
                  </a:moveTo>
                  <a:lnTo>
                    <a:pt x="57" y="0"/>
                  </a:lnTo>
                  <a:lnTo>
                    <a:pt x="92" y="101"/>
                  </a:lnTo>
                  <a:lnTo>
                    <a:pt x="71" y="101"/>
                  </a:lnTo>
                  <a:lnTo>
                    <a:pt x="64" y="80"/>
                  </a:lnTo>
                  <a:lnTo>
                    <a:pt x="26" y="80"/>
                  </a:lnTo>
                  <a:lnTo>
                    <a:pt x="19" y="101"/>
                  </a:lnTo>
                  <a:lnTo>
                    <a:pt x="0" y="10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CFFAEC3-759A-B591-0853-1280BD83E4FD}"/>
                </a:ext>
              </a:extLst>
            </p:cNvPr>
            <p:cNvSpPr>
              <a:spLocks/>
            </p:cNvSpPr>
            <p:nvPr/>
          </p:nvSpPr>
          <p:spPr bwMode="auto">
            <a:xfrm>
              <a:off x="2676984" y="2651964"/>
              <a:ext cx="56792" cy="80456"/>
            </a:xfrm>
            <a:custGeom>
              <a:avLst/>
              <a:gdLst>
                <a:gd name="T0" fmla="*/ 0 w 71"/>
                <a:gd name="T1" fmla="*/ 0 h 101"/>
                <a:gd name="T2" fmla="*/ 71 w 71"/>
                <a:gd name="T3" fmla="*/ 0 h 101"/>
                <a:gd name="T4" fmla="*/ 71 w 71"/>
                <a:gd name="T5" fmla="*/ 17 h 101"/>
                <a:gd name="T6" fmla="*/ 45 w 71"/>
                <a:gd name="T7" fmla="*/ 17 h 101"/>
                <a:gd name="T8" fmla="*/ 45 w 71"/>
                <a:gd name="T9" fmla="*/ 101 h 101"/>
                <a:gd name="T10" fmla="*/ 25 w 71"/>
                <a:gd name="T11" fmla="*/ 101 h 101"/>
                <a:gd name="T12" fmla="*/ 25 w 71"/>
                <a:gd name="T13" fmla="*/ 17 h 101"/>
                <a:gd name="T14" fmla="*/ 0 w 71"/>
                <a:gd name="T15" fmla="*/ 17 h 101"/>
                <a:gd name="T16" fmla="*/ 0 w 71"/>
                <a:gd name="T1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101">
                  <a:moveTo>
                    <a:pt x="0" y="0"/>
                  </a:moveTo>
                  <a:lnTo>
                    <a:pt x="71" y="0"/>
                  </a:lnTo>
                  <a:lnTo>
                    <a:pt x="71" y="17"/>
                  </a:lnTo>
                  <a:lnTo>
                    <a:pt x="45" y="17"/>
                  </a:lnTo>
                  <a:lnTo>
                    <a:pt x="45" y="101"/>
                  </a:lnTo>
                  <a:lnTo>
                    <a:pt x="25" y="101"/>
                  </a:lnTo>
                  <a:lnTo>
                    <a:pt x="25" y="17"/>
                  </a:lnTo>
                  <a:lnTo>
                    <a:pt x="0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22D4BAB-F924-B047-CC79-84D28251572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9420" y="2651964"/>
              <a:ext cx="66258" cy="80456"/>
            </a:xfrm>
            <a:custGeom>
              <a:avLst/>
              <a:gdLst>
                <a:gd name="T0" fmla="*/ 0 w 83"/>
                <a:gd name="T1" fmla="*/ 0 h 101"/>
                <a:gd name="T2" fmla="*/ 21 w 83"/>
                <a:gd name="T3" fmla="*/ 0 h 101"/>
                <a:gd name="T4" fmla="*/ 34 w 83"/>
                <a:gd name="T5" fmla="*/ 29 h 101"/>
                <a:gd name="T6" fmla="*/ 41 w 83"/>
                <a:gd name="T7" fmla="*/ 46 h 101"/>
                <a:gd name="T8" fmla="*/ 41 w 83"/>
                <a:gd name="T9" fmla="*/ 46 h 101"/>
                <a:gd name="T10" fmla="*/ 45 w 83"/>
                <a:gd name="T11" fmla="*/ 37 h 101"/>
                <a:gd name="T12" fmla="*/ 49 w 83"/>
                <a:gd name="T13" fmla="*/ 27 h 101"/>
                <a:gd name="T14" fmla="*/ 62 w 83"/>
                <a:gd name="T15" fmla="*/ 0 h 101"/>
                <a:gd name="T16" fmla="*/ 83 w 83"/>
                <a:gd name="T17" fmla="*/ 0 h 101"/>
                <a:gd name="T18" fmla="*/ 50 w 83"/>
                <a:gd name="T19" fmla="*/ 65 h 101"/>
                <a:gd name="T20" fmla="*/ 50 w 83"/>
                <a:gd name="T21" fmla="*/ 101 h 101"/>
                <a:gd name="T22" fmla="*/ 31 w 83"/>
                <a:gd name="T23" fmla="*/ 101 h 101"/>
                <a:gd name="T24" fmla="*/ 31 w 83"/>
                <a:gd name="T25" fmla="*/ 65 h 101"/>
                <a:gd name="T26" fmla="*/ 0 w 83"/>
                <a:gd name="T27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3" h="101">
                  <a:moveTo>
                    <a:pt x="0" y="0"/>
                  </a:moveTo>
                  <a:lnTo>
                    <a:pt x="21" y="0"/>
                  </a:lnTo>
                  <a:lnTo>
                    <a:pt x="34" y="29"/>
                  </a:lnTo>
                  <a:lnTo>
                    <a:pt x="41" y="46"/>
                  </a:lnTo>
                  <a:lnTo>
                    <a:pt x="41" y="46"/>
                  </a:lnTo>
                  <a:lnTo>
                    <a:pt x="45" y="37"/>
                  </a:lnTo>
                  <a:lnTo>
                    <a:pt x="49" y="27"/>
                  </a:lnTo>
                  <a:lnTo>
                    <a:pt x="62" y="0"/>
                  </a:lnTo>
                  <a:lnTo>
                    <a:pt x="83" y="0"/>
                  </a:lnTo>
                  <a:lnTo>
                    <a:pt x="50" y="65"/>
                  </a:lnTo>
                  <a:lnTo>
                    <a:pt x="50" y="101"/>
                  </a:lnTo>
                  <a:lnTo>
                    <a:pt x="31" y="101"/>
                  </a:lnTo>
                  <a:lnTo>
                    <a:pt x="31" y="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EA1F35CF-3769-19E3-4BF1-534257665F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21159" y="2249686"/>
              <a:ext cx="272129" cy="312357"/>
            </a:xfrm>
            <a:custGeom>
              <a:avLst/>
              <a:gdLst>
                <a:gd name="T0" fmla="*/ 170 w 345"/>
                <a:gd name="T1" fmla="*/ 48 h 398"/>
                <a:gd name="T2" fmla="*/ 162 w 345"/>
                <a:gd name="T3" fmla="*/ 77 h 398"/>
                <a:gd name="T4" fmla="*/ 152 w 345"/>
                <a:gd name="T5" fmla="*/ 106 h 398"/>
                <a:gd name="T6" fmla="*/ 95 w 345"/>
                <a:gd name="T7" fmla="*/ 264 h 398"/>
                <a:gd name="T8" fmla="*/ 246 w 345"/>
                <a:gd name="T9" fmla="*/ 264 h 398"/>
                <a:gd name="T10" fmla="*/ 189 w 345"/>
                <a:gd name="T11" fmla="*/ 107 h 398"/>
                <a:gd name="T12" fmla="*/ 179 w 345"/>
                <a:gd name="T13" fmla="*/ 78 h 398"/>
                <a:gd name="T14" fmla="*/ 171 w 345"/>
                <a:gd name="T15" fmla="*/ 48 h 398"/>
                <a:gd name="T16" fmla="*/ 170 w 345"/>
                <a:gd name="T17" fmla="*/ 48 h 398"/>
                <a:gd name="T18" fmla="*/ 148 w 345"/>
                <a:gd name="T19" fmla="*/ 0 h 398"/>
                <a:gd name="T20" fmla="*/ 197 w 345"/>
                <a:gd name="T21" fmla="*/ 0 h 398"/>
                <a:gd name="T22" fmla="*/ 345 w 345"/>
                <a:gd name="T23" fmla="*/ 398 h 398"/>
                <a:gd name="T24" fmla="*/ 293 w 345"/>
                <a:gd name="T25" fmla="*/ 398 h 398"/>
                <a:gd name="T26" fmla="*/ 259 w 345"/>
                <a:gd name="T27" fmla="*/ 300 h 398"/>
                <a:gd name="T28" fmla="*/ 81 w 345"/>
                <a:gd name="T29" fmla="*/ 300 h 398"/>
                <a:gd name="T30" fmla="*/ 46 w 345"/>
                <a:gd name="T31" fmla="*/ 398 h 398"/>
                <a:gd name="T32" fmla="*/ 0 w 345"/>
                <a:gd name="T33" fmla="*/ 398 h 398"/>
                <a:gd name="T34" fmla="*/ 148 w 345"/>
                <a:gd name="T35" fmla="*/ 0 h 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45" h="398">
                  <a:moveTo>
                    <a:pt x="170" y="48"/>
                  </a:moveTo>
                  <a:lnTo>
                    <a:pt x="162" y="77"/>
                  </a:lnTo>
                  <a:lnTo>
                    <a:pt x="152" y="106"/>
                  </a:lnTo>
                  <a:lnTo>
                    <a:pt x="95" y="264"/>
                  </a:lnTo>
                  <a:lnTo>
                    <a:pt x="246" y="264"/>
                  </a:lnTo>
                  <a:lnTo>
                    <a:pt x="189" y="107"/>
                  </a:lnTo>
                  <a:lnTo>
                    <a:pt x="179" y="78"/>
                  </a:lnTo>
                  <a:lnTo>
                    <a:pt x="171" y="48"/>
                  </a:lnTo>
                  <a:lnTo>
                    <a:pt x="170" y="48"/>
                  </a:lnTo>
                  <a:close/>
                  <a:moveTo>
                    <a:pt x="148" y="0"/>
                  </a:moveTo>
                  <a:lnTo>
                    <a:pt x="197" y="0"/>
                  </a:lnTo>
                  <a:lnTo>
                    <a:pt x="345" y="398"/>
                  </a:lnTo>
                  <a:lnTo>
                    <a:pt x="293" y="398"/>
                  </a:lnTo>
                  <a:lnTo>
                    <a:pt x="259" y="300"/>
                  </a:lnTo>
                  <a:lnTo>
                    <a:pt x="81" y="300"/>
                  </a:lnTo>
                  <a:lnTo>
                    <a:pt x="46" y="398"/>
                  </a:lnTo>
                  <a:lnTo>
                    <a:pt x="0" y="398"/>
                  </a:lnTo>
                  <a:lnTo>
                    <a:pt x="14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5CC2208-1754-ACCD-8285-B18BC94796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4050" y="2327776"/>
              <a:ext cx="111218" cy="234268"/>
            </a:xfrm>
            <a:custGeom>
              <a:avLst/>
              <a:gdLst>
                <a:gd name="T0" fmla="*/ 119 w 141"/>
                <a:gd name="T1" fmla="*/ 0 h 299"/>
                <a:gd name="T2" fmla="*/ 141 w 141"/>
                <a:gd name="T3" fmla="*/ 0 h 299"/>
                <a:gd name="T4" fmla="*/ 139 w 141"/>
                <a:gd name="T5" fmla="*/ 44 h 299"/>
                <a:gd name="T6" fmla="*/ 119 w 141"/>
                <a:gd name="T7" fmla="*/ 42 h 299"/>
                <a:gd name="T8" fmla="*/ 101 w 141"/>
                <a:gd name="T9" fmla="*/ 45 h 299"/>
                <a:gd name="T10" fmla="*/ 86 w 141"/>
                <a:gd name="T11" fmla="*/ 53 h 299"/>
                <a:gd name="T12" fmla="*/ 73 w 141"/>
                <a:gd name="T13" fmla="*/ 64 h 299"/>
                <a:gd name="T14" fmla="*/ 62 w 141"/>
                <a:gd name="T15" fmla="*/ 79 h 299"/>
                <a:gd name="T16" fmla="*/ 54 w 141"/>
                <a:gd name="T17" fmla="*/ 99 h 299"/>
                <a:gd name="T18" fmla="*/ 48 w 141"/>
                <a:gd name="T19" fmla="*/ 123 h 299"/>
                <a:gd name="T20" fmla="*/ 45 w 141"/>
                <a:gd name="T21" fmla="*/ 151 h 299"/>
                <a:gd name="T22" fmla="*/ 44 w 141"/>
                <a:gd name="T23" fmla="*/ 182 h 299"/>
                <a:gd name="T24" fmla="*/ 44 w 141"/>
                <a:gd name="T25" fmla="*/ 299 h 299"/>
                <a:gd name="T26" fmla="*/ 0 w 141"/>
                <a:gd name="T27" fmla="*/ 299 h 299"/>
                <a:gd name="T28" fmla="*/ 0 w 141"/>
                <a:gd name="T29" fmla="*/ 5 h 299"/>
                <a:gd name="T30" fmla="*/ 43 w 141"/>
                <a:gd name="T31" fmla="*/ 5 h 299"/>
                <a:gd name="T32" fmla="*/ 43 w 141"/>
                <a:gd name="T33" fmla="*/ 27 h 299"/>
                <a:gd name="T34" fmla="*/ 40 w 141"/>
                <a:gd name="T35" fmla="*/ 53 h 299"/>
                <a:gd name="T36" fmla="*/ 37 w 141"/>
                <a:gd name="T37" fmla="*/ 79 h 299"/>
                <a:gd name="T38" fmla="*/ 37 w 141"/>
                <a:gd name="T39" fmla="*/ 79 h 299"/>
                <a:gd name="T40" fmla="*/ 43 w 141"/>
                <a:gd name="T41" fmla="*/ 63 h 299"/>
                <a:gd name="T42" fmla="*/ 50 w 141"/>
                <a:gd name="T43" fmla="*/ 48 h 299"/>
                <a:gd name="T44" fmla="*/ 59 w 141"/>
                <a:gd name="T45" fmla="*/ 34 h 299"/>
                <a:gd name="T46" fmla="*/ 71 w 141"/>
                <a:gd name="T47" fmla="*/ 21 h 299"/>
                <a:gd name="T48" fmla="*/ 84 w 141"/>
                <a:gd name="T49" fmla="*/ 11 h 299"/>
                <a:gd name="T50" fmla="*/ 101 w 141"/>
                <a:gd name="T51" fmla="*/ 3 h 299"/>
                <a:gd name="T52" fmla="*/ 119 w 141"/>
                <a:gd name="T53" fmla="*/ 0 h 2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41" h="299">
                  <a:moveTo>
                    <a:pt x="119" y="0"/>
                  </a:moveTo>
                  <a:lnTo>
                    <a:pt x="141" y="0"/>
                  </a:lnTo>
                  <a:lnTo>
                    <a:pt x="139" y="44"/>
                  </a:lnTo>
                  <a:lnTo>
                    <a:pt x="119" y="42"/>
                  </a:lnTo>
                  <a:lnTo>
                    <a:pt x="101" y="45"/>
                  </a:lnTo>
                  <a:lnTo>
                    <a:pt x="86" y="53"/>
                  </a:lnTo>
                  <a:lnTo>
                    <a:pt x="73" y="64"/>
                  </a:lnTo>
                  <a:lnTo>
                    <a:pt x="62" y="79"/>
                  </a:lnTo>
                  <a:lnTo>
                    <a:pt x="54" y="99"/>
                  </a:lnTo>
                  <a:lnTo>
                    <a:pt x="48" y="123"/>
                  </a:lnTo>
                  <a:lnTo>
                    <a:pt x="45" y="151"/>
                  </a:lnTo>
                  <a:lnTo>
                    <a:pt x="44" y="182"/>
                  </a:lnTo>
                  <a:lnTo>
                    <a:pt x="44" y="299"/>
                  </a:lnTo>
                  <a:lnTo>
                    <a:pt x="0" y="299"/>
                  </a:lnTo>
                  <a:lnTo>
                    <a:pt x="0" y="5"/>
                  </a:lnTo>
                  <a:lnTo>
                    <a:pt x="43" y="5"/>
                  </a:lnTo>
                  <a:lnTo>
                    <a:pt x="43" y="27"/>
                  </a:lnTo>
                  <a:lnTo>
                    <a:pt x="40" y="53"/>
                  </a:lnTo>
                  <a:lnTo>
                    <a:pt x="37" y="79"/>
                  </a:lnTo>
                  <a:lnTo>
                    <a:pt x="37" y="79"/>
                  </a:lnTo>
                  <a:lnTo>
                    <a:pt x="43" y="63"/>
                  </a:lnTo>
                  <a:lnTo>
                    <a:pt x="50" y="48"/>
                  </a:lnTo>
                  <a:lnTo>
                    <a:pt x="59" y="34"/>
                  </a:lnTo>
                  <a:lnTo>
                    <a:pt x="71" y="21"/>
                  </a:lnTo>
                  <a:lnTo>
                    <a:pt x="84" y="11"/>
                  </a:lnTo>
                  <a:lnTo>
                    <a:pt x="101" y="3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BB7587BD-FD32-E10C-E06B-69806FAF85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44734" y="2327776"/>
              <a:ext cx="222436" cy="357317"/>
            </a:xfrm>
            <a:custGeom>
              <a:avLst/>
              <a:gdLst>
                <a:gd name="T0" fmla="*/ 56 w 282"/>
                <a:gd name="T1" fmla="*/ 325 h 453"/>
                <a:gd name="T2" fmla="*/ 47 w 282"/>
                <a:gd name="T3" fmla="*/ 375 h 453"/>
                <a:gd name="T4" fmla="*/ 76 w 282"/>
                <a:gd name="T5" fmla="*/ 406 h 453"/>
                <a:gd name="T6" fmla="*/ 131 w 282"/>
                <a:gd name="T7" fmla="*/ 417 h 453"/>
                <a:gd name="T8" fmla="*/ 198 w 282"/>
                <a:gd name="T9" fmla="*/ 403 h 453"/>
                <a:gd name="T10" fmla="*/ 230 w 282"/>
                <a:gd name="T11" fmla="*/ 367 h 453"/>
                <a:gd name="T12" fmla="*/ 225 w 282"/>
                <a:gd name="T13" fmla="*/ 323 h 453"/>
                <a:gd name="T14" fmla="*/ 186 w 282"/>
                <a:gd name="T15" fmla="*/ 302 h 453"/>
                <a:gd name="T16" fmla="*/ 95 w 282"/>
                <a:gd name="T17" fmla="*/ 300 h 453"/>
                <a:gd name="T18" fmla="*/ 116 w 282"/>
                <a:gd name="T19" fmla="*/ 36 h 453"/>
                <a:gd name="T20" fmla="*/ 70 w 282"/>
                <a:gd name="T21" fmla="*/ 61 h 453"/>
                <a:gd name="T22" fmla="*/ 54 w 282"/>
                <a:gd name="T23" fmla="*/ 109 h 453"/>
                <a:gd name="T24" fmla="*/ 70 w 282"/>
                <a:gd name="T25" fmla="*/ 158 h 453"/>
                <a:gd name="T26" fmla="*/ 114 w 282"/>
                <a:gd name="T27" fmla="*/ 181 h 453"/>
                <a:gd name="T28" fmla="*/ 170 w 282"/>
                <a:gd name="T29" fmla="*/ 176 h 453"/>
                <a:gd name="T30" fmla="*/ 206 w 282"/>
                <a:gd name="T31" fmla="*/ 144 h 453"/>
                <a:gd name="T32" fmla="*/ 211 w 282"/>
                <a:gd name="T33" fmla="*/ 89 h 453"/>
                <a:gd name="T34" fmla="*/ 186 w 282"/>
                <a:gd name="T35" fmla="*/ 48 h 453"/>
                <a:gd name="T36" fmla="*/ 136 w 282"/>
                <a:gd name="T37" fmla="*/ 34 h 453"/>
                <a:gd name="T38" fmla="*/ 168 w 282"/>
                <a:gd name="T39" fmla="*/ 2 h 453"/>
                <a:gd name="T40" fmla="*/ 192 w 282"/>
                <a:gd name="T41" fmla="*/ 4 h 453"/>
                <a:gd name="T42" fmla="*/ 218 w 282"/>
                <a:gd name="T43" fmla="*/ 5 h 453"/>
                <a:gd name="T44" fmla="*/ 247 w 282"/>
                <a:gd name="T45" fmla="*/ 40 h 453"/>
                <a:gd name="T46" fmla="*/ 230 w 282"/>
                <a:gd name="T47" fmla="*/ 39 h 453"/>
                <a:gd name="T48" fmla="*/ 229 w 282"/>
                <a:gd name="T49" fmla="*/ 40 h 453"/>
                <a:gd name="T50" fmla="*/ 255 w 282"/>
                <a:gd name="T51" fmla="*/ 84 h 453"/>
                <a:gd name="T52" fmla="*/ 251 w 282"/>
                <a:gd name="T53" fmla="*/ 144 h 453"/>
                <a:gd name="T54" fmla="*/ 218 w 282"/>
                <a:gd name="T55" fmla="*/ 190 h 453"/>
                <a:gd name="T56" fmla="*/ 157 w 282"/>
                <a:gd name="T57" fmla="*/ 213 h 453"/>
                <a:gd name="T58" fmla="*/ 101 w 282"/>
                <a:gd name="T59" fmla="*/ 213 h 453"/>
                <a:gd name="T60" fmla="*/ 73 w 282"/>
                <a:gd name="T61" fmla="*/ 222 h 453"/>
                <a:gd name="T62" fmla="*/ 69 w 282"/>
                <a:gd name="T63" fmla="*/ 246 h 453"/>
                <a:gd name="T64" fmla="*/ 101 w 282"/>
                <a:gd name="T65" fmla="*/ 261 h 453"/>
                <a:gd name="T66" fmla="*/ 204 w 282"/>
                <a:gd name="T67" fmla="*/ 264 h 453"/>
                <a:gd name="T68" fmla="*/ 258 w 282"/>
                <a:gd name="T69" fmla="*/ 291 h 453"/>
                <a:gd name="T70" fmla="*/ 276 w 282"/>
                <a:gd name="T71" fmla="*/ 344 h 453"/>
                <a:gd name="T72" fmla="*/ 252 w 282"/>
                <a:gd name="T73" fmla="*/ 407 h 453"/>
                <a:gd name="T74" fmla="*/ 185 w 282"/>
                <a:gd name="T75" fmla="*/ 445 h 453"/>
                <a:gd name="T76" fmla="*/ 95 w 282"/>
                <a:gd name="T77" fmla="*/ 452 h 453"/>
                <a:gd name="T78" fmla="*/ 33 w 282"/>
                <a:gd name="T79" fmla="*/ 431 h 453"/>
                <a:gd name="T80" fmla="*/ 2 w 282"/>
                <a:gd name="T81" fmla="*/ 387 h 453"/>
                <a:gd name="T82" fmla="*/ 10 w 282"/>
                <a:gd name="T83" fmla="*/ 327 h 453"/>
                <a:gd name="T84" fmla="*/ 51 w 282"/>
                <a:gd name="T85" fmla="*/ 289 h 453"/>
                <a:gd name="T86" fmla="*/ 23 w 282"/>
                <a:gd name="T87" fmla="*/ 260 h 453"/>
                <a:gd name="T88" fmla="*/ 30 w 282"/>
                <a:gd name="T89" fmla="*/ 218 h 453"/>
                <a:gd name="T90" fmla="*/ 38 w 282"/>
                <a:gd name="T91" fmla="*/ 187 h 453"/>
                <a:gd name="T92" fmla="*/ 12 w 282"/>
                <a:gd name="T93" fmla="*/ 136 h 453"/>
                <a:gd name="T94" fmla="*/ 19 w 282"/>
                <a:gd name="T95" fmla="*/ 69 h 453"/>
                <a:gd name="T96" fmla="*/ 62 w 282"/>
                <a:gd name="T97" fmla="*/ 20 h 453"/>
                <a:gd name="T98" fmla="*/ 138 w 282"/>
                <a:gd name="T99" fmla="*/ 0 h 4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82" h="453">
                  <a:moveTo>
                    <a:pt x="86" y="300"/>
                  </a:moveTo>
                  <a:lnTo>
                    <a:pt x="69" y="311"/>
                  </a:lnTo>
                  <a:lnTo>
                    <a:pt x="56" y="325"/>
                  </a:lnTo>
                  <a:lnTo>
                    <a:pt x="47" y="341"/>
                  </a:lnTo>
                  <a:lnTo>
                    <a:pt x="44" y="358"/>
                  </a:lnTo>
                  <a:lnTo>
                    <a:pt x="47" y="375"/>
                  </a:lnTo>
                  <a:lnTo>
                    <a:pt x="53" y="387"/>
                  </a:lnTo>
                  <a:lnTo>
                    <a:pt x="63" y="398"/>
                  </a:lnTo>
                  <a:lnTo>
                    <a:pt x="76" y="406"/>
                  </a:lnTo>
                  <a:lnTo>
                    <a:pt x="91" y="412"/>
                  </a:lnTo>
                  <a:lnTo>
                    <a:pt x="111" y="416"/>
                  </a:lnTo>
                  <a:lnTo>
                    <a:pt x="131" y="417"/>
                  </a:lnTo>
                  <a:lnTo>
                    <a:pt x="156" y="415"/>
                  </a:lnTo>
                  <a:lnTo>
                    <a:pt x="179" y="411"/>
                  </a:lnTo>
                  <a:lnTo>
                    <a:pt x="198" y="403"/>
                  </a:lnTo>
                  <a:lnTo>
                    <a:pt x="212" y="393"/>
                  </a:lnTo>
                  <a:lnTo>
                    <a:pt x="223" y="381"/>
                  </a:lnTo>
                  <a:lnTo>
                    <a:pt x="230" y="367"/>
                  </a:lnTo>
                  <a:lnTo>
                    <a:pt x="232" y="350"/>
                  </a:lnTo>
                  <a:lnTo>
                    <a:pt x="231" y="336"/>
                  </a:lnTo>
                  <a:lnTo>
                    <a:pt x="225" y="323"/>
                  </a:lnTo>
                  <a:lnTo>
                    <a:pt x="216" y="314"/>
                  </a:lnTo>
                  <a:lnTo>
                    <a:pt x="203" y="306"/>
                  </a:lnTo>
                  <a:lnTo>
                    <a:pt x="186" y="302"/>
                  </a:lnTo>
                  <a:lnTo>
                    <a:pt x="166" y="300"/>
                  </a:lnTo>
                  <a:lnTo>
                    <a:pt x="105" y="300"/>
                  </a:lnTo>
                  <a:lnTo>
                    <a:pt x="95" y="300"/>
                  </a:lnTo>
                  <a:lnTo>
                    <a:pt x="86" y="300"/>
                  </a:lnTo>
                  <a:close/>
                  <a:moveTo>
                    <a:pt x="136" y="34"/>
                  </a:moveTo>
                  <a:lnTo>
                    <a:pt x="116" y="36"/>
                  </a:lnTo>
                  <a:lnTo>
                    <a:pt x="97" y="41"/>
                  </a:lnTo>
                  <a:lnTo>
                    <a:pt x="82" y="50"/>
                  </a:lnTo>
                  <a:lnTo>
                    <a:pt x="70" y="61"/>
                  </a:lnTo>
                  <a:lnTo>
                    <a:pt x="61" y="75"/>
                  </a:lnTo>
                  <a:lnTo>
                    <a:pt x="56" y="91"/>
                  </a:lnTo>
                  <a:lnTo>
                    <a:pt x="54" y="109"/>
                  </a:lnTo>
                  <a:lnTo>
                    <a:pt x="56" y="128"/>
                  </a:lnTo>
                  <a:lnTo>
                    <a:pt x="61" y="144"/>
                  </a:lnTo>
                  <a:lnTo>
                    <a:pt x="70" y="158"/>
                  </a:lnTo>
                  <a:lnTo>
                    <a:pt x="81" y="168"/>
                  </a:lnTo>
                  <a:lnTo>
                    <a:pt x="95" y="176"/>
                  </a:lnTo>
                  <a:lnTo>
                    <a:pt x="114" y="181"/>
                  </a:lnTo>
                  <a:lnTo>
                    <a:pt x="134" y="182"/>
                  </a:lnTo>
                  <a:lnTo>
                    <a:pt x="153" y="181"/>
                  </a:lnTo>
                  <a:lnTo>
                    <a:pt x="170" y="176"/>
                  </a:lnTo>
                  <a:lnTo>
                    <a:pt x="185" y="168"/>
                  </a:lnTo>
                  <a:lnTo>
                    <a:pt x="197" y="158"/>
                  </a:lnTo>
                  <a:lnTo>
                    <a:pt x="206" y="144"/>
                  </a:lnTo>
                  <a:lnTo>
                    <a:pt x="211" y="128"/>
                  </a:lnTo>
                  <a:lnTo>
                    <a:pt x="213" y="109"/>
                  </a:lnTo>
                  <a:lnTo>
                    <a:pt x="211" y="89"/>
                  </a:lnTo>
                  <a:lnTo>
                    <a:pt x="206" y="73"/>
                  </a:lnTo>
                  <a:lnTo>
                    <a:pt x="198" y="59"/>
                  </a:lnTo>
                  <a:lnTo>
                    <a:pt x="186" y="48"/>
                  </a:lnTo>
                  <a:lnTo>
                    <a:pt x="172" y="41"/>
                  </a:lnTo>
                  <a:lnTo>
                    <a:pt x="155" y="36"/>
                  </a:lnTo>
                  <a:lnTo>
                    <a:pt x="136" y="34"/>
                  </a:lnTo>
                  <a:close/>
                  <a:moveTo>
                    <a:pt x="138" y="0"/>
                  </a:moveTo>
                  <a:lnTo>
                    <a:pt x="154" y="1"/>
                  </a:lnTo>
                  <a:lnTo>
                    <a:pt x="168" y="2"/>
                  </a:lnTo>
                  <a:lnTo>
                    <a:pt x="173" y="3"/>
                  </a:lnTo>
                  <a:lnTo>
                    <a:pt x="181" y="3"/>
                  </a:lnTo>
                  <a:lnTo>
                    <a:pt x="192" y="4"/>
                  </a:lnTo>
                  <a:lnTo>
                    <a:pt x="203" y="5"/>
                  </a:lnTo>
                  <a:lnTo>
                    <a:pt x="212" y="5"/>
                  </a:lnTo>
                  <a:lnTo>
                    <a:pt x="218" y="5"/>
                  </a:lnTo>
                  <a:lnTo>
                    <a:pt x="282" y="5"/>
                  </a:lnTo>
                  <a:lnTo>
                    <a:pt x="282" y="40"/>
                  </a:lnTo>
                  <a:lnTo>
                    <a:pt x="247" y="40"/>
                  </a:lnTo>
                  <a:lnTo>
                    <a:pt x="243" y="40"/>
                  </a:lnTo>
                  <a:lnTo>
                    <a:pt x="236" y="39"/>
                  </a:lnTo>
                  <a:lnTo>
                    <a:pt x="230" y="39"/>
                  </a:lnTo>
                  <a:lnTo>
                    <a:pt x="227" y="39"/>
                  </a:lnTo>
                  <a:lnTo>
                    <a:pt x="228" y="39"/>
                  </a:lnTo>
                  <a:lnTo>
                    <a:pt x="229" y="40"/>
                  </a:lnTo>
                  <a:lnTo>
                    <a:pt x="240" y="52"/>
                  </a:lnTo>
                  <a:lnTo>
                    <a:pt x="249" y="67"/>
                  </a:lnTo>
                  <a:lnTo>
                    <a:pt x="255" y="84"/>
                  </a:lnTo>
                  <a:lnTo>
                    <a:pt x="257" y="104"/>
                  </a:lnTo>
                  <a:lnTo>
                    <a:pt x="255" y="125"/>
                  </a:lnTo>
                  <a:lnTo>
                    <a:pt x="251" y="144"/>
                  </a:lnTo>
                  <a:lnTo>
                    <a:pt x="243" y="161"/>
                  </a:lnTo>
                  <a:lnTo>
                    <a:pt x="232" y="177"/>
                  </a:lnTo>
                  <a:lnTo>
                    <a:pt x="218" y="190"/>
                  </a:lnTo>
                  <a:lnTo>
                    <a:pt x="200" y="200"/>
                  </a:lnTo>
                  <a:lnTo>
                    <a:pt x="180" y="208"/>
                  </a:lnTo>
                  <a:lnTo>
                    <a:pt x="157" y="213"/>
                  </a:lnTo>
                  <a:lnTo>
                    <a:pt x="130" y="215"/>
                  </a:lnTo>
                  <a:lnTo>
                    <a:pt x="116" y="214"/>
                  </a:lnTo>
                  <a:lnTo>
                    <a:pt x="101" y="213"/>
                  </a:lnTo>
                  <a:lnTo>
                    <a:pt x="89" y="211"/>
                  </a:lnTo>
                  <a:lnTo>
                    <a:pt x="79" y="216"/>
                  </a:lnTo>
                  <a:lnTo>
                    <a:pt x="73" y="222"/>
                  </a:lnTo>
                  <a:lnTo>
                    <a:pt x="69" y="230"/>
                  </a:lnTo>
                  <a:lnTo>
                    <a:pt x="67" y="237"/>
                  </a:lnTo>
                  <a:lnTo>
                    <a:pt x="69" y="246"/>
                  </a:lnTo>
                  <a:lnTo>
                    <a:pt x="75" y="253"/>
                  </a:lnTo>
                  <a:lnTo>
                    <a:pt x="86" y="258"/>
                  </a:lnTo>
                  <a:lnTo>
                    <a:pt x="101" y="261"/>
                  </a:lnTo>
                  <a:lnTo>
                    <a:pt x="121" y="262"/>
                  </a:lnTo>
                  <a:lnTo>
                    <a:pt x="178" y="262"/>
                  </a:lnTo>
                  <a:lnTo>
                    <a:pt x="204" y="264"/>
                  </a:lnTo>
                  <a:lnTo>
                    <a:pt x="225" y="269"/>
                  </a:lnTo>
                  <a:lnTo>
                    <a:pt x="244" y="278"/>
                  </a:lnTo>
                  <a:lnTo>
                    <a:pt x="258" y="291"/>
                  </a:lnTo>
                  <a:lnTo>
                    <a:pt x="268" y="306"/>
                  </a:lnTo>
                  <a:lnTo>
                    <a:pt x="274" y="324"/>
                  </a:lnTo>
                  <a:lnTo>
                    <a:pt x="276" y="344"/>
                  </a:lnTo>
                  <a:lnTo>
                    <a:pt x="274" y="368"/>
                  </a:lnTo>
                  <a:lnTo>
                    <a:pt x="265" y="388"/>
                  </a:lnTo>
                  <a:lnTo>
                    <a:pt x="252" y="407"/>
                  </a:lnTo>
                  <a:lnTo>
                    <a:pt x="233" y="422"/>
                  </a:lnTo>
                  <a:lnTo>
                    <a:pt x="211" y="435"/>
                  </a:lnTo>
                  <a:lnTo>
                    <a:pt x="185" y="445"/>
                  </a:lnTo>
                  <a:lnTo>
                    <a:pt x="155" y="451"/>
                  </a:lnTo>
                  <a:lnTo>
                    <a:pt x="123" y="453"/>
                  </a:lnTo>
                  <a:lnTo>
                    <a:pt x="95" y="452"/>
                  </a:lnTo>
                  <a:lnTo>
                    <a:pt x="72" y="447"/>
                  </a:lnTo>
                  <a:lnTo>
                    <a:pt x="51" y="441"/>
                  </a:lnTo>
                  <a:lnTo>
                    <a:pt x="33" y="431"/>
                  </a:lnTo>
                  <a:lnTo>
                    <a:pt x="19" y="419"/>
                  </a:lnTo>
                  <a:lnTo>
                    <a:pt x="9" y="404"/>
                  </a:lnTo>
                  <a:lnTo>
                    <a:pt x="2" y="387"/>
                  </a:lnTo>
                  <a:lnTo>
                    <a:pt x="0" y="367"/>
                  </a:lnTo>
                  <a:lnTo>
                    <a:pt x="3" y="345"/>
                  </a:lnTo>
                  <a:lnTo>
                    <a:pt x="10" y="327"/>
                  </a:lnTo>
                  <a:lnTo>
                    <a:pt x="21" y="311"/>
                  </a:lnTo>
                  <a:lnTo>
                    <a:pt x="35" y="299"/>
                  </a:lnTo>
                  <a:lnTo>
                    <a:pt x="51" y="289"/>
                  </a:lnTo>
                  <a:lnTo>
                    <a:pt x="39" y="281"/>
                  </a:lnTo>
                  <a:lnTo>
                    <a:pt x="29" y="271"/>
                  </a:lnTo>
                  <a:lnTo>
                    <a:pt x="23" y="260"/>
                  </a:lnTo>
                  <a:lnTo>
                    <a:pt x="21" y="246"/>
                  </a:lnTo>
                  <a:lnTo>
                    <a:pt x="24" y="232"/>
                  </a:lnTo>
                  <a:lnTo>
                    <a:pt x="30" y="218"/>
                  </a:lnTo>
                  <a:lnTo>
                    <a:pt x="40" y="207"/>
                  </a:lnTo>
                  <a:lnTo>
                    <a:pt x="54" y="199"/>
                  </a:lnTo>
                  <a:lnTo>
                    <a:pt x="38" y="187"/>
                  </a:lnTo>
                  <a:lnTo>
                    <a:pt x="26" y="172"/>
                  </a:lnTo>
                  <a:lnTo>
                    <a:pt x="17" y="155"/>
                  </a:lnTo>
                  <a:lnTo>
                    <a:pt x="12" y="136"/>
                  </a:lnTo>
                  <a:lnTo>
                    <a:pt x="10" y="114"/>
                  </a:lnTo>
                  <a:lnTo>
                    <a:pt x="12" y="90"/>
                  </a:lnTo>
                  <a:lnTo>
                    <a:pt x="19" y="69"/>
                  </a:lnTo>
                  <a:lnTo>
                    <a:pt x="30" y="50"/>
                  </a:lnTo>
                  <a:lnTo>
                    <a:pt x="44" y="34"/>
                  </a:lnTo>
                  <a:lnTo>
                    <a:pt x="62" y="20"/>
                  </a:lnTo>
                  <a:lnTo>
                    <a:pt x="84" y="9"/>
                  </a:lnTo>
                  <a:lnTo>
                    <a:pt x="110" y="2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86C3A47-966E-8DF9-31DC-730F1AA8EE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76635" y="2327776"/>
              <a:ext cx="212971" cy="239000"/>
            </a:xfrm>
            <a:custGeom>
              <a:avLst/>
              <a:gdLst>
                <a:gd name="T0" fmla="*/ 121 w 270"/>
                <a:gd name="T1" fmla="*/ 38 h 304"/>
                <a:gd name="T2" fmla="*/ 93 w 270"/>
                <a:gd name="T3" fmla="*/ 48 h 304"/>
                <a:gd name="T4" fmla="*/ 68 w 270"/>
                <a:gd name="T5" fmla="*/ 70 h 304"/>
                <a:gd name="T6" fmla="*/ 52 w 270"/>
                <a:gd name="T7" fmla="*/ 104 h 304"/>
                <a:gd name="T8" fmla="*/ 46 w 270"/>
                <a:gd name="T9" fmla="*/ 150 h 304"/>
                <a:gd name="T10" fmla="*/ 52 w 270"/>
                <a:gd name="T11" fmla="*/ 200 h 304"/>
                <a:gd name="T12" fmla="*/ 69 w 270"/>
                <a:gd name="T13" fmla="*/ 236 h 304"/>
                <a:gd name="T14" fmla="*/ 98 w 270"/>
                <a:gd name="T15" fmla="*/ 259 h 304"/>
                <a:gd name="T16" fmla="*/ 136 w 270"/>
                <a:gd name="T17" fmla="*/ 266 h 304"/>
                <a:gd name="T18" fmla="*/ 166 w 270"/>
                <a:gd name="T19" fmla="*/ 261 h 304"/>
                <a:gd name="T20" fmla="*/ 192 w 270"/>
                <a:gd name="T21" fmla="*/ 244 h 304"/>
                <a:gd name="T22" fmla="*/ 211 w 270"/>
                <a:gd name="T23" fmla="*/ 216 h 304"/>
                <a:gd name="T24" fmla="*/ 222 w 270"/>
                <a:gd name="T25" fmla="*/ 176 h 304"/>
                <a:gd name="T26" fmla="*/ 223 w 270"/>
                <a:gd name="T27" fmla="*/ 125 h 304"/>
                <a:gd name="T28" fmla="*/ 212 w 270"/>
                <a:gd name="T29" fmla="*/ 83 h 304"/>
                <a:gd name="T30" fmla="*/ 190 w 270"/>
                <a:gd name="T31" fmla="*/ 54 h 304"/>
                <a:gd name="T32" fmla="*/ 157 w 270"/>
                <a:gd name="T33" fmla="*/ 38 h 304"/>
                <a:gd name="T34" fmla="*/ 140 w 270"/>
                <a:gd name="T35" fmla="*/ 0 h 304"/>
                <a:gd name="T36" fmla="*/ 181 w 270"/>
                <a:gd name="T37" fmla="*/ 5 h 304"/>
                <a:gd name="T38" fmla="*/ 217 w 270"/>
                <a:gd name="T39" fmla="*/ 21 h 304"/>
                <a:gd name="T40" fmla="*/ 245 w 270"/>
                <a:gd name="T41" fmla="*/ 49 h 304"/>
                <a:gd name="T42" fmla="*/ 263 w 270"/>
                <a:gd name="T43" fmla="*/ 90 h 304"/>
                <a:gd name="T44" fmla="*/ 270 w 270"/>
                <a:gd name="T45" fmla="*/ 147 h 304"/>
                <a:gd name="T46" fmla="*/ 262 w 270"/>
                <a:gd name="T47" fmla="*/ 202 h 304"/>
                <a:gd name="T48" fmla="*/ 240 w 270"/>
                <a:gd name="T49" fmla="*/ 248 h 304"/>
                <a:gd name="T50" fmla="*/ 205 w 270"/>
                <a:gd name="T51" fmla="*/ 283 h 304"/>
                <a:gd name="T52" fmla="*/ 157 w 270"/>
                <a:gd name="T53" fmla="*/ 301 h 304"/>
                <a:gd name="T54" fmla="*/ 105 w 270"/>
                <a:gd name="T55" fmla="*/ 302 h 304"/>
                <a:gd name="T56" fmla="*/ 61 w 270"/>
                <a:gd name="T57" fmla="*/ 288 h 304"/>
                <a:gd name="T58" fmla="*/ 28 w 270"/>
                <a:gd name="T59" fmla="*/ 259 h 304"/>
                <a:gd name="T60" fmla="*/ 7 w 270"/>
                <a:gd name="T61" fmla="*/ 214 h 304"/>
                <a:gd name="T62" fmla="*/ 0 w 270"/>
                <a:gd name="T63" fmla="*/ 154 h 304"/>
                <a:gd name="T64" fmla="*/ 8 w 270"/>
                <a:gd name="T65" fmla="*/ 100 h 304"/>
                <a:gd name="T66" fmla="*/ 29 w 270"/>
                <a:gd name="T67" fmla="*/ 55 h 304"/>
                <a:gd name="T68" fmla="*/ 64 w 270"/>
                <a:gd name="T69" fmla="*/ 21 h 304"/>
                <a:gd name="T70" fmla="*/ 113 w 270"/>
                <a:gd name="T71" fmla="*/ 3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70" h="304">
                  <a:moveTo>
                    <a:pt x="136" y="36"/>
                  </a:moveTo>
                  <a:lnTo>
                    <a:pt x="121" y="38"/>
                  </a:lnTo>
                  <a:lnTo>
                    <a:pt x="107" y="42"/>
                  </a:lnTo>
                  <a:lnTo>
                    <a:pt x="93" y="48"/>
                  </a:lnTo>
                  <a:lnTo>
                    <a:pt x="79" y="58"/>
                  </a:lnTo>
                  <a:lnTo>
                    <a:pt x="68" y="70"/>
                  </a:lnTo>
                  <a:lnTo>
                    <a:pt x="59" y="85"/>
                  </a:lnTo>
                  <a:lnTo>
                    <a:pt x="52" y="104"/>
                  </a:lnTo>
                  <a:lnTo>
                    <a:pt x="48" y="126"/>
                  </a:lnTo>
                  <a:lnTo>
                    <a:pt x="46" y="150"/>
                  </a:lnTo>
                  <a:lnTo>
                    <a:pt x="47" y="177"/>
                  </a:lnTo>
                  <a:lnTo>
                    <a:pt x="52" y="200"/>
                  </a:lnTo>
                  <a:lnTo>
                    <a:pt x="59" y="220"/>
                  </a:lnTo>
                  <a:lnTo>
                    <a:pt x="69" y="236"/>
                  </a:lnTo>
                  <a:lnTo>
                    <a:pt x="82" y="249"/>
                  </a:lnTo>
                  <a:lnTo>
                    <a:pt x="98" y="259"/>
                  </a:lnTo>
                  <a:lnTo>
                    <a:pt x="116" y="264"/>
                  </a:lnTo>
                  <a:lnTo>
                    <a:pt x="136" y="266"/>
                  </a:lnTo>
                  <a:lnTo>
                    <a:pt x="151" y="265"/>
                  </a:lnTo>
                  <a:lnTo>
                    <a:pt x="166" y="261"/>
                  </a:lnTo>
                  <a:lnTo>
                    <a:pt x="179" y="254"/>
                  </a:lnTo>
                  <a:lnTo>
                    <a:pt x="192" y="244"/>
                  </a:lnTo>
                  <a:lnTo>
                    <a:pt x="203" y="232"/>
                  </a:lnTo>
                  <a:lnTo>
                    <a:pt x="211" y="216"/>
                  </a:lnTo>
                  <a:lnTo>
                    <a:pt x="218" y="197"/>
                  </a:lnTo>
                  <a:lnTo>
                    <a:pt x="222" y="176"/>
                  </a:lnTo>
                  <a:lnTo>
                    <a:pt x="224" y="150"/>
                  </a:lnTo>
                  <a:lnTo>
                    <a:pt x="223" y="125"/>
                  </a:lnTo>
                  <a:lnTo>
                    <a:pt x="218" y="102"/>
                  </a:lnTo>
                  <a:lnTo>
                    <a:pt x="212" y="83"/>
                  </a:lnTo>
                  <a:lnTo>
                    <a:pt x="202" y="66"/>
                  </a:lnTo>
                  <a:lnTo>
                    <a:pt x="190" y="54"/>
                  </a:lnTo>
                  <a:lnTo>
                    <a:pt x="175" y="44"/>
                  </a:lnTo>
                  <a:lnTo>
                    <a:pt x="157" y="38"/>
                  </a:lnTo>
                  <a:lnTo>
                    <a:pt x="136" y="36"/>
                  </a:lnTo>
                  <a:close/>
                  <a:moveTo>
                    <a:pt x="140" y="0"/>
                  </a:moveTo>
                  <a:lnTo>
                    <a:pt x="161" y="1"/>
                  </a:lnTo>
                  <a:lnTo>
                    <a:pt x="181" y="5"/>
                  </a:lnTo>
                  <a:lnTo>
                    <a:pt x="200" y="11"/>
                  </a:lnTo>
                  <a:lnTo>
                    <a:pt x="217" y="21"/>
                  </a:lnTo>
                  <a:lnTo>
                    <a:pt x="232" y="33"/>
                  </a:lnTo>
                  <a:lnTo>
                    <a:pt x="245" y="49"/>
                  </a:lnTo>
                  <a:lnTo>
                    <a:pt x="255" y="68"/>
                  </a:lnTo>
                  <a:lnTo>
                    <a:pt x="263" y="90"/>
                  </a:lnTo>
                  <a:lnTo>
                    <a:pt x="268" y="117"/>
                  </a:lnTo>
                  <a:lnTo>
                    <a:pt x="270" y="147"/>
                  </a:lnTo>
                  <a:lnTo>
                    <a:pt x="268" y="176"/>
                  </a:lnTo>
                  <a:lnTo>
                    <a:pt x="262" y="202"/>
                  </a:lnTo>
                  <a:lnTo>
                    <a:pt x="253" y="227"/>
                  </a:lnTo>
                  <a:lnTo>
                    <a:pt x="240" y="248"/>
                  </a:lnTo>
                  <a:lnTo>
                    <a:pt x="224" y="267"/>
                  </a:lnTo>
                  <a:lnTo>
                    <a:pt x="205" y="283"/>
                  </a:lnTo>
                  <a:lnTo>
                    <a:pt x="182" y="294"/>
                  </a:lnTo>
                  <a:lnTo>
                    <a:pt x="157" y="301"/>
                  </a:lnTo>
                  <a:lnTo>
                    <a:pt x="130" y="304"/>
                  </a:lnTo>
                  <a:lnTo>
                    <a:pt x="105" y="302"/>
                  </a:lnTo>
                  <a:lnTo>
                    <a:pt x="81" y="297"/>
                  </a:lnTo>
                  <a:lnTo>
                    <a:pt x="61" y="288"/>
                  </a:lnTo>
                  <a:lnTo>
                    <a:pt x="43" y="275"/>
                  </a:lnTo>
                  <a:lnTo>
                    <a:pt x="28" y="259"/>
                  </a:lnTo>
                  <a:lnTo>
                    <a:pt x="16" y="238"/>
                  </a:lnTo>
                  <a:lnTo>
                    <a:pt x="7" y="214"/>
                  </a:lnTo>
                  <a:lnTo>
                    <a:pt x="2" y="186"/>
                  </a:lnTo>
                  <a:lnTo>
                    <a:pt x="0" y="154"/>
                  </a:lnTo>
                  <a:lnTo>
                    <a:pt x="2" y="127"/>
                  </a:lnTo>
                  <a:lnTo>
                    <a:pt x="8" y="100"/>
                  </a:lnTo>
                  <a:lnTo>
                    <a:pt x="17" y="76"/>
                  </a:lnTo>
                  <a:lnTo>
                    <a:pt x="29" y="55"/>
                  </a:lnTo>
                  <a:lnTo>
                    <a:pt x="45" y="36"/>
                  </a:lnTo>
                  <a:lnTo>
                    <a:pt x="64" y="21"/>
                  </a:lnTo>
                  <a:lnTo>
                    <a:pt x="87" y="10"/>
                  </a:lnTo>
                  <a:lnTo>
                    <a:pt x="113" y="3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AE29258-C776-91F7-ACDE-D7872520EBE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0368" y="2325409"/>
              <a:ext cx="184575" cy="236634"/>
            </a:xfrm>
            <a:custGeom>
              <a:avLst/>
              <a:gdLst>
                <a:gd name="T0" fmla="*/ 146 w 233"/>
                <a:gd name="T1" fmla="*/ 0 h 300"/>
                <a:gd name="T2" fmla="*/ 166 w 233"/>
                <a:gd name="T3" fmla="*/ 2 h 300"/>
                <a:gd name="T4" fmla="*/ 184 w 233"/>
                <a:gd name="T5" fmla="*/ 6 h 300"/>
                <a:gd name="T6" fmla="*/ 198 w 233"/>
                <a:gd name="T7" fmla="*/ 13 h 300"/>
                <a:gd name="T8" fmla="*/ 210 w 233"/>
                <a:gd name="T9" fmla="*/ 23 h 300"/>
                <a:gd name="T10" fmla="*/ 219 w 233"/>
                <a:gd name="T11" fmla="*/ 34 h 300"/>
                <a:gd name="T12" fmla="*/ 225 w 233"/>
                <a:gd name="T13" fmla="*/ 47 h 300"/>
                <a:gd name="T14" fmla="*/ 230 w 233"/>
                <a:gd name="T15" fmla="*/ 62 h 300"/>
                <a:gd name="T16" fmla="*/ 233 w 233"/>
                <a:gd name="T17" fmla="*/ 78 h 300"/>
                <a:gd name="T18" fmla="*/ 233 w 233"/>
                <a:gd name="T19" fmla="*/ 95 h 300"/>
                <a:gd name="T20" fmla="*/ 233 w 233"/>
                <a:gd name="T21" fmla="*/ 300 h 300"/>
                <a:gd name="T22" fmla="*/ 189 w 233"/>
                <a:gd name="T23" fmla="*/ 300 h 300"/>
                <a:gd name="T24" fmla="*/ 189 w 233"/>
                <a:gd name="T25" fmla="*/ 110 h 300"/>
                <a:gd name="T26" fmla="*/ 188 w 233"/>
                <a:gd name="T27" fmla="*/ 91 h 300"/>
                <a:gd name="T28" fmla="*/ 186 w 233"/>
                <a:gd name="T29" fmla="*/ 75 h 300"/>
                <a:gd name="T30" fmla="*/ 181 w 233"/>
                <a:gd name="T31" fmla="*/ 61 h 300"/>
                <a:gd name="T32" fmla="*/ 174 w 233"/>
                <a:gd name="T33" fmla="*/ 51 h 300"/>
                <a:gd name="T34" fmla="*/ 164 w 233"/>
                <a:gd name="T35" fmla="*/ 43 h 300"/>
                <a:gd name="T36" fmla="*/ 151 w 233"/>
                <a:gd name="T37" fmla="*/ 38 h 300"/>
                <a:gd name="T38" fmla="*/ 135 w 233"/>
                <a:gd name="T39" fmla="*/ 37 h 300"/>
                <a:gd name="T40" fmla="*/ 116 w 233"/>
                <a:gd name="T41" fmla="*/ 39 h 300"/>
                <a:gd name="T42" fmla="*/ 98 w 233"/>
                <a:gd name="T43" fmla="*/ 46 h 300"/>
                <a:gd name="T44" fmla="*/ 83 w 233"/>
                <a:gd name="T45" fmla="*/ 57 h 300"/>
                <a:gd name="T46" fmla="*/ 70 w 233"/>
                <a:gd name="T47" fmla="*/ 71 h 300"/>
                <a:gd name="T48" fmla="*/ 60 w 233"/>
                <a:gd name="T49" fmla="*/ 89 h 300"/>
                <a:gd name="T50" fmla="*/ 51 w 233"/>
                <a:gd name="T51" fmla="*/ 111 h 300"/>
                <a:gd name="T52" fmla="*/ 46 w 233"/>
                <a:gd name="T53" fmla="*/ 134 h 300"/>
                <a:gd name="T54" fmla="*/ 44 w 233"/>
                <a:gd name="T55" fmla="*/ 159 h 300"/>
                <a:gd name="T56" fmla="*/ 44 w 233"/>
                <a:gd name="T57" fmla="*/ 300 h 300"/>
                <a:gd name="T58" fmla="*/ 0 w 233"/>
                <a:gd name="T59" fmla="*/ 300 h 300"/>
                <a:gd name="T60" fmla="*/ 0 w 233"/>
                <a:gd name="T61" fmla="*/ 6 h 300"/>
                <a:gd name="T62" fmla="*/ 44 w 233"/>
                <a:gd name="T63" fmla="*/ 6 h 300"/>
                <a:gd name="T64" fmla="*/ 43 w 233"/>
                <a:gd name="T65" fmla="*/ 28 h 300"/>
                <a:gd name="T66" fmla="*/ 41 w 233"/>
                <a:gd name="T67" fmla="*/ 51 h 300"/>
                <a:gd name="T68" fmla="*/ 39 w 233"/>
                <a:gd name="T69" fmla="*/ 71 h 300"/>
                <a:gd name="T70" fmla="*/ 40 w 233"/>
                <a:gd name="T71" fmla="*/ 72 h 300"/>
                <a:gd name="T72" fmla="*/ 50 w 233"/>
                <a:gd name="T73" fmla="*/ 52 h 300"/>
                <a:gd name="T74" fmla="*/ 64 w 233"/>
                <a:gd name="T75" fmla="*/ 34 h 300"/>
                <a:gd name="T76" fmla="*/ 80 w 233"/>
                <a:gd name="T77" fmla="*/ 20 h 300"/>
                <a:gd name="T78" fmla="*/ 99 w 233"/>
                <a:gd name="T79" fmla="*/ 9 h 300"/>
                <a:gd name="T80" fmla="*/ 121 w 233"/>
                <a:gd name="T81" fmla="*/ 3 h 300"/>
                <a:gd name="T82" fmla="*/ 146 w 233"/>
                <a:gd name="T83" fmla="*/ 0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33" h="300">
                  <a:moveTo>
                    <a:pt x="146" y="0"/>
                  </a:moveTo>
                  <a:lnTo>
                    <a:pt x="166" y="2"/>
                  </a:lnTo>
                  <a:lnTo>
                    <a:pt x="184" y="6"/>
                  </a:lnTo>
                  <a:lnTo>
                    <a:pt x="198" y="13"/>
                  </a:lnTo>
                  <a:lnTo>
                    <a:pt x="210" y="23"/>
                  </a:lnTo>
                  <a:lnTo>
                    <a:pt x="219" y="34"/>
                  </a:lnTo>
                  <a:lnTo>
                    <a:pt x="225" y="47"/>
                  </a:lnTo>
                  <a:lnTo>
                    <a:pt x="230" y="62"/>
                  </a:lnTo>
                  <a:lnTo>
                    <a:pt x="233" y="78"/>
                  </a:lnTo>
                  <a:lnTo>
                    <a:pt x="233" y="95"/>
                  </a:lnTo>
                  <a:lnTo>
                    <a:pt x="233" y="300"/>
                  </a:lnTo>
                  <a:lnTo>
                    <a:pt x="189" y="300"/>
                  </a:lnTo>
                  <a:lnTo>
                    <a:pt x="189" y="110"/>
                  </a:lnTo>
                  <a:lnTo>
                    <a:pt x="188" y="91"/>
                  </a:lnTo>
                  <a:lnTo>
                    <a:pt x="186" y="75"/>
                  </a:lnTo>
                  <a:lnTo>
                    <a:pt x="181" y="61"/>
                  </a:lnTo>
                  <a:lnTo>
                    <a:pt x="174" y="51"/>
                  </a:lnTo>
                  <a:lnTo>
                    <a:pt x="164" y="43"/>
                  </a:lnTo>
                  <a:lnTo>
                    <a:pt x="151" y="38"/>
                  </a:lnTo>
                  <a:lnTo>
                    <a:pt x="135" y="37"/>
                  </a:lnTo>
                  <a:lnTo>
                    <a:pt x="116" y="39"/>
                  </a:lnTo>
                  <a:lnTo>
                    <a:pt x="98" y="46"/>
                  </a:lnTo>
                  <a:lnTo>
                    <a:pt x="83" y="57"/>
                  </a:lnTo>
                  <a:lnTo>
                    <a:pt x="70" y="71"/>
                  </a:lnTo>
                  <a:lnTo>
                    <a:pt x="60" y="89"/>
                  </a:lnTo>
                  <a:lnTo>
                    <a:pt x="51" y="111"/>
                  </a:lnTo>
                  <a:lnTo>
                    <a:pt x="46" y="134"/>
                  </a:lnTo>
                  <a:lnTo>
                    <a:pt x="44" y="159"/>
                  </a:lnTo>
                  <a:lnTo>
                    <a:pt x="44" y="300"/>
                  </a:lnTo>
                  <a:lnTo>
                    <a:pt x="0" y="300"/>
                  </a:lnTo>
                  <a:lnTo>
                    <a:pt x="0" y="6"/>
                  </a:lnTo>
                  <a:lnTo>
                    <a:pt x="44" y="6"/>
                  </a:lnTo>
                  <a:lnTo>
                    <a:pt x="43" y="28"/>
                  </a:lnTo>
                  <a:lnTo>
                    <a:pt x="41" y="51"/>
                  </a:lnTo>
                  <a:lnTo>
                    <a:pt x="39" y="71"/>
                  </a:lnTo>
                  <a:lnTo>
                    <a:pt x="40" y="72"/>
                  </a:lnTo>
                  <a:lnTo>
                    <a:pt x="50" y="52"/>
                  </a:lnTo>
                  <a:lnTo>
                    <a:pt x="64" y="34"/>
                  </a:lnTo>
                  <a:lnTo>
                    <a:pt x="80" y="20"/>
                  </a:lnTo>
                  <a:lnTo>
                    <a:pt x="99" y="9"/>
                  </a:lnTo>
                  <a:lnTo>
                    <a:pt x="121" y="3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35B86B4B-65CC-8B99-06C6-97CDE959A2D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64101" y="2325409"/>
              <a:ext cx="182208" cy="236634"/>
            </a:xfrm>
            <a:custGeom>
              <a:avLst/>
              <a:gdLst>
                <a:gd name="T0" fmla="*/ 145 w 233"/>
                <a:gd name="T1" fmla="*/ 0 h 300"/>
                <a:gd name="T2" fmla="*/ 166 w 233"/>
                <a:gd name="T3" fmla="*/ 2 h 300"/>
                <a:gd name="T4" fmla="*/ 183 w 233"/>
                <a:gd name="T5" fmla="*/ 6 h 300"/>
                <a:gd name="T6" fmla="*/ 198 w 233"/>
                <a:gd name="T7" fmla="*/ 13 h 300"/>
                <a:gd name="T8" fmla="*/ 209 w 233"/>
                <a:gd name="T9" fmla="*/ 23 h 300"/>
                <a:gd name="T10" fmla="*/ 218 w 233"/>
                <a:gd name="T11" fmla="*/ 34 h 300"/>
                <a:gd name="T12" fmla="*/ 225 w 233"/>
                <a:gd name="T13" fmla="*/ 47 h 300"/>
                <a:gd name="T14" fmla="*/ 230 w 233"/>
                <a:gd name="T15" fmla="*/ 62 h 300"/>
                <a:gd name="T16" fmla="*/ 232 w 233"/>
                <a:gd name="T17" fmla="*/ 78 h 300"/>
                <a:gd name="T18" fmla="*/ 233 w 233"/>
                <a:gd name="T19" fmla="*/ 95 h 300"/>
                <a:gd name="T20" fmla="*/ 233 w 233"/>
                <a:gd name="T21" fmla="*/ 300 h 300"/>
                <a:gd name="T22" fmla="*/ 189 w 233"/>
                <a:gd name="T23" fmla="*/ 300 h 300"/>
                <a:gd name="T24" fmla="*/ 189 w 233"/>
                <a:gd name="T25" fmla="*/ 110 h 300"/>
                <a:gd name="T26" fmla="*/ 188 w 233"/>
                <a:gd name="T27" fmla="*/ 91 h 300"/>
                <a:gd name="T28" fmla="*/ 185 w 233"/>
                <a:gd name="T29" fmla="*/ 75 h 300"/>
                <a:gd name="T30" fmla="*/ 181 w 233"/>
                <a:gd name="T31" fmla="*/ 61 h 300"/>
                <a:gd name="T32" fmla="*/ 173 w 233"/>
                <a:gd name="T33" fmla="*/ 51 h 300"/>
                <a:gd name="T34" fmla="*/ 163 w 233"/>
                <a:gd name="T35" fmla="*/ 43 h 300"/>
                <a:gd name="T36" fmla="*/ 150 w 233"/>
                <a:gd name="T37" fmla="*/ 38 h 300"/>
                <a:gd name="T38" fmla="*/ 134 w 233"/>
                <a:gd name="T39" fmla="*/ 37 h 300"/>
                <a:gd name="T40" fmla="*/ 115 w 233"/>
                <a:gd name="T41" fmla="*/ 39 h 300"/>
                <a:gd name="T42" fmla="*/ 98 w 233"/>
                <a:gd name="T43" fmla="*/ 46 h 300"/>
                <a:gd name="T44" fmla="*/ 83 w 233"/>
                <a:gd name="T45" fmla="*/ 57 h 300"/>
                <a:gd name="T46" fmla="*/ 70 w 233"/>
                <a:gd name="T47" fmla="*/ 71 h 300"/>
                <a:gd name="T48" fmla="*/ 59 w 233"/>
                <a:gd name="T49" fmla="*/ 89 h 300"/>
                <a:gd name="T50" fmla="*/ 51 w 233"/>
                <a:gd name="T51" fmla="*/ 111 h 300"/>
                <a:gd name="T52" fmla="*/ 46 w 233"/>
                <a:gd name="T53" fmla="*/ 134 h 300"/>
                <a:gd name="T54" fmla="*/ 45 w 233"/>
                <a:gd name="T55" fmla="*/ 159 h 300"/>
                <a:gd name="T56" fmla="*/ 45 w 233"/>
                <a:gd name="T57" fmla="*/ 300 h 300"/>
                <a:gd name="T58" fmla="*/ 0 w 233"/>
                <a:gd name="T59" fmla="*/ 300 h 300"/>
                <a:gd name="T60" fmla="*/ 0 w 233"/>
                <a:gd name="T61" fmla="*/ 6 h 300"/>
                <a:gd name="T62" fmla="*/ 44 w 233"/>
                <a:gd name="T63" fmla="*/ 6 h 300"/>
                <a:gd name="T64" fmla="*/ 44 w 233"/>
                <a:gd name="T65" fmla="*/ 28 h 300"/>
                <a:gd name="T66" fmla="*/ 42 w 233"/>
                <a:gd name="T67" fmla="*/ 51 h 300"/>
                <a:gd name="T68" fmla="*/ 39 w 233"/>
                <a:gd name="T69" fmla="*/ 71 h 300"/>
                <a:gd name="T70" fmla="*/ 41 w 233"/>
                <a:gd name="T71" fmla="*/ 72 h 300"/>
                <a:gd name="T72" fmla="*/ 51 w 233"/>
                <a:gd name="T73" fmla="*/ 52 h 300"/>
                <a:gd name="T74" fmla="*/ 64 w 233"/>
                <a:gd name="T75" fmla="*/ 34 h 300"/>
                <a:gd name="T76" fmla="*/ 80 w 233"/>
                <a:gd name="T77" fmla="*/ 20 h 300"/>
                <a:gd name="T78" fmla="*/ 99 w 233"/>
                <a:gd name="T79" fmla="*/ 9 h 300"/>
                <a:gd name="T80" fmla="*/ 121 w 233"/>
                <a:gd name="T81" fmla="*/ 3 h 300"/>
                <a:gd name="T82" fmla="*/ 145 w 233"/>
                <a:gd name="T83" fmla="*/ 0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33" h="300">
                  <a:moveTo>
                    <a:pt x="145" y="0"/>
                  </a:moveTo>
                  <a:lnTo>
                    <a:pt x="166" y="2"/>
                  </a:lnTo>
                  <a:lnTo>
                    <a:pt x="183" y="6"/>
                  </a:lnTo>
                  <a:lnTo>
                    <a:pt x="198" y="13"/>
                  </a:lnTo>
                  <a:lnTo>
                    <a:pt x="209" y="23"/>
                  </a:lnTo>
                  <a:lnTo>
                    <a:pt x="218" y="34"/>
                  </a:lnTo>
                  <a:lnTo>
                    <a:pt x="225" y="47"/>
                  </a:lnTo>
                  <a:lnTo>
                    <a:pt x="230" y="62"/>
                  </a:lnTo>
                  <a:lnTo>
                    <a:pt x="232" y="78"/>
                  </a:lnTo>
                  <a:lnTo>
                    <a:pt x="233" y="95"/>
                  </a:lnTo>
                  <a:lnTo>
                    <a:pt x="233" y="300"/>
                  </a:lnTo>
                  <a:lnTo>
                    <a:pt x="189" y="300"/>
                  </a:lnTo>
                  <a:lnTo>
                    <a:pt x="189" y="110"/>
                  </a:lnTo>
                  <a:lnTo>
                    <a:pt x="188" y="91"/>
                  </a:lnTo>
                  <a:lnTo>
                    <a:pt x="185" y="75"/>
                  </a:lnTo>
                  <a:lnTo>
                    <a:pt x="181" y="61"/>
                  </a:lnTo>
                  <a:lnTo>
                    <a:pt x="173" y="51"/>
                  </a:lnTo>
                  <a:lnTo>
                    <a:pt x="163" y="43"/>
                  </a:lnTo>
                  <a:lnTo>
                    <a:pt x="150" y="38"/>
                  </a:lnTo>
                  <a:lnTo>
                    <a:pt x="134" y="37"/>
                  </a:lnTo>
                  <a:lnTo>
                    <a:pt x="115" y="39"/>
                  </a:lnTo>
                  <a:lnTo>
                    <a:pt x="98" y="46"/>
                  </a:lnTo>
                  <a:lnTo>
                    <a:pt x="83" y="57"/>
                  </a:lnTo>
                  <a:lnTo>
                    <a:pt x="70" y="71"/>
                  </a:lnTo>
                  <a:lnTo>
                    <a:pt x="59" y="89"/>
                  </a:lnTo>
                  <a:lnTo>
                    <a:pt x="51" y="111"/>
                  </a:lnTo>
                  <a:lnTo>
                    <a:pt x="46" y="134"/>
                  </a:lnTo>
                  <a:lnTo>
                    <a:pt x="45" y="159"/>
                  </a:lnTo>
                  <a:lnTo>
                    <a:pt x="45" y="300"/>
                  </a:lnTo>
                  <a:lnTo>
                    <a:pt x="0" y="300"/>
                  </a:lnTo>
                  <a:lnTo>
                    <a:pt x="0" y="6"/>
                  </a:lnTo>
                  <a:lnTo>
                    <a:pt x="44" y="6"/>
                  </a:lnTo>
                  <a:lnTo>
                    <a:pt x="44" y="28"/>
                  </a:lnTo>
                  <a:lnTo>
                    <a:pt x="42" y="51"/>
                  </a:lnTo>
                  <a:lnTo>
                    <a:pt x="39" y="71"/>
                  </a:lnTo>
                  <a:lnTo>
                    <a:pt x="41" y="72"/>
                  </a:lnTo>
                  <a:lnTo>
                    <a:pt x="51" y="52"/>
                  </a:lnTo>
                  <a:lnTo>
                    <a:pt x="64" y="34"/>
                  </a:lnTo>
                  <a:lnTo>
                    <a:pt x="80" y="20"/>
                  </a:lnTo>
                  <a:lnTo>
                    <a:pt x="99" y="9"/>
                  </a:lnTo>
                  <a:lnTo>
                    <a:pt x="121" y="3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917A3ED-11CD-D5A1-975B-A2A055B7A60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79439" y="2327776"/>
              <a:ext cx="191674" cy="239000"/>
            </a:xfrm>
            <a:custGeom>
              <a:avLst/>
              <a:gdLst>
                <a:gd name="T0" fmla="*/ 127 w 243"/>
                <a:gd name="T1" fmla="*/ 34 h 304"/>
                <a:gd name="T2" fmla="*/ 107 w 243"/>
                <a:gd name="T3" fmla="*/ 36 h 304"/>
                <a:gd name="T4" fmla="*/ 90 w 243"/>
                <a:gd name="T5" fmla="*/ 43 h 304"/>
                <a:gd name="T6" fmla="*/ 75 w 243"/>
                <a:gd name="T7" fmla="*/ 54 h 304"/>
                <a:gd name="T8" fmla="*/ 63 w 243"/>
                <a:gd name="T9" fmla="*/ 69 h 304"/>
                <a:gd name="T10" fmla="*/ 54 w 243"/>
                <a:gd name="T11" fmla="*/ 88 h 304"/>
                <a:gd name="T12" fmla="*/ 49 w 243"/>
                <a:gd name="T13" fmla="*/ 110 h 304"/>
                <a:gd name="T14" fmla="*/ 197 w 243"/>
                <a:gd name="T15" fmla="*/ 110 h 304"/>
                <a:gd name="T16" fmla="*/ 196 w 243"/>
                <a:gd name="T17" fmla="*/ 91 h 304"/>
                <a:gd name="T18" fmla="*/ 191 w 243"/>
                <a:gd name="T19" fmla="*/ 75 h 304"/>
                <a:gd name="T20" fmla="*/ 184 w 243"/>
                <a:gd name="T21" fmla="*/ 61 h 304"/>
                <a:gd name="T22" fmla="*/ 173 w 243"/>
                <a:gd name="T23" fmla="*/ 49 h 304"/>
                <a:gd name="T24" fmla="*/ 160 w 243"/>
                <a:gd name="T25" fmla="*/ 41 h 304"/>
                <a:gd name="T26" fmla="*/ 145 w 243"/>
                <a:gd name="T27" fmla="*/ 35 h 304"/>
                <a:gd name="T28" fmla="*/ 127 w 243"/>
                <a:gd name="T29" fmla="*/ 34 h 304"/>
                <a:gd name="T30" fmla="*/ 129 w 243"/>
                <a:gd name="T31" fmla="*/ 0 h 304"/>
                <a:gd name="T32" fmla="*/ 154 w 243"/>
                <a:gd name="T33" fmla="*/ 2 h 304"/>
                <a:gd name="T34" fmla="*/ 176 w 243"/>
                <a:gd name="T35" fmla="*/ 8 h 304"/>
                <a:gd name="T36" fmla="*/ 194 w 243"/>
                <a:gd name="T37" fmla="*/ 17 h 304"/>
                <a:gd name="T38" fmla="*/ 210 w 243"/>
                <a:gd name="T39" fmla="*/ 29 h 304"/>
                <a:gd name="T40" fmla="*/ 222 w 243"/>
                <a:gd name="T41" fmla="*/ 44 h 304"/>
                <a:gd name="T42" fmla="*/ 231 w 243"/>
                <a:gd name="T43" fmla="*/ 61 h 304"/>
                <a:gd name="T44" fmla="*/ 238 w 243"/>
                <a:gd name="T45" fmla="*/ 79 h 304"/>
                <a:gd name="T46" fmla="*/ 242 w 243"/>
                <a:gd name="T47" fmla="*/ 99 h 304"/>
                <a:gd name="T48" fmla="*/ 243 w 243"/>
                <a:gd name="T49" fmla="*/ 122 h 304"/>
                <a:gd name="T50" fmla="*/ 243 w 243"/>
                <a:gd name="T51" fmla="*/ 131 h 304"/>
                <a:gd name="T52" fmla="*/ 242 w 243"/>
                <a:gd name="T53" fmla="*/ 143 h 304"/>
                <a:gd name="T54" fmla="*/ 47 w 243"/>
                <a:gd name="T55" fmla="*/ 143 h 304"/>
                <a:gd name="T56" fmla="*/ 47 w 243"/>
                <a:gd name="T57" fmla="*/ 171 h 304"/>
                <a:gd name="T58" fmla="*/ 50 w 243"/>
                <a:gd name="T59" fmla="*/ 194 h 304"/>
                <a:gd name="T60" fmla="*/ 56 w 243"/>
                <a:gd name="T61" fmla="*/ 214 h 304"/>
                <a:gd name="T62" fmla="*/ 64 w 243"/>
                <a:gd name="T63" fmla="*/ 231 h 304"/>
                <a:gd name="T64" fmla="*/ 75 w 243"/>
                <a:gd name="T65" fmla="*/ 244 h 304"/>
                <a:gd name="T66" fmla="*/ 89 w 243"/>
                <a:gd name="T67" fmla="*/ 255 h 304"/>
                <a:gd name="T68" fmla="*/ 105 w 243"/>
                <a:gd name="T69" fmla="*/ 262 h 304"/>
                <a:gd name="T70" fmla="*/ 123 w 243"/>
                <a:gd name="T71" fmla="*/ 266 h 304"/>
                <a:gd name="T72" fmla="*/ 144 w 243"/>
                <a:gd name="T73" fmla="*/ 267 h 304"/>
                <a:gd name="T74" fmla="*/ 167 w 243"/>
                <a:gd name="T75" fmla="*/ 266 h 304"/>
                <a:gd name="T76" fmla="*/ 189 w 243"/>
                <a:gd name="T77" fmla="*/ 262 h 304"/>
                <a:gd name="T78" fmla="*/ 210 w 243"/>
                <a:gd name="T79" fmla="*/ 256 h 304"/>
                <a:gd name="T80" fmla="*/ 228 w 243"/>
                <a:gd name="T81" fmla="*/ 249 h 304"/>
                <a:gd name="T82" fmla="*/ 232 w 243"/>
                <a:gd name="T83" fmla="*/ 286 h 304"/>
                <a:gd name="T84" fmla="*/ 203 w 243"/>
                <a:gd name="T85" fmla="*/ 296 h 304"/>
                <a:gd name="T86" fmla="*/ 171 w 243"/>
                <a:gd name="T87" fmla="*/ 302 h 304"/>
                <a:gd name="T88" fmla="*/ 136 w 243"/>
                <a:gd name="T89" fmla="*/ 304 h 304"/>
                <a:gd name="T90" fmla="*/ 108 w 243"/>
                <a:gd name="T91" fmla="*/ 302 h 304"/>
                <a:gd name="T92" fmla="*/ 83 w 243"/>
                <a:gd name="T93" fmla="*/ 297 h 304"/>
                <a:gd name="T94" fmla="*/ 62 w 243"/>
                <a:gd name="T95" fmla="*/ 288 h 304"/>
                <a:gd name="T96" fmla="*/ 43 w 243"/>
                <a:gd name="T97" fmla="*/ 275 h 304"/>
                <a:gd name="T98" fmla="*/ 28 w 243"/>
                <a:gd name="T99" fmla="*/ 259 h 304"/>
                <a:gd name="T100" fmla="*/ 15 w 243"/>
                <a:gd name="T101" fmla="*/ 238 h 304"/>
                <a:gd name="T102" fmla="*/ 7 w 243"/>
                <a:gd name="T103" fmla="*/ 214 h 304"/>
                <a:gd name="T104" fmla="*/ 1 w 243"/>
                <a:gd name="T105" fmla="*/ 186 h 304"/>
                <a:gd name="T106" fmla="*/ 0 w 243"/>
                <a:gd name="T107" fmla="*/ 154 h 304"/>
                <a:gd name="T108" fmla="*/ 1 w 243"/>
                <a:gd name="T109" fmla="*/ 126 h 304"/>
                <a:gd name="T110" fmla="*/ 7 w 243"/>
                <a:gd name="T111" fmla="*/ 98 h 304"/>
                <a:gd name="T112" fmla="*/ 15 w 243"/>
                <a:gd name="T113" fmla="*/ 74 h 304"/>
                <a:gd name="T114" fmla="*/ 27 w 243"/>
                <a:gd name="T115" fmla="*/ 53 h 304"/>
                <a:gd name="T116" fmla="*/ 42 w 243"/>
                <a:gd name="T117" fmla="*/ 35 h 304"/>
                <a:gd name="T118" fmla="*/ 60 w 243"/>
                <a:gd name="T119" fmla="*/ 20 h 304"/>
                <a:gd name="T120" fmla="*/ 80 w 243"/>
                <a:gd name="T121" fmla="*/ 9 h 304"/>
                <a:gd name="T122" fmla="*/ 103 w 243"/>
                <a:gd name="T123" fmla="*/ 2 h 304"/>
                <a:gd name="T124" fmla="*/ 129 w 243"/>
                <a:gd name="T125" fmla="*/ 0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43" h="304">
                  <a:moveTo>
                    <a:pt x="127" y="34"/>
                  </a:moveTo>
                  <a:lnTo>
                    <a:pt x="107" y="36"/>
                  </a:lnTo>
                  <a:lnTo>
                    <a:pt x="90" y="43"/>
                  </a:lnTo>
                  <a:lnTo>
                    <a:pt x="75" y="54"/>
                  </a:lnTo>
                  <a:lnTo>
                    <a:pt x="63" y="69"/>
                  </a:lnTo>
                  <a:lnTo>
                    <a:pt x="54" y="88"/>
                  </a:lnTo>
                  <a:lnTo>
                    <a:pt x="49" y="110"/>
                  </a:lnTo>
                  <a:lnTo>
                    <a:pt x="197" y="110"/>
                  </a:lnTo>
                  <a:lnTo>
                    <a:pt x="196" y="91"/>
                  </a:lnTo>
                  <a:lnTo>
                    <a:pt x="191" y="75"/>
                  </a:lnTo>
                  <a:lnTo>
                    <a:pt x="184" y="61"/>
                  </a:lnTo>
                  <a:lnTo>
                    <a:pt x="173" y="49"/>
                  </a:lnTo>
                  <a:lnTo>
                    <a:pt x="160" y="41"/>
                  </a:lnTo>
                  <a:lnTo>
                    <a:pt x="145" y="35"/>
                  </a:lnTo>
                  <a:lnTo>
                    <a:pt x="127" y="34"/>
                  </a:lnTo>
                  <a:close/>
                  <a:moveTo>
                    <a:pt x="129" y="0"/>
                  </a:moveTo>
                  <a:lnTo>
                    <a:pt x="154" y="2"/>
                  </a:lnTo>
                  <a:lnTo>
                    <a:pt x="176" y="8"/>
                  </a:lnTo>
                  <a:lnTo>
                    <a:pt x="194" y="17"/>
                  </a:lnTo>
                  <a:lnTo>
                    <a:pt x="210" y="29"/>
                  </a:lnTo>
                  <a:lnTo>
                    <a:pt x="222" y="44"/>
                  </a:lnTo>
                  <a:lnTo>
                    <a:pt x="231" y="61"/>
                  </a:lnTo>
                  <a:lnTo>
                    <a:pt x="238" y="79"/>
                  </a:lnTo>
                  <a:lnTo>
                    <a:pt x="242" y="99"/>
                  </a:lnTo>
                  <a:lnTo>
                    <a:pt x="243" y="122"/>
                  </a:lnTo>
                  <a:lnTo>
                    <a:pt x="243" y="131"/>
                  </a:lnTo>
                  <a:lnTo>
                    <a:pt x="242" y="143"/>
                  </a:lnTo>
                  <a:lnTo>
                    <a:pt x="47" y="143"/>
                  </a:lnTo>
                  <a:lnTo>
                    <a:pt x="47" y="171"/>
                  </a:lnTo>
                  <a:lnTo>
                    <a:pt x="50" y="194"/>
                  </a:lnTo>
                  <a:lnTo>
                    <a:pt x="56" y="214"/>
                  </a:lnTo>
                  <a:lnTo>
                    <a:pt x="64" y="231"/>
                  </a:lnTo>
                  <a:lnTo>
                    <a:pt x="75" y="244"/>
                  </a:lnTo>
                  <a:lnTo>
                    <a:pt x="89" y="255"/>
                  </a:lnTo>
                  <a:lnTo>
                    <a:pt x="105" y="262"/>
                  </a:lnTo>
                  <a:lnTo>
                    <a:pt x="123" y="266"/>
                  </a:lnTo>
                  <a:lnTo>
                    <a:pt x="144" y="267"/>
                  </a:lnTo>
                  <a:lnTo>
                    <a:pt x="167" y="266"/>
                  </a:lnTo>
                  <a:lnTo>
                    <a:pt x="189" y="262"/>
                  </a:lnTo>
                  <a:lnTo>
                    <a:pt x="210" y="256"/>
                  </a:lnTo>
                  <a:lnTo>
                    <a:pt x="228" y="249"/>
                  </a:lnTo>
                  <a:lnTo>
                    <a:pt x="232" y="286"/>
                  </a:lnTo>
                  <a:lnTo>
                    <a:pt x="203" y="296"/>
                  </a:lnTo>
                  <a:lnTo>
                    <a:pt x="171" y="302"/>
                  </a:lnTo>
                  <a:lnTo>
                    <a:pt x="136" y="304"/>
                  </a:lnTo>
                  <a:lnTo>
                    <a:pt x="108" y="302"/>
                  </a:lnTo>
                  <a:lnTo>
                    <a:pt x="83" y="297"/>
                  </a:lnTo>
                  <a:lnTo>
                    <a:pt x="62" y="288"/>
                  </a:lnTo>
                  <a:lnTo>
                    <a:pt x="43" y="275"/>
                  </a:lnTo>
                  <a:lnTo>
                    <a:pt x="28" y="259"/>
                  </a:lnTo>
                  <a:lnTo>
                    <a:pt x="15" y="238"/>
                  </a:lnTo>
                  <a:lnTo>
                    <a:pt x="7" y="214"/>
                  </a:lnTo>
                  <a:lnTo>
                    <a:pt x="1" y="186"/>
                  </a:lnTo>
                  <a:lnTo>
                    <a:pt x="0" y="154"/>
                  </a:lnTo>
                  <a:lnTo>
                    <a:pt x="1" y="126"/>
                  </a:lnTo>
                  <a:lnTo>
                    <a:pt x="7" y="98"/>
                  </a:lnTo>
                  <a:lnTo>
                    <a:pt x="15" y="74"/>
                  </a:lnTo>
                  <a:lnTo>
                    <a:pt x="27" y="53"/>
                  </a:lnTo>
                  <a:lnTo>
                    <a:pt x="42" y="35"/>
                  </a:lnTo>
                  <a:lnTo>
                    <a:pt x="60" y="20"/>
                  </a:lnTo>
                  <a:lnTo>
                    <a:pt x="80" y="9"/>
                  </a:lnTo>
                  <a:lnTo>
                    <a:pt x="103" y="2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4A4D4FE-067F-9CAF-8873-A2B16F48B3D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37401" y="2160184"/>
            <a:ext cx="3336661" cy="958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571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74652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 dirty="0"/>
              <a:t>Headline in all caps 28pt </a:t>
            </a:r>
            <a:br>
              <a:rPr lang="en-US" dirty="0"/>
            </a:br>
            <a:r>
              <a:rPr lang="en-US" dirty="0"/>
              <a:t>preferred as one or two lines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5608"/>
            <a:ext cx="7315200" cy="326974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10063" y="4891056"/>
            <a:ext cx="523875" cy="11004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9CF5EF28-261C-FD41-A360-1A380056DD1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ED5998-E33A-DA32-910D-D06CB262005E}"/>
              </a:ext>
            </a:extLst>
          </p:cNvPr>
          <p:cNvSpPr/>
          <p:nvPr userDrawn="1"/>
        </p:nvSpPr>
        <p:spPr>
          <a:xfrm>
            <a:off x="0" y="-2"/>
            <a:ext cx="228600" cy="5143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endParaRPr lang="en-US" sz="100">
              <a:solidFill>
                <a:schemeClr val="accent1"/>
              </a:solidFill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CC6D3E52-9083-DC08-10B3-FB4576900BEF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03235" y="4808444"/>
            <a:ext cx="776895" cy="2694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748B5C0-033F-F29C-4316-1C704BB1EFD7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550" y="4827893"/>
            <a:ext cx="1499616" cy="18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85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70" r:id="rId3"/>
    <p:sldLayoutId id="2147483662" r:id="rId4"/>
    <p:sldLayoutId id="2147483668" r:id="rId5"/>
    <p:sldLayoutId id="2147483671" r:id="rId6"/>
    <p:sldLayoutId id="2147483678" r:id="rId7"/>
    <p:sldLayoutId id="2147483682" r:id="rId8"/>
    <p:sldLayoutId id="2147483679" r:id="rId9"/>
    <p:sldLayoutId id="2147483683" r:id="rId10"/>
    <p:sldLayoutId id="2147483680" r:id="rId11"/>
    <p:sldLayoutId id="2147483681" r:id="rId12"/>
    <p:sldLayoutId id="2147483673" r:id="rId13"/>
    <p:sldLayoutId id="2147483674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marL="0" marR="0" indent="0" algn="l" defTabSz="685800" rtl="0" eaLnBrk="1" fontAlgn="auto" latinLnBrk="0" hangingPunct="1">
        <a:lnSpc>
          <a:spcPct val="90000"/>
        </a:lnSpc>
        <a:spcBef>
          <a:spcPct val="0"/>
        </a:spcBef>
        <a:spcAft>
          <a:spcPts val="0"/>
        </a:spcAft>
        <a:buClrTx/>
        <a:buSzTx/>
        <a:buFontTx/>
        <a:buNone/>
        <a:tabLst/>
        <a:defRPr sz="2800" b="1" i="0" kern="1200" cap="all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164592" indent="-164592" algn="l" defTabSz="6858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56032" algn="l" defTabSz="6858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System Font Regular"/>
        <a:buChar char="—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77850" indent="-142875" algn="l" defTabSz="6858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2013" indent="-256032" algn="l" defTabSz="6858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System Font Regular"/>
        <a:buChar char="—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31875" indent="-164592" algn="l" defTabSz="6858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System Font Regular"/>
        <a:buChar char="»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C35EA4"/>
          </p15:clr>
        </p15:guide>
        <p15:guide id="2" orient="horz" pos="1620" userDrawn="1">
          <p15:clr>
            <a:srgbClr val="C35EA4"/>
          </p15:clr>
        </p15:guide>
        <p15:guide id="3" pos="144" userDrawn="1">
          <p15:clr>
            <a:srgbClr val="C35EA4"/>
          </p15:clr>
        </p15:guide>
        <p15:guide id="4" pos="288" userDrawn="1">
          <p15:clr>
            <a:srgbClr val="C35EA4"/>
          </p15:clr>
        </p15:guide>
        <p15:guide id="5" orient="horz" pos="576" userDrawn="1">
          <p15:clr>
            <a:srgbClr val="C35EA4"/>
          </p15:clr>
        </p15:guide>
        <p15:guide id="6" orient="horz" pos="2964" userDrawn="1">
          <p15:clr>
            <a:srgbClr val="C35EA4"/>
          </p15:clr>
        </p15:guide>
        <p15:guide id="7" pos="5568" userDrawn="1">
          <p15:clr>
            <a:srgbClr val="C35EA4"/>
          </p15:clr>
        </p15:guide>
        <p15:guide id="8" orient="horz" pos="902" userDrawn="1">
          <p15:clr>
            <a:srgbClr val="C35EA4"/>
          </p15:clr>
        </p15:guide>
        <p15:guide id="9" orient="horz" pos="780" userDrawn="1">
          <p15:clr>
            <a:srgbClr val="C35EA4"/>
          </p15:clr>
        </p15:guide>
        <p15:guide id="10" orient="horz" pos="150" userDrawn="1">
          <p15:clr>
            <a:srgbClr val="C35EA4"/>
          </p15:clr>
        </p15:guide>
        <p15:guide id="11" orient="horz" pos="3132" userDrawn="1">
          <p15:clr>
            <a:srgbClr val="C35EA4"/>
          </p15:clr>
        </p15:guide>
        <p15:guide id="12" orient="horz" pos="1044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petsc/petsc_mcp_servers" TargetMode="External"/><Relationship Id="rId2" Type="http://schemas.openxmlformats.org/officeDocument/2006/relationships/hyperlink" Target="https://claude.com/product/claude-code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cc02.safelinks.protection.outlook.com/?url=https%3A%2F%2Fpetsc-ai.org%2F&amp;data=05%7C02%7Csarthak.sharma%40anl.gov%7Ccf9372cc002449d325f608deebfe5a94%7C0cfca18525f749e38ae7704d5326e285%7C0%7C0%7C639207674831701036%7CUnknown%7CTWFpbGZsb3d8eyJFbXB0eU1hcGkiOnRydWUsIlYiOiIwLjAuMDAwMCIsIlAiOiJXaW4zMiIsIkFOIjoiTWFpbCIsIldUIjoyfQ%3D%3D%7C0%7C%7C%7C&amp;sdata=%2BovS13djTXtzGcuclazz6qC8zXoXNsqFLM6KEyjbUvA%3D&amp;reserved=0" TargetMode="External"/><Relationship Id="rId5" Type="http://schemas.openxmlformats.org/officeDocument/2006/relationships/hyperlink" Target="https://www.energy.gov/science/doe-explainstokamaks" TargetMode="External"/><Relationship Id="rId4" Type="http://schemas.openxmlformats.org/officeDocument/2006/relationships/hyperlink" Target="https://en.wikipedia.org/wiki/Grad-Shafranov_equation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help.cels.anl.gov/docs/linux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329" y="930876"/>
            <a:ext cx="4711930" cy="2057400"/>
          </a:xfrm>
        </p:spPr>
        <p:txBody>
          <a:bodyPr/>
          <a:lstStyle/>
          <a:p>
            <a:r>
              <a:rPr lang="en-US" cap="none" dirty="0"/>
              <a:t>Multi-Agent AI System</a:t>
            </a:r>
            <a:br>
              <a:rPr lang="en-US" cap="none" dirty="0"/>
            </a:br>
            <a:r>
              <a:rPr lang="en-US" cap="none" dirty="0"/>
              <a:t>for </a:t>
            </a:r>
            <a:r>
              <a:rPr lang="en-US" cap="none" dirty="0" err="1"/>
              <a:t>PETSc</a:t>
            </a:r>
            <a:r>
              <a:rPr lang="en-US" cap="none" dirty="0"/>
              <a:t> Simulation of Plasma in a Tokamak (for Nuclear Fusion Energy)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7"/>
          </p:nvPr>
        </p:nvSpPr>
        <p:spPr>
          <a:xfrm>
            <a:off x="469901" y="3088274"/>
            <a:ext cx="2692871" cy="295275"/>
          </a:xfrm>
        </p:spPr>
        <p:txBody>
          <a:bodyPr/>
          <a:lstStyle/>
          <a:p>
            <a:r>
              <a:rPr lang="en-US" cap="none" dirty="0"/>
              <a:t>Presenter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8"/>
          </p:nvPr>
        </p:nvSpPr>
        <p:spPr>
          <a:xfrm>
            <a:off x="469901" y="3383549"/>
            <a:ext cx="8344316" cy="1031054"/>
          </a:xfrm>
        </p:spPr>
        <p:txBody>
          <a:bodyPr>
            <a:normAutofit/>
          </a:bodyPr>
          <a:lstStyle/>
          <a:p>
            <a:r>
              <a:rPr lang="en-US" dirty="0"/>
              <a:t>Sarthak Sharma</a:t>
            </a:r>
            <a:r>
              <a:rPr lang="en-US" baseline="30000" dirty="0"/>
              <a:t>1,2</a:t>
            </a:r>
          </a:p>
          <a:p>
            <a:r>
              <a:rPr lang="en-US" dirty="0"/>
              <a:t>Intern and PhD student</a:t>
            </a:r>
          </a:p>
          <a:p>
            <a:endParaRPr lang="en-US" dirty="0"/>
          </a:p>
          <a:p>
            <a:r>
              <a:rPr lang="en-US" baseline="30000" dirty="0"/>
              <a:t>1</a:t>
            </a:r>
            <a:r>
              <a:rPr lang="en-US" dirty="0"/>
              <a:t>Division of Mathematics and Computer Science, Argonne National Laboratory, </a:t>
            </a:r>
          </a:p>
          <a:p>
            <a:r>
              <a:rPr lang="en-US" baseline="30000" dirty="0"/>
              <a:t>2</a:t>
            </a:r>
            <a:r>
              <a:rPr lang="en-US" dirty="0"/>
              <a:t>Computational and Data Sciences, State University of New York at Buffalo.</a:t>
            </a:r>
          </a:p>
          <a:p>
            <a:endParaRPr baseline="30000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0"/>
          </p:nvPr>
        </p:nvSpPr>
        <p:spPr>
          <a:xfrm>
            <a:off x="6408295" y="243457"/>
            <a:ext cx="2405922" cy="342337"/>
          </a:xfrm>
        </p:spPr>
        <p:txBody>
          <a:bodyPr>
            <a:normAutofit/>
          </a:bodyPr>
          <a:lstStyle/>
          <a:p>
            <a:r>
              <a:rPr lang="en-US" dirty="0"/>
              <a:t>ANL Learning Off The Lawn</a:t>
            </a:r>
            <a:endParaRPr dirty="0"/>
          </a:p>
        </p:txBody>
      </p:sp>
      <p:pic>
        <p:nvPicPr>
          <p:cNvPr id="16" name="Picture Placeholder 15">
            <a:extLst>
              <a:ext uri="{FF2B5EF4-FFF2-40B4-BE49-F238E27FC236}">
                <a16:creationId xmlns:a16="http://schemas.microsoft.com/office/drawing/2014/main" id="{F910638E-4850-2493-C8DA-8173E63115E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7351" b="7351"/>
          <a:stretch/>
        </p:blipFill>
        <p:spPr>
          <a:xfrm>
            <a:off x="4939259" y="931419"/>
            <a:ext cx="4201565" cy="2057400"/>
          </a:xfrm>
          <a:prstGeom prst="rect">
            <a:avLst/>
          </a:prstGeom>
          <a:solidFill>
            <a:srgbClr val="FFFFFF">
              <a:lumMod val="75000"/>
            </a:srgbClr>
          </a:solidFill>
        </p:spPr>
      </p:pic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17A4DEDE-4F1E-D9D8-F353-74C425E1B348}"/>
              </a:ext>
            </a:extLst>
          </p:cNvPr>
          <p:cNvSpPr txBox="1">
            <a:spLocks/>
          </p:cNvSpPr>
          <p:nvPr/>
        </p:nvSpPr>
        <p:spPr>
          <a:xfrm>
            <a:off x="3124354" y="3046589"/>
            <a:ext cx="1281342" cy="29527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None/>
              <a:defRPr sz="14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System Font Regular"/>
              <a:buNone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2013" indent="-256032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System Font Regular"/>
              <a:buChar char="—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4592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System Font Regular"/>
              <a:buChar char="»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cap="none" dirty="0"/>
              <a:t>Advisors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C5C118E-5156-92EA-0B8B-B0F8DFCED32A}"/>
              </a:ext>
            </a:extLst>
          </p:cNvPr>
          <p:cNvSpPr txBox="1">
            <a:spLocks/>
          </p:cNvSpPr>
          <p:nvPr/>
        </p:nvSpPr>
        <p:spPr>
          <a:xfrm>
            <a:off x="3087974" y="3350845"/>
            <a:ext cx="5726244" cy="97660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System Font Regular"/>
              <a:buNone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7850" indent="-142875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2013" indent="-256032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System Font Regular"/>
              <a:buChar char="—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4592" algn="l" defTabSz="6858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System Font Regular"/>
              <a:buChar char="»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Dr </a:t>
            </a:r>
            <a:r>
              <a:rPr lang="en-US" dirty="0" err="1"/>
              <a:t>Junchao</a:t>
            </a:r>
            <a:r>
              <a:rPr lang="en-US" dirty="0"/>
              <a:t> Zhang</a:t>
            </a:r>
            <a:r>
              <a:rPr lang="en-US" baseline="30000" dirty="0"/>
              <a:t>1</a:t>
            </a:r>
            <a:r>
              <a:rPr lang="en-US" dirty="0"/>
              <a:t>, Dr Lois Curfman McInnes</a:t>
            </a:r>
            <a:r>
              <a:rPr lang="en-US" baseline="30000" dirty="0"/>
              <a:t>1</a:t>
            </a:r>
            <a:r>
              <a:rPr lang="en-US" dirty="0"/>
              <a:t>, Prof Matthew Knepley</a:t>
            </a:r>
            <a:r>
              <a:rPr lang="en-US" baseline="30000" dirty="0"/>
              <a:t>2</a:t>
            </a:r>
            <a:r>
              <a:rPr lang="en-US" dirty="0"/>
              <a:t>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C3604-1D56-E08F-A1DB-299C0FC8A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201" y="4709878"/>
            <a:ext cx="1698425" cy="261079"/>
          </a:xfrm>
          <a:prstGeom prst="rect">
            <a:avLst/>
          </a:prstGeo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B9859FE3-716C-5CCA-A542-5294D03C52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cap="none" dirty="0"/>
              <a:t>July 29, 2026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CB7890E-59E2-705F-2ED0-C68C94F00C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187" y="4590019"/>
            <a:ext cx="1560072" cy="4723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6C4C1-475C-83BE-5376-EC0805A4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74EA7-2DC8-6308-4A80-7B219F61F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151" y="217914"/>
            <a:ext cx="8192429" cy="438150"/>
          </a:xfrm>
        </p:spPr>
        <p:txBody>
          <a:bodyPr/>
          <a:lstStyle/>
          <a:p>
            <a:r>
              <a:rPr lang="en-US" sz="2500" cap="none" dirty="0"/>
              <a:t>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2D6090-4386-B838-1FDE-083F0AAE1AE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3151" y="758285"/>
            <a:ext cx="7813287" cy="3907387"/>
          </a:xfrm>
        </p:spPr>
        <p:txBody>
          <a:bodyPr wrap="square" numCol="1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Why nuclear fusion energy needs trustworthy simulation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The modeling challenge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The problem: Grad-</a:t>
            </a:r>
            <a:r>
              <a:rPr lang="en-US" sz="1600" dirty="0" err="1"/>
              <a:t>Shafranov</a:t>
            </a:r>
            <a:r>
              <a:rPr lang="en-US" sz="1600" dirty="0"/>
              <a:t> equilibrium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The AI system: 3-layer multi-agent AI pipeline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The AI pipeline in action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AI-agent-generated </a:t>
            </a:r>
            <a:r>
              <a:rPr lang="en-US" sz="1600" dirty="0" err="1"/>
              <a:t>PETSc</a:t>
            </a:r>
            <a:r>
              <a:rPr lang="en-US" sz="1600" dirty="0"/>
              <a:t> solver (excerpt)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Verification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Decision-gate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Fully autonomous: the built-in orchestrator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What we built and contributed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Takeaways and next steps</a:t>
            </a:r>
            <a:endParaRPr sz="16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DA462A-18B7-666E-96A1-FB69A299A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70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595" y="173309"/>
            <a:ext cx="8552985" cy="744585"/>
          </a:xfrm>
        </p:spPr>
        <p:txBody>
          <a:bodyPr/>
          <a:lstStyle/>
          <a:p>
            <a:r>
              <a:rPr lang="en-US" sz="2500" cap="none" dirty="0"/>
              <a:t>Why nuclear fusion energy needs trustworthy 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1022826"/>
            <a:ext cx="4018156" cy="1000382"/>
          </a:xfrm>
        </p:spPr>
        <p:txBody>
          <a:bodyPr/>
          <a:lstStyle/>
          <a:p>
            <a:r>
              <a:rPr lang="en-US" dirty="0"/>
              <a:t>Nuclear f</a:t>
            </a:r>
            <a:r>
              <a:rPr dirty="0"/>
              <a:t>usion could be a near-limitless clean energy source</a:t>
            </a:r>
            <a:r>
              <a:rPr lang="en-US" dirty="0"/>
              <a:t>,</a:t>
            </a:r>
            <a:r>
              <a:rPr dirty="0"/>
              <a:t> if we can </a:t>
            </a:r>
            <a:r>
              <a:rPr lang="en-US" dirty="0"/>
              <a:t>solve some challenges.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457199" y="2181069"/>
                <a:ext cx="3852864" cy="2573811"/>
              </a:xfrm>
            </p:spPr>
            <p:txBody>
              <a:bodyPr wrap="square">
                <a:noAutofit/>
              </a:bodyPr>
              <a:lstStyle/>
              <a:p>
                <a:r>
                  <a:rPr lang="en-US" dirty="0"/>
                  <a:t>Combine light nuclei to create heavy nuclei (e.g., hydrogen isotopes converted to helium). </a:t>
                </a:r>
              </a:p>
              <a:p>
                <a:r>
                  <a:rPr lang="en-US" dirty="0"/>
                  <a:t>Small amount of mass converted to large amount of energy: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Source of energy in stars.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457199" y="2181069"/>
                <a:ext cx="3852864" cy="2573811"/>
              </a:xfrm>
              <a:blipFill>
                <a:blip r:embed="rId2"/>
                <a:stretch>
                  <a:fillRect l="-3323" t="-3081" r="-5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DT nuclear fusion schematic (GG)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56" y="659038"/>
            <a:ext cx="4044176" cy="4044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31366" y="4754879"/>
            <a:ext cx="19403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5A5A"/>
                </a:solidFill>
              </a:rPr>
              <a:t>Deuterium–tritium fusion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213B2-F192-5B40-382F-263BFCE4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F7066-D2EF-E8F1-8473-7649913D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15A9D-5E4E-96F7-F10E-964BB1BCE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130" y="185854"/>
            <a:ext cx="8627325" cy="735623"/>
          </a:xfrm>
        </p:spPr>
        <p:txBody>
          <a:bodyPr/>
          <a:lstStyle/>
          <a:p>
            <a:r>
              <a:rPr lang="en-US" sz="2500" cap="none" dirty="0"/>
              <a:t>Why nuclear fusion energy needs trustworthy simulation (continued)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7066CF-4236-82A9-559A-D1612ACF4B8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595" y="1033346"/>
            <a:ext cx="3086120" cy="3721535"/>
          </a:xfrm>
        </p:spPr>
        <p:txBody>
          <a:bodyPr wrap="square">
            <a:noAutofit/>
          </a:bodyPr>
          <a:lstStyle/>
          <a:p>
            <a:r>
              <a:rPr lang="en-US" sz="1700" dirty="0"/>
              <a:t>Tokamak confines plasma (temperature around 150 million °C) in a magnetic “cage” long enough to fuse.</a:t>
            </a:r>
          </a:p>
          <a:p>
            <a:r>
              <a:rPr lang="en-US" sz="1700" dirty="0"/>
              <a:t>Accurate and scalable simulations needed before expensive and time-consuming physical experiments.</a:t>
            </a:r>
          </a:p>
          <a:p>
            <a:r>
              <a:rPr lang="en-US" sz="1700" dirty="0"/>
              <a:t>Simulations must be trustworthy. Plausible-looking wrong answer is worse than no answer.</a:t>
            </a:r>
            <a:endParaRPr sz="17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47187C-E9C9-07DB-E510-F783566CC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4</a:t>
            </a:fld>
            <a:endParaRPr lang="en-US"/>
          </a:p>
        </p:txBody>
      </p:sp>
      <p:pic>
        <p:nvPicPr>
          <p:cNvPr id="9" name="Picture 8" descr="doe-explains-tokamaks.jpg">
            <a:extLst>
              <a:ext uri="{FF2B5EF4-FFF2-40B4-BE49-F238E27FC236}">
                <a16:creationId xmlns:a16="http://schemas.microsoft.com/office/drawing/2014/main" id="{8A5F6487-9185-4165-CC2E-1D8E29151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8715" y="680044"/>
            <a:ext cx="5541205" cy="40594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53A42F-EF7A-BACC-1426-79231F1878CF}"/>
              </a:ext>
            </a:extLst>
          </p:cNvPr>
          <p:cNvSpPr txBox="1"/>
          <p:nvPr/>
        </p:nvSpPr>
        <p:spPr>
          <a:xfrm>
            <a:off x="4817326" y="4749447"/>
            <a:ext cx="301082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5A5A"/>
                </a:solidFill>
              </a:rPr>
              <a:t>Tokamak magnetic confinement (U.S. DOE)</a:t>
            </a:r>
          </a:p>
        </p:txBody>
      </p:sp>
    </p:spTree>
    <p:extLst>
      <p:ext uri="{BB962C8B-B14F-4D97-AF65-F5344CB8AC3E}">
        <p14:creationId xmlns:p14="http://schemas.microsoft.com/office/powerpoint/2010/main" val="1519695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B336-C9C1-38ED-F793-1FE21A60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BFB22A0-EBCE-D6EE-0E4D-ECF16365A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515" y="260355"/>
            <a:ext cx="7379023" cy="4399884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99A1574-FEE6-E844-5083-92DD0627B5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4179" y="318253"/>
            <a:ext cx="3961178" cy="834040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2000" dirty="0"/>
              <a:t>Schematic of a nuclear fusion power plant.</a:t>
            </a:r>
            <a:endParaRPr sz="2000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F611833-41D6-B256-98EB-89BD0FEED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12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8442"/>
            <a:ext cx="8382000" cy="518067"/>
          </a:xfrm>
        </p:spPr>
        <p:txBody>
          <a:bodyPr/>
          <a:lstStyle/>
          <a:p>
            <a:r>
              <a:rPr lang="en-US" sz="2500" cap="none" dirty="0"/>
              <a:t>The modeling challenge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726150"/>
            <a:ext cx="8382000" cy="736963"/>
          </a:xfrm>
        </p:spPr>
        <p:txBody>
          <a:bodyPr/>
          <a:lstStyle/>
          <a:p>
            <a:r>
              <a:rPr dirty="0"/>
              <a:t>Turning fusion physics into correct</a:t>
            </a:r>
            <a:r>
              <a:rPr lang="en-US" dirty="0"/>
              <a:t> and</a:t>
            </a:r>
            <a:r>
              <a:rPr dirty="0"/>
              <a:t> fast HPC code needs scarce</a:t>
            </a:r>
            <a:r>
              <a:rPr lang="en-US" dirty="0"/>
              <a:t> and</a:t>
            </a:r>
            <a:r>
              <a:rPr dirty="0"/>
              <a:t> implicit expertise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457200" y="1530019"/>
            <a:ext cx="8151541" cy="3224861"/>
          </a:xfrm>
        </p:spPr>
        <p:txBody>
          <a:bodyPr wrap="square">
            <a:normAutofit/>
          </a:bodyPr>
          <a:lstStyle/>
          <a:p>
            <a:r>
              <a:rPr b="1" dirty="0"/>
              <a:t>Numerical methods:</a:t>
            </a:r>
            <a:r>
              <a:rPr dirty="0"/>
              <a:t> </a:t>
            </a:r>
            <a:r>
              <a:rPr lang="en-US" dirty="0"/>
              <a:t>C</a:t>
            </a:r>
            <a:r>
              <a:rPr dirty="0"/>
              <a:t>hoose grids, </a:t>
            </a:r>
            <a:r>
              <a:rPr dirty="0" err="1"/>
              <a:t>discretizations</a:t>
            </a:r>
            <a:r>
              <a:rPr dirty="0"/>
              <a:t>, and solvers that actually converge.</a:t>
            </a:r>
          </a:p>
          <a:p>
            <a:r>
              <a:rPr b="1" dirty="0"/>
              <a:t>Librar</a:t>
            </a:r>
            <a:r>
              <a:rPr lang="en-US" b="1" dirty="0"/>
              <a:t>y</a:t>
            </a:r>
            <a:r>
              <a:rPr b="1" dirty="0"/>
              <a:t>: </a:t>
            </a:r>
            <a:r>
              <a:rPr lang="en-US" dirty="0"/>
              <a:t>E</a:t>
            </a:r>
            <a:r>
              <a:rPr dirty="0"/>
              <a:t>xpress it in </a:t>
            </a:r>
            <a:r>
              <a:rPr dirty="0" err="1"/>
              <a:t>PETSc</a:t>
            </a:r>
            <a:r>
              <a:rPr dirty="0"/>
              <a:t> </a:t>
            </a:r>
            <a:r>
              <a:rPr lang="en-US" dirty="0"/>
              <a:t>(Portable, Extensible Toolkit for Scientific Computation), a library for high-performance computing.</a:t>
            </a:r>
            <a:r>
              <a:rPr dirty="0"/>
              <a:t> </a:t>
            </a:r>
            <a:endParaRPr lang="en-US" dirty="0"/>
          </a:p>
          <a:p>
            <a:r>
              <a:rPr lang="en-US" b="1" dirty="0"/>
              <a:t>Parallelism: </a:t>
            </a:r>
            <a:r>
              <a:rPr lang="en-US" dirty="0"/>
              <a:t>R</a:t>
            </a:r>
            <a:r>
              <a:rPr dirty="0"/>
              <a:t>un on many CPU cores / GPUs.</a:t>
            </a:r>
          </a:p>
          <a:p>
            <a:r>
              <a:rPr b="1" dirty="0"/>
              <a:t>Verification:</a:t>
            </a:r>
            <a:r>
              <a:rPr dirty="0"/>
              <a:t> </a:t>
            </a:r>
            <a:r>
              <a:rPr lang="en-US" dirty="0"/>
              <a:t>P</a:t>
            </a:r>
            <a:r>
              <a:rPr dirty="0"/>
              <a:t>rove </a:t>
            </a:r>
            <a:r>
              <a:rPr lang="en-US" dirty="0"/>
              <a:t>that </a:t>
            </a:r>
            <a:r>
              <a:rPr dirty="0"/>
              <a:t>the computed answer is right, not merely plausible.</a:t>
            </a:r>
          </a:p>
          <a:p>
            <a:r>
              <a:rPr dirty="0"/>
              <a:t>Question: </a:t>
            </a:r>
            <a:r>
              <a:rPr lang="en-US" dirty="0"/>
              <a:t>C</a:t>
            </a:r>
            <a:r>
              <a:rPr dirty="0"/>
              <a:t>an a multi-agent AI system automate this whole path</a:t>
            </a:r>
            <a:r>
              <a:rPr lang="en-US" dirty="0"/>
              <a:t>,</a:t>
            </a:r>
            <a:r>
              <a:rPr dirty="0"/>
              <a:t> and can we trust it?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6C3EF-8370-8FCC-6A99-B5861C93F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6140"/>
            <a:ext cx="8382000" cy="518067"/>
          </a:xfrm>
        </p:spPr>
        <p:txBody>
          <a:bodyPr/>
          <a:lstStyle/>
          <a:p>
            <a:r>
              <a:rPr lang="en-US" sz="2500" cap="none" dirty="0"/>
              <a:t>The problem: Grad-</a:t>
            </a:r>
            <a:r>
              <a:rPr lang="en-US" sz="2500" cap="none" dirty="0" err="1"/>
              <a:t>Shafranov</a:t>
            </a:r>
            <a:r>
              <a:rPr lang="en-US" sz="2500" cap="none" dirty="0"/>
              <a:t>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/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726148"/>
                <a:ext cx="8382000" cy="438150"/>
              </a:xfrm>
            </p:spPr>
            <p:txBody>
              <a:bodyPr/>
              <a:lstStyle/>
              <a:p>
                <a:r>
                  <a:rPr lang="en-US" dirty="0"/>
                  <a:t>Axisymmetric ideal-MHD force balance for the poloidal flux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dirty="0"/>
              </a:p>
            </p:txBody>
          </p:sp>
        </mc:Choice>
        <mc:Fallback xmlns=""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726148"/>
                <a:ext cx="8382000" cy="438150"/>
              </a:xfrm>
              <a:blipFill>
                <a:blip r:embed="rId2"/>
                <a:stretch>
                  <a:fillRect l="-1818" t="-16667" b="-69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457200" y="1164298"/>
                <a:ext cx="5460379" cy="3590582"/>
              </a:xfrm>
            </p:spPr>
            <p:txBody>
              <a:bodyPr wrap="square">
                <a:noAutofit/>
              </a:bodyPr>
              <a:lstStyle/>
              <a:p>
                <a:r>
                  <a:rPr lang="en-US" sz="1500" dirty="0"/>
                  <a:t>Equilibrium magnetohydrodynamics for 2-dimensional plasma in a tokamak: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num>
                        <m:den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 −  </m:t>
                      </m:r>
                      <m:f>
                        <m:f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𝜕𝜓</m:t>
                          </m:r>
                        </m:num>
                        <m:den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 +  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𝜓</m:t>
                          </m:r>
                        </m:num>
                        <m:den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  =   −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𝑑𝑝</m:t>
                          </m:r>
                        </m:num>
                        <m:den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 −  </m:t>
                      </m:r>
                      <m:f>
                        <m:f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r>
                  <a:rPr lang="en-US" sz="1500" dirty="0"/>
                  <a:t>where </a:t>
                </a:r>
                <a14:m>
                  <m:oMath xmlns:m="http://schemas.openxmlformats.org/officeDocument/2006/math"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1500" dirty="0"/>
                  <a:t> is magnetic flux, </a:t>
                </a:r>
                <a14:m>
                  <m:oMath xmlns:m="http://schemas.openxmlformats.org/officeDocument/2006/math"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500" dirty="0"/>
                  <a:t> is plasma pressure,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500" dirty="0"/>
                  <a:t> is magnetic permeability, </a:t>
                </a:r>
                <a14:m>
                  <m:oMath xmlns:m="http://schemas.openxmlformats.org/officeDocument/2006/math">
                    <m:r>
                      <a:rPr lang="en-US" sz="15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1500" dirty="0"/>
                  <a:t>, </a:t>
                </a:r>
                <a14:m>
                  <m:oMath xmlns:m="http://schemas.openxmlformats.org/officeDocument/2006/math"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500" dirty="0"/>
                  <a:t> is magnetic field, and </a:t>
                </a:r>
                <a14:m>
                  <m:oMath xmlns:m="http://schemas.openxmlformats.org/officeDocument/2006/math">
                    <m:r>
                      <a:rPr lang="en-US" sz="15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500" dirty="0"/>
                  <a:t> are cylindrical coordinates.</a:t>
                </a:r>
              </a:p>
              <a:p>
                <a:r>
                  <a:rPr lang="en-US" sz="1500" dirty="0"/>
                  <a:t>Elliptic, non-linear, time-independent PDE. Its solution gives the flux surfaces, magnetic axis, and safety factor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500" dirty="0"/>
                  <a:t>.</a:t>
                </a:r>
              </a:p>
              <a:p>
                <a:r>
                  <a:rPr lang="en-US" sz="1500" dirty="0"/>
                  <a:t>A natural problem for </a:t>
                </a:r>
                <a:r>
                  <a:rPr lang="en-US" sz="1500" dirty="0" err="1"/>
                  <a:t>PETSc</a:t>
                </a:r>
                <a:r>
                  <a:rPr lang="en-US" sz="1500" dirty="0"/>
                  <a:t> SNES (Scalable Nonlinear Equations Solvers).</a:t>
                </a:r>
              </a:p>
              <a:p>
                <a:r>
                  <a:rPr lang="en-US" sz="1500" dirty="0"/>
                  <a:t>Verifiable: a manufactured exact solution gives a rigorous convergence test.</a:t>
                </a:r>
                <a:endParaRPr sz="15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457200" y="1164298"/>
                <a:ext cx="5460379" cy="3590582"/>
              </a:xfrm>
              <a:blipFill>
                <a:blip r:embed="rId3"/>
                <a:stretch>
                  <a:fillRect l="-2121" t="-1698" r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gs_flux_surfa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7579" y="1097464"/>
            <a:ext cx="3134929" cy="3657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97190" y="4728151"/>
            <a:ext cx="25276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5A5A"/>
                </a:solidFill>
              </a:rPr>
              <a:t>Flux surfaces of the verified solution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A0CD4-FF06-6117-0887-C995A91EA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438150"/>
          </a:xfrm>
        </p:spPr>
        <p:txBody>
          <a:bodyPr/>
          <a:lstStyle/>
          <a:p>
            <a:r>
              <a:rPr lang="en-US" sz="2500" cap="none" dirty="0"/>
              <a:t>The AI system: multi-agent AI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822060"/>
            <a:ext cx="8500946" cy="438151"/>
          </a:xfrm>
        </p:spPr>
        <p:txBody>
          <a:bodyPr/>
          <a:lstStyle/>
          <a:p>
            <a:r>
              <a:rPr dirty="0" err="1"/>
              <a:t>PETSc</a:t>
            </a:r>
            <a:r>
              <a:rPr dirty="0"/>
              <a:t> Model-Context-Protocol (MCP) agents, coordinated end to end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457200" y="1285134"/>
            <a:ext cx="8382000" cy="3300296"/>
          </a:xfrm>
        </p:spPr>
        <p:txBody>
          <a:bodyPr wrap="square">
            <a:noAutofit/>
          </a:bodyPr>
          <a:lstStyle/>
          <a:p>
            <a:r>
              <a:rPr dirty="0"/>
              <a:t>Problem definition </a:t>
            </a:r>
            <a:r>
              <a:rPr lang="en-US" dirty="0"/>
              <a:t>(</a:t>
            </a:r>
            <a:r>
              <a:rPr b="1" dirty="0"/>
              <a:t>Mathematical Modeling</a:t>
            </a:r>
            <a:r>
              <a:rPr lang="en-US" dirty="0"/>
              <a:t>):</a:t>
            </a:r>
            <a:r>
              <a:rPr dirty="0"/>
              <a:t> strong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weak form, </a:t>
            </a:r>
            <a:r>
              <a:rPr lang="en-US" dirty="0"/>
              <a:t>problem </a:t>
            </a:r>
            <a:r>
              <a:rPr dirty="0"/>
              <a:t>name, time-dependence.</a:t>
            </a:r>
          </a:p>
          <a:p>
            <a:r>
              <a:rPr dirty="0"/>
              <a:t>Agent execution </a:t>
            </a:r>
            <a:r>
              <a:rPr lang="en-US" dirty="0"/>
              <a:t>(</a:t>
            </a:r>
            <a:r>
              <a:rPr b="1" dirty="0"/>
              <a:t>Numerical Analysis</a:t>
            </a:r>
            <a:r>
              <a:rPr lang="en-US" dirty="0"/>
              <a:t>):</a:t>
            </a:r>
            <a:r>
              <a:rPr dirty="0"/>
              <a:t> grid, discretization, solver (SNES).</a:t>
            </a:r>
          </a:p>
          <a:p>
            <a:r>
              <a:rPr dirty="0"/>
              <a:t>Agent execution </a:t>
            </a:r>
            <a:r>
              <a:rPr lang="en-US" dirty="0"/>
              <a:t>(</a:t>
            </a:r>
            <a:r>
              <a:rPr b="1" dirty="0"/>
              <a:t>HPC Code Generation</a:t>
            </a:r>
            <a:r>
              <a:rPr lang="en-US" dirty="0"/>
              <a:t>):</a:t>
            </a:r>
            <a:r>
              <a:rPr dirty="0"/>
              <a:t> writes, compiles </a:t>
            </a:r>
            <a:r>
              <a:rPr lang="en-US" dirty="0"/>
              <a:t>and</a:t>
            </a:r>
            <a:r>
              <a:rPr dirty="0"/>
              <a:t> runs </a:t>
            </a:r>
            <a:r>
              <a:rPr dirty="0" err="1"/>
              <a:t>PETSc</a:t>
            </a:r>
            <a:r>
              <a:rPr dirty="0"/>
              <a:t> C</a:t>
            </a:r>
            <a:r>
              <a:rPr lang="en-US" dirty="0"/>
              <a:t> programs</a:t>
            </a:r>
            <a:r>
              <a:rPr dirty="0"/>
              <a:t>.</a:t>
            </a:r>
          </a:p>
          <a:p>
            <a:r>
              <a:rPr dirty="0"/>
              <a:t>Execution substrate </a:t>
            </a:r>
            <a:r>
              <a:rPr lang="en-US" dirty="0"/>
              <a:t>(</a:t>
            </a:r>
            <a:r>
              <a:rPr lang="en-US" b="1" dirty="0"/>
              <a:t>C</a:t>
            </a:r>
            <a:r>
              <a:rPr b="1" dirty="0"/>
              <a:t>ompile</a:t>
            </a:r>
            <a:r>
              <a:rPr lang="en-US" b="1" dirty="0"/>
              <a:t> and R</a:t>
            </a:r>
            <a:r>
              <a:rPr b="1" dirty="0"/>
              <a:t>un</a:t>
            </a:r>
            <a:r>
              <a:rPr lang="en-US" dirty="0"/>
              <a:t>):</a:t>
            </a:r>
            <a:r>
              <a:rPr dirty="0"/>
              <a:t> make / run on the real machine.</a:t>
            </a:r>
          </a:p>
          <a:p>
            <a:r>
              <a:rPr dirty="0"/>
              <a:t>All agents run against Argonne’s Argo gateway (Claude Opus 4.8).</a:t>
            </a:r>
          </a:p>
          <a:p>
            <a:r>
              <a:rPr dirty="0"/>
              <a:t>A project-owned driver records every artifact with provenance (reproducible</a:t>
            </a:r>
            <a:r>
              <a:rPr lang="en-US" dirty="0"/>
              <a:t> and</a:t>
            </a:r>
            <a:r>
              <a:rPr dirty="0"/>
              <a:t> resumable).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AD52D-524D-78C4-F987-55F655DE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E0F8E-4F77-7C93-8A9C-1CED0947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C04F89-BB23-12A1-EBC8-877EE9818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61979E-BCC1-3C61-950D-856781A4A1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55" y="0"/>
            <a:ext cx="638882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69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570106"/>
          </a:xfrm>
        </p:spPr>
        <p:txBody>
          <a:bodyPr/>
          <a:lstStyle/>
          <a:p>
            <a:r>
              <a:rPr lang="en-US" sz="2500" cap="none" dirty="0"/>
              <a:t>The AI pipeline in 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993775"/>
            <a:ext cx="8382000" cy="570106"/>
          </a:xfrm>
        </p:spPr>
        <p:txBody>
          <a:bodyPr/>
          <a:lstStyle/>
          <a:p>
            <a:r>
              <a:rPr dirty="0"/>
              <a:t>From one English prompt to a compiled, running solver</a:t>
            </a:r>
            <a:r>
              <a:rPr lang="en-US" dirty="0"/>
              <a:t>,</a:t>
            </a:r>
            <a:r>
              <a:rPr dirty="0"/>
              <a:t> with no human edits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457199" y="1739590"/>
            <a:ext cx="8047463" cy="2965760"/>
          </a:xfrm>
        </p:spPr>
        <p:txBody>
          <a:bodyPr wrap="square">
            <a:noAutofit/>
          </a:bodyPr>
          <a:lstStyle/>
          <a:p>
            <a:r>
              <a:rPr b="1" dirty="0"/>
              <a:t>Prompt:</a:t>
            </a:r>
            <a:r>
              <a:rPr dirty="0"/>
              <a:t> “</a:t>
            </a:r>
            <a:r>
              <a:rPr i="1" dirty="0"/>
              <a:t>the Grad-</a:t>
            </a:r>
            <a:r>
              <a:rPr i="1" dirty="0" err="1"/>
              <a:t>Shafranov</a:t>
            </a:r>
            <a:r>
              <a:rPr i="1" dirty="0"/>
              <a:t> equilibrium for the plasma in a tokamak</a:t>
            </a:r>
            <a:r>
              <a:rPr dirty="0"/>
              <a:t>.”</a:t>
            </a:r>
          </a:p>
          <a:p>
            <a:r>
              <a:rPr b="1" dirty="0"/>
              <a:t>Modeling </a:t>
            </a:r>
            <a:r>
              <a:rPr lang="en-US" b="1" dirty="0"/>
              <a:t>AI </a:t>
            </a:r>
            <a:r>
              <a:rPr b="1" dirty="0"/>
              <a:t>agent</a:t>
            </a:r>
            <a:r>
              <a:rPr lang="en-US" b="1" dirty="0"/>
              <a:t>:</a:t>
            </a:r>
            <a:r>
              <a:rPr b="1" dirty="0"/>
              <a:t> </a:t>
            </a:r>
            <a:r>
              <a:rPr dirty="0"/>
              <a:t>identified ‘Grad-</a:t>
            </a:r>
            <a:r>
              <a:rPr dirty="0" err="1"/>
              <a:t>Shafranov</a:t>
            </a:r>
            <a:r>
              <a:rPr dirty="0"/>
              <a:t> equation’; time-dependent = False.</a:t>
            </a:r>
          </a:p>
          <a:p>
            <a:r>
              <a:rPr b="1" dirty="0"/>
              <a:t>Numerical Analysis </a:t>
            </a:r>
            <a:r>
              <a:rPr lang="en-US" b="1" dirty="0"/>
              <a:t>AI </a:t>
            </a:r>
            <a:r>
              <a:rPr b="1" dirty="0"/>
              <a:t>agent</a:t>
            </a:r>
            <a:r>
              <a:rPr lang="en-US" b="1" dirty="0"/>
              <a:t>:</a:t>
            </a:r>
            <a:r>
              <a:rPr b="1" dirty="0"/>
              <a:t> </a:t>
            </a:r>
            <a:r>
              <a:rPr dirty="0"/>
              <a:t>non</a:t>
            </a:r>
            <a:r>
              <a:rPr lang="en-US" dirty="0"/>
              <a:t>-</a:t>
            </a:r>
            <a:r>
              <a:rPr dirty="0"/>
              <a:t>linear solve with SNES on a structured grid.</a:t>
            </a:r>
          </a:p>
          <a:p>
            <a:r>
              <a:rPr b="1" dirty="0"/>
              <a:t>Code Generation </a:t>
            </a:r>
            <a:r>
              <a:rPr lang="en-US" b="1" dirty="0"/>
              <a:t>AI </a:t>
            </a:r>
            <a:r>
              <a:rPr b="1" dirty="0"/>
              <a:t>agent</a:t>
            </a:r>
            <a:r>
              <a:rPr lang="en-US" b="1" dirty="0"/>
              <a:t>:</a:t>
            </a:r>
            <a:r>
              <a:rPr b="1" dirty="0"/>
              <a:t> </a:t>
            </a:r>
            <a:r>
              <a:rPr dirty="0"/>
              <a:t>267-line </a:t>
            </a:r>
            <a:r>
              <a:rPr dirty="0" err="1"/>
              <a:t>PETSc</a:t>
            </a:r>
            <a:r>
              <a:rPr dirty="0"/>
              <a:t> program (DMDA + SNES + true Jacobian).</a:t>
            </a:r>
          </a:p>
          <a:p>
            <a:r>
              <a:rPr dirty="0"/>
              <a:t>Compiled and ran on 1 and 4 MPI ranks</a:t>
            </a:r>
            <a:r>
              <a:rPr lang="en-US" dirty="0"/>
              <a:t>.</a:t>
            </a:r>
            <a:r>
              <a:rPr dirty="0"/>
              <a:t> </a:t>
            </a:r>
            <a:r>
              <a:rPr lang="en-US" dirty="0"/>
              <a:t>N</a:t>
            </a:r>
            <a:r>
              <a:rPr dirty="0"/>
              <a:t>o human edits.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4BCF68-D070-C520-BF5B-35E372171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541315"/>
          </a:xfrm>
        </p:spPr>
        <p:txBody>
          <a:bodyPr/>
          <a:lstStyle/>
          <a:p>
            <a:r>
              <a:rPr lang="en-US" sz="2500" cap="none" dirty="0"/>
              <a:t>AI-agent-generated </a:t>
            </a:r>
            <a:r>
              <a:rPr lang="en-US" sz="2500" cap="none" dirty="0" err="1"/>
              <a:t>PETSc</a:t>
            </a:r>
            <a:r>
              <a:rPr lang="en-US" sz="2500" cap="none" dirty="0"/>
              <a:t> solver (excerpt)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993774"/>
            <a:ext cx="8382000" cy="671269"/>
          </a:xfrm>
        </p:spPr>
        <p:txBody>
          <a:bodyPr/>
          <a:lstStyle/>
          <a:p>
            <a:r>
              <a:rPr dirty="0"/>
              <a:t>A true-Jacobian finite-difference SNES residual</a:t>
            </a:r>
            <a:r>
              <a:rPr lang="en-US" dirty="0"/>
              <a:t>,</a:t>
            </a:r>
            <a:r>
              <a:rPr dirty="0"/>
              <a:t> written by the Code Generation </a:t>
            </a:r>
            <a:r>
              <a:rPr lang="en-US" dirty="0"/>
              <a:t>AI </a:t>
            </a:r>
            <a:r>
              <a:rPr dirty="0"/>
              <a:t>agent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457200" y="1828798"/>
            <a:ext cx="8229600" cy="2743201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0082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33609"/>
            <a:ext cx="786384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dirty="0">
                <a:solidFill>
                  <a:srgbClr val="1F1F1F"/>
                </a:solidFill>
                <a:latin typeface="Consolas"/>
              </a:rPr>
              <a:t>static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PetscErrorCode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FormFunction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(SNES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snes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Vec X, Vec F, void *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ctx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){</a:t>
            </a:r>
          </a:p>
          <a:p>
            <a:r>
              <a:rPr sz="1500" dirty="0">
                <a:solidFill>
                  <a:srgbClr val="1F1F1F"/>
                </a:solidFill>
                <a:latin typeface="Consolas"/>
              </a:rPr>
              <a:t>  /* Delta*_h psi = (psi_E-2psi_C+psi_W)/hR^2</a:t>
            </a:r>
          </a:p>
          <a:p>
            <a:r>
              <a:rPr sz="1500" dirty="0">
                <a:solidFill>
                  <a:srgbClr val="1F1F1F"/>
                </a:solidFill>
                <a:latin typeface="Consolas"/>
              </a:rPr>
              <a:t>                  - (1/R)(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psi_E-psi_W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)/(2hR)</a:t>
            </a:r>
          </a:p>
          <a:p>
            <a:r>
              <a:rPr sz="1500" dirty="0">
                <a:solidFill>
                  <a:srgbClr val="1F1F1F"/>
                </a:solidFill>
                <a:latin typeface="Consolas"/>
              </a:rPr>
              <a:t>                  + (psi_N-2psi_C+psi_S)/hZ^2   */</a:t>
            </a:r>
          </a:p>
          <a:p>
            <a:r>
              <a:rPr sz="1500" dirty="0">
                <a:solidFill>
                  <a:srgbClr val="1F1F1F"/>
                </a:solidFill>
                <a:latin typeface="Consolas"/>
              </a:rPr>
              <a:t>  f[j][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] =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dRR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 - dR1/R +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dZZ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 -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ForcingF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(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user,R,Z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);   /* residual */</a:t>
            </a:r>
          </a:p>
          <a:p>
            <a:r>
              <a:rPr sz="1500" dirty="0">
                <a:solidFill>
                  <a:srgbClr val="1F1F1F"/>
                </a:solidFill>
                <a:latin typeface="Consolas"/>
              </a:rPr>
              <a:t>}</a:t>
            </a:r>
          </a:p>
          <a:p>
            <a:r>
              <a:rPr sz="1500" dirty="0" err="1">
                <a:solidFill>
                  <a:srgbClr val="1F1F1F"/>
                </a:solidFill>
                <a:latin typeface="Consolas"/>
              </a:rPr>
              <a:t>SNESSetFunction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(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snes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r,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FormFunction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&amp;user);</a:t>
            </a:r>
          </a:p>
          <a:p>
            <a:r>
              <a:rPr sz="1500" dirty="0" err="1">
                <a:solidFill>
                  <a:srgbClr val="1F1F1F"/>
                </a:solidFill>
                <a:latin typeface="Consolas"/>
              </a:rPr>
              <a:t>SNESSetJacobian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(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snes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J, J, 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FormJacobian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&amp;user);   /* true Jacobian */</a:t>
            </a:r>
          </a:p>
          <a:p>
            <a:r>
              <a:rPr sz="1500" dirty="0" err="1">
                <a:solidFill>
                  <a:srgbClr val="1F1F1F"/>
                </a:solidFill>
                <a:latin typeface="Consolas"/>
              </a:rPr>
              <a:t>SNESSolve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(</a:t>
            </a:r>
            <a:r>
              <a:rPr sz="1500" dirty="0" err="1">
                <a:solidFill>
                  <a:srgbClr val="1F1F1F"/>
                </a:solidFill>
                <a:latin typeface="Consolas"/>
              </a:rPr>
              <a:t>snes</a:t>
            </a:r>
            <a:r>
              <a:rPr sz="1500" dirty="0">
                <a:solidFill>
                  <a:srgbClr val="1F1F1F"/>
                </a:solidFill>
                <a:latin typeface="Consolas"/>
              </a:rPr>
              <a:t>, NULL, x);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3A739-3FFA-0F37-A8B7-7A3938DD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5348"/>
            <a:ext cx="8382000" cy="520701"/>
          </a:xfrm>
        </p:spPr>
        <p:txBody>
          <a:bodyPr/>
          <a:lstStyle/>
          <a:p>
            <a:r>
              <a:rPr lang="en-US" sz="2500" cap="none" dirty="0"/>
              <a:t>Verification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837660"/>
            <a:ext cx="8382000" cy="730947"/>
          </a:xfrm>
        </p:spPr>
        <p:txBody>
          <a:bodyPr/>
          <a:lstStyle/>
          <a:p>
            <a:r>
              <a:rPr dirty="0"/>
              <a:t>Method of manufactured solutions</a:t>
            </a:r>
            <a:r>
              <a:rPr lang="en-US" dirty="0"/>
              <a:t>:</a:t>
            </a:r>
            <a:r>
              <a:rPr dirty="0"/>
              <a:t> a measured order of accuracy, not just plausible output</a:t>
            </a:r>
            <a:r>
              <a:rPr lang="en-US" dirty="0"/>
              <a:t>.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457200" y="1806498"/>
                <a:ext cx="3966117" cy="2948382"/>
              </a:xfrm>
            </p:spPr>
            <p:txBody>
              <a:bodyPr wrap="square">
                <a:normAutofit/>
              </a:bodyPr>
              <a:lstStyle/>
              <a:p>
                <a:r>
                  <a:rPr lang="en-US" sz="1700" dirty="0"/>
                  <a:t>Known exact 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1700" dirty="0"/>
                  <a:t>: check the numerical error as the grid refines.</a:t>
                </a:r>
              </a:p>
              <a:p>
                <a:r>
                  <a:rPr lang="en-US" sz="1700" dirty="0"/>
                  <a:t>Max-norm error = 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1.32</m:t>
                    </m:r>
                    <m:r>
                      <a:rPr lang="en-US" sz="17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17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700" i="1" dirty="0" smtClean="0">
                            <a:latin typeface="Cambria Math" panose="02040503050406030204" pitchFamily="18" charset="0"/>
                          </a:rPr>
                          <m:t>−5</m:t>
                        </m:r>
                      </m:sup>
                    </m:sSup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700" dirty="0"/>
                  <a:t>on the finest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 smtClean="0">
                            <a:latin typeface="Cambria Math" panose="02040503050406030204" pitchFamily="18" charset="0"/>
                          </a:rPr>
                          <m:t>257</m:t>
                        </m:r>
                      </m:e>
                      <m:sup>
                        <m:r>
                          <a:rPr lang="en-US" sz="17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700" dirty="0"/>
                  <a:t> grid.</a:t>
                </a:r>
              </a:p>
              <a:p>
                <a:r>
                  <a:rPr lang="en-US" sz="1700" dirty="0"/>
                  <a:t>Observed order of accuracy 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 = 2.00, 2.00, 2.00</m:t>
                    </m:r>
                  </m:oMath>
                </a14:m>
                <a:r>
                  <a:rPr lang="en-US" sz="1700" dirty="0"/>
                  <a:t> (expected 2 for central differences).</a:t>
                </a:r>
              </a:p>
              <a:p>
                <a:r>
                  <a:rPr lang="en-US" sz="1700" dirty="0"/>
                  <a:t>SNES converged: CONVERGED_FNORM_RELATIVE.</a:t>
                </a:r>
                <a:endParaRPr sz="17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457200" y="1806498"/>
                <a:ext cx="3966117" cy="2948382"/>
              </a:xfrm>
              <a:blipFill>
                <a:blip r:embed="rId2"/>
                <a:stretch>
                  <a:fillRect l="-2919" t="-2273" r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gs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857" y="1278674"/>
            <a:ext cx="4503824" cy="33778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03181" y="4656542"/>
            <a:ext cx="25053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5A5A"/>
                </a:solidFill>
              </a:rPr>
              <a:t>Manufactured-solution convergence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D38D8-DCA8-20F8-868B-B558ACA9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532935"/>
          </a:xfrm>
        </p:spPr>
        <p:txBody>
          <a:bodyPr/>
          <a:lstStyle/>
          <a:p>
            <a:r>
              <a:rPr lang="en-US" sz="2500" cap="none" dirty="0"/>
              <a:t>Decision-gate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929268"/>
            <a:ext cx="8382000" cy="683941"/>
          </a:xfrm>
        </p:spPr>
        <p:txBody>
          <a:bodyPr/>
          <a:lstStyle/>
          <a:p>
            <a:r>
              <a:rPr dirty="0"/>
              <a:t>Correctness, human effort, and efficiency</a:t>
            </a:r>
            <a:r>
              <a:rPr lang="en-US" dirty="0"/>
              <a:t>:</a:t>
            </a:r>
            <a:r>
              <a:rPr dirty="0"/>
              <a:t> the numbers behind the demo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457199" y="1740297"/>
            <a:ext cx="8233317" cy="2965053"/>
          </a:xfrm>
        </p:spPr>
        <p:txBody>
          <a:bodyPr wrap="square">
            <a:normAutofit fontScale="92500" lnSpcReduction="10000"/>
          </a:bodyPr>
          <a:lstStyle/>
          <a:p>
            <a:r>
              <a:rPr b="1" dirty="0"/>
              <a:t>Correctness</a:t>
            </a:r>
            <a:r>
              <a:rPr dirty="0"/>
              <a:t>: </a:t>
            </a:r>
            <a:endParaRPr lang="en-US" dirty="0"/>
          </a:p>
          <a:p>
            <a:pPr lvl="1"/>
            <a:r>
              <a:rPr dirty="0"/>
              <a:t>model identified, </a:t>
            </a:r>
            <a:endParaRPr lang="en-US" dirty="0"/>
          </a:p>
          <a:p>
            <a:pPr lvl="1"/>
            <a:r>
              <a:rPr lang="en-US" dirty="0"/>
              <a:t>C programs </a:t>
            </a:r>
            <a:r>
              <a:rPr dirty="0"/>
              <a:t>compiled </a:t>
            </a:r>
            <a:r>
              <a:rPr lang="en-US" dirty="0"/>
              <a:t>and</a:t>
            </a:r>
            <a:r>
              <a:rPr dirty="0"/>
              <a:t> ran, </a:t>
            </a:r>
            <a:endParaRPr lang="en-US" dirty="0"/>
          </a:p>
          <a:p>
            <a:pPr lvl="1"/>
            <a:r>
              <a:rPr lang="en-US" dirty="0"/>
              <a:t>second</a:t>
            </a:r>
            <a:r>
              <a:rPr dirty="0"/>
              <a:t>-order convergence.</a:t>
            </a:r>
          </a:p>
          <a:p>
            <a:r>
              <a:rPr b="1" dirty="0"/>
              <a:t>Human effort</a:t>
            </a:r>
            <a:r>
              <a:rPr dirty="0"/>
              <a:t>: 0 lines of solver code hand-written</a:t>
            </a:r>
            <a:r>
              <a:rPr lang="en-US" dirty="0"/>
              <a:t>.</a:t>
            </a:r>
            <a:r>
              <a:rPr dirty="0"/>
              <a:t> </a:t>
            </a:r>
            <a:r>
              <a:rPr lang="en-US" dirty="0"/>
              <a:t>I</a:t>
            </a:r>
            <a:r>
              <a:rPr dirty="0"/>
              <a:t>t was </a:t>
            </a:r>
            <a:r>
              <a:rPr lang="en-US" dirty="0"/>
              <a:t>all AI-</a:t>
            </a:r>
            <a:r>
              <a:rPr dirty="0"/>
              <a:t>generated.</a:t>
            </a:r>
          </a:p>
          <a:p>
            <a:r>
              <a:rPr b="1" dirty="0"/>
              <a:t>Efficiency</a:t>
            </a:r>
            <a:r>
              <a:rPr dirty="0"/>
              <a:t>: total wall-clock </a:t>
            </a:r>
            <a:r>
              <a:rPr lang="en-US" dirty="0"/>
              <a:t>≈</a:t>
            </a:r>
            <a:r>
              <a:rPr dirty="0"/>
              <a:t> 450.8 s</a:t>
            </a:r>
            <a:r>
              <a:rPr lang="en-US" dirty="0"/>
              <a:t>econds</a:t>
            </a:r>
            <a:r>
              <a:rPr dirty="0"/>
              <a:t>; code-gen used 5 tool calls.</a:t>
            </a:r>
            <a:endParaRPr lang="en-US" dirty="0"/>
          </a:p>
          <a:p>
            <a:pPr lvl="1"/>
            <a:r>
              <a:rPr lang="en-US" dirty="0"/>
              <a:t>model 92.5 seconds, </a:t>
            </a:r>
          </a:p>
          <a:p>
            <a:pPr lvl="1"/>
            <a:r>
              <a:rPr lang="en-US" dirty="0"/>
              <a:t>numerical-analysis 65.5 seconds, </a:t>
            </a:r>
          </a:p>
          <a:p>
            <a:pPr lvl="1"/>
            <a:r>
              <a:rPr lang="en-US" dirty="0"/>
              <a:t>code-generation 292.8 seconds.</a:t>
            </a:r>
            <a:endParaRPr dirty="0"/>
          </a:p>
          <a:p>
            <a:r>
              <a:rPr lang="en-US" dirty="0"/>
              <a:t>Around </a:t>
            </a:r>
            <a:r>
              <a:rPr dirty="0"/>
              <a:t>23 completions </a:t>
            </a:r>
            <a:r>
              <a:rPr lang="en-US" dirty="0"/>
              <a:t>of LLM (large language model) </a:t>
            </a:r>
            <a:r>
              <a:rPr dirty="0"/>
              <a:t>across the whole pipeline.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ED01E3-BE99-035A-CE94-7776CFD8F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6404"/>
            <a:ext cx="8382000" cy="584974"/>
          </a:xfrm>
        </p:spPr>
        <p:txBody>
          <a:bodyPr/>
          <a:lstStyle/>
          <a:p>
            <a:r>
              <a:rPr lang="en-US" sz="2500" cap="none" dirty="0"/>
              <a:t>Fully autonomous: the built-in AI orchestrator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72068" y="852528"/>
            <a:ext cx="8017727" cy="678905"/>
          </a:xfrm>
        </p:spPr>
        <p:txBody>
          <a:bodyPr/>
          <a:lstStyle/>
          <a:p>
            <a:r>
              <a:rPr dirty="0"/>
              <a:t>The orchestrator </a:t>
            </a:r>
            <a:r>
              <a:rPr lang="en-US" dirty="0"/>
              <a:t>AI agent </a:t>
            </a:r>
            <a:r>
              <a:rPr dirty="0"/>
              <a:t>drives all four </a:t>
            </a:r>
            <a:r>
              <a:rPr lang="en-US" dirty="0"/>
              <a:t>specialist AI </a:t>
            </a:r>
            <a:r>
              <a:rPr dirty="0"/>
              <a:t>agents itself</a:t>
            </a:r>
            <a:r>
              <a:rPr lang="en-US" dirty="0"/>
              <a:t> (no need for a human to micro-manage).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457200" y="1590907"/>
                <a:ext cx="8382000" cy="3114443"/>
              </a:xfrm>
            </p:spPr>
            <p:txBody>
              <a:bodyPr wrap="square">
                <a:noAutofit/>
              </a:bodyPr>
              <a:lstStyle/>
              <a:p>
                <a:r>
                  <a:rPr sz="1600" dirty="0"/>
                  <a:t>Given only the prompt, an inner Claude </a:t>
                </a:r>
                <a:r>
                  <a:rPr lang="en-US" sz="1600" dirty="0"/>
                  <a:t>AI </a:t>
                </a:r>
                <a:r>
                  <a:rPr sz="1600" dirty="0"/>
                  <a:t>agent sequenced all four MCP servers on its own.</a:t>
                </a:r>
              </a:p>
              <a:p>
                <a:r>
                  <a:rPr sz="1600" dirty="0"/>
                  <a:t>It independently chose a </a:t>
                </a:r>
                <a:r>
                  <a:rPr sz="1600" dirty="0" err="1"/>
                  <a:t>Solov’ev</a:t>
                </a:r>
                <a:r>
                  <a:rPr sz="1600" dirty="0"/>
                  <a:t> Grad–</a:t>
                </a:r>
                <a:r>
                  <a:rPr sz="1600" dirty="0" err="1"/>
                  <a:t>Shafranov</a:t>
                </a:r>
                <a:r>
                  <a:rPr sz="1600" dirty="0"/>
                  <a:t> model and a DMPLEX + </a:t>
                </a:r>
                <a:r>
                  <a:rPr sz="1600" dirty="0" err="1"/>
                  <a:t>PetscFE</a:t>
                </a:r>
                <a:r>
                  <a:rPr sz="1600" dirty="0"/>
                  <a:t> finite-element solve.</a:t>
                </a:r>
              </a:p>
              <a:p>
                <a:r>
                  <a:rPr sz="1600" dirty="0"/>
                  <a:t>The </a:t>
                </a:r>
                <a:r>
                  <a:rPr lang="en-US" sz="1600" dirty="0"/>
                  <a:t>AI-</a:t>
                </a:r>
                <a:r>
                  <a:rPr sz="1600" dirty="0"/>
                  <a:t>generated code compiled cleanly and ran: 225 DOFs, L2 norm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2.04</m:t>
                    </m:r>
                  </m:oMath>
                </a14:m>
                <a:r>
                  <a:rPr sz="1600" dirty="0"/>
                  <a:t>, return code 0.</a:t>
                </a:r>
              </a:p>
              <a:p>
                <a:r>
                  <a:rPr sz="1600" dirty="0"/>
                  <a:t>It surfaced a real upstream bug</a:t>
                </a:r>
                <a:r>
                  <a:rPr lang="en-US" sz="1600" dirty="0"/>
                  <a:t>:</a:t>
                </a:r>
                <a:r>
                  <a:rPr sz="1600" dirty="0"/>
                  <a:t> a hard</a:t>
                </a:r>
                <a:r>
                  <a:rPr lang="en-US" sz="1600" dirty="0"/>
                  <a:t>-</a:t>
                </a:r>
                <a:r>
                  <a:rPr sz="1600" dirty="0"/>
                  <a:t>coded iteration cap flagged a converged run as failure.</a:t>
                </a:r>
                <a:r>
                  <a:rPr lang="en-US" sz="1600" dirty="0"/>
                  <a:t> </a:t>
                </a:r>
                <a:r>
                  <a:rPr sz="1600" dirty="0"/>
                  <a:t>We fixed it and the re-run finished: “</a:t>
                </a:r>
                <a:r>
                  <a:rPr sz="1600" dirty="0">
                    <a:latin typeface="Consolas" panose="020B0609020204030204" pitchFamily="49" charset="0"/>
                  </a:rPr>
                  <a:t>I have completed the orchestration.</a:t>
                </a:r>
                <a:r>
                  <a:rPr sz="1600" dirty="0"/>
                  <a:t>”</a:t>
                </a:r>
                <a:endParaRPr lang="en-US" sz="1600" dirty="0"/>
              </a:p>
              <a:p>
                <a:r>
                  <a:rPr lang="en-US" sz="1600" dirty="0"/>
                  <a:t>The two orchestration paths independently chose two different valid </a:t>
                </a:r>
                <a:r>
                  <a:rPr lang="en-US" sz="1600" dirty="0" err="1"/>
                  <a:t>PETSc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discretizations</a:t>
                </a:r>
                <a:r>
                  <a:rPr lang="en-US" sz="1600" dirty="0"/>
                  <a:t> (DMDA in testing specialist agents, vs DMPLEX in built-in orchestrator) for the same problem.</a:t>
                </a:r>
                <a:endParaRPr sz="16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457200" y="1590907"/>
                <a:ext cx="8382000" cy="3114443"/>
              </a:xfrm>
              <a:blipFill>
                <a:blip r:embed="rId2"/>
                <a:stretch>
                  <a:fillRect l="-1382" t="-2153" r="-945" b="-4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2179E2-8C9D-84D2-2975-5DC78CDD8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900" y="247650"/>
            <a:ext cx="8207299" cy="592409"/>
          </a:xfrm>
        </p:spPr>
        <p:txBody>
          <a:bodyPr/>
          <a:lstStyle/>
          <a:p>
            <a:r>
              <a:rPr lang="en-US" sz="2500" cap="none" dirty="0"/>
              <a:t>What we built and contributed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31902" y="993774"/>
            <a:ext cx="8207298" cy="592409"/>
          </a:xfrm>
        </p:spPr>
        <p:txBody>
          <a:bodyPr/>
          <a:lstStyle/>
          <a:p>
            <a:r>
              <a:rPr dirty="0"/>
              <a:t>Reusable tooling around the agents, plus fixes contributed back upstream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631902" y="1724722"/>
            <a:ext cx="8103220" cy="2980628"/>
          </a:xfrm>
        </p:spPr>
        <p:txBody>
          <a:bodyPr wrap="square">
            <a:normAutofit/>
          </a:bodyPr>
          <a:lstStyle/>
          <a:p>
            <a:r>
              <a:rPr dirty="0"/>
              <a:t>A project-owned orchestration driver with full artifact provenance (resumable).</a:t>
            </a:r>
          </a:p>
          <a:p>
            <a:r>
              <a:rPr dirty="0"/>
              <a:t>Verification + post-processing (convergence, flux surfaces) and a metrics harness.</a:t>
            </a:r>
          </a:p>
          <a:p>
            <a:r>
              <a:rPr dirty="0"/>
              <a:t>Four fixes contributed back to the open </a:t>
            </a:r>
            <a:r>
              <a:rPr dirty="0" err="1"/>
              <a:t>PETSc</a:t>
            </a:r>
            <a:r>
              <a:rPr dirty="0"/>
              <a:t> multi-agent system:</a:t>
            </a:r>
          </a:p>
          <a:p>
            <a:pPr lvl="1"/>
            <a:r>
              <a:rPr dirty="0"/>
              <a:t>CWD-independent server resolution; portable </a:t>
            </a:r>
            <a:r>
              <a:rPr dirty="0" err="1">
                <a:latin typeface="Consolas" panose="020B0609020204030204" pitchFamily="49" charset="0"/>
              </a:rPr>
              <a:t>stdio</a:t>
            </a:r>
            <a:r>
              <a:rPr dirty="0"/>
              <a:t> interpreter</a:t>
            </a:r>
            <a:r>
              <a:rPr lang="en-US" dirty="0"/>
              <a:t>.</a:t>
            </a:r>
            <a:endParaRPr dirty="0"/>
          </a:p>
          <a:p>
            <a:pPr lvl="1"/>
            <a:r>
              <a:rPr lang="en-US" dirty="0"/>
              <a:t>G</a:t>
            </a:r>
            <a:r>
              <a:rPr dirty="0"/>
              <a:t>raceful operation without the documentation / RAG services</a:t>
            </a:r>
            <a:r>
              <a:rPr lang="en-US" dirty="0"/>
              <a:t>.</a:t>
            </a:r>
            <a:endParaRPr dirty="0"/>
          </a:p>
          <a:p>
            <a:pPr lvl="1"/>
            <a:r>
              <a:rPr lang="en-US" dirty="0"/>
              <a:t>C</a:t>
            </a:r>
            <a:r>
              <a:rPr dirty="0"/>
              <a:t>ode-generation and orchestrator loops that reliably capture results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0E094A-C70F-3B77-A74B-FABA67C0E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483065"/>
          </a:xfrm>
        </p:spPr>
        <p:txBody>
          <a:bodyPr/>
          <a:lstStyle/>
          <a:p>
            <a:r>
              <a:rPr lang="en-US" sz="2500" cap="none" dirty="0"/>
              <a:t>Takeaways 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830226"/>
            <a:ext cx="8382000" cy="671471"/>
          </a:xfrm>
        </p:spPr>
        <p:txBody>
          <a:bodyPr/>
          <a:lstStyle/>
          <a:p>
            <a:r>
              <a:rPr dirty="0"/>
              <a:t>A verification-driven multi-agent path from prompt to trustworthy HPC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4"/>
          </p:nvPr>
        </p:nvSpPr>
        <p:spPr>
          <a:xfrm>
            <a:off x="457200" y="1601209"/>
            <a:ext cx="8173844" cy="3104142"/>
          </a:xfrm>
        </p:spPr>
        <p:txBody>
          <a:bodyPr wrap="square">
            <a:normAutofit/>
          </a:bodyPr>
          <a:lstStyle/>
          <a:p>
            <a:r>
              <a:rPr dirty="0"/>
              <a:t>A multi-agent </a:t>
            </a:r>
            <a:r>
              <a:rPr lang="en-US" dirty="0"/>
              <a:t>AI </a:t>
            </a:r>
            <a:r>
              <a:rPr dirty="0"/>
              <a:t>system generated a correct, verified </a:t>
            </a:r>
            <a:r>
              <a:rPr dirty="0" err="1"/>
              <a:t>PETSc</a:t>
            </a:r>
            <a:r>
              <a:rPr dirty="0"/>
              <a:t> fusion-MHD solver from a prompt.</a:t>
            </a:r>
          </a:p>
          <a:p>
            <a:r>
              <a:rPr dirty="0"/>
              <a:t>Both the Python driver and the fully-autonomous orchestrator succeeded end to end.</a:t>
            </a:r>
          </a:p>
          <a:p>
            <a:r>
              <a:rPr dirty="0"/>
              <a:t>Verification-driven: convergence + exact-solution checks, not just plausible output.</a:t>
            </a:r>
          </a:p>
          <a:p>
            <a:r>
              <a:rPr dirty="0"/>
              <a:t>Next: shaped real-machine equilibria (</a:t>
            </a:r>
            <a:r>
              <a:rPr dirty="0" err="1"/>
              <a:t>Solov’ev</a:t>
            </a:r>
            <a:r>
              <a:rPr dirty="0"/>
              <a:t> / </a:t>
            </a:r>
            <a:r>
              <a:rPr dirty="0" err="1"/>
              <a:t>Cerfon</a:t>
            </a:r>
            <a:r>
              <a:rPr dirty="0"/>
              <a:t>–</a:t>
            </a:r>
            <a:r>
              <a:rPr dirty="0" err="1"/>
              <a:t>Freidberg</a:t>
            </a:r>
            <a:r>
              <a:rPr dirty="0"/>
              <a:t>), q-profile, GPU scale-up</a:t>
            </a:r>
            <a:r>
              <a:rPr lang="en-US" dirty="0"/>
              <a:t> on ALCF supercomputers such as Polaris and Aurora</a:t>
            </a:r>
            <a:r>
              <a:rPr dirty="0"/>
              <a:t>.</a:t>
            </a:r>
          </a:p>
          <a:p>
            <a:r>
              <a:rPr dirty="0"/>
              <a:t>Code + docs: github.com/engineer-scientist/</a:t>
            </a:r>
            <a:r>
              <a:rPr dirty="0" err="1"/>
              <a:t>petsc_mcp_servers_tokamak</a:t>
            </a:r>
            <a:endParaRPr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4516CB-9F88-AF33-0230-2733E3665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302F-F64E-4D99-33BA-62CF55782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A70B-D678-1077-0AB7-709564649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483065"/>
          </a:xfrm>
        </p:spPr>
        <p:txBody>
          <a:bodyPr/>
          <a:lstStyle/>
          <a:p>
            <a:r>
              <a:rPr lang="en-US" sz="2500" cap="none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A69289-F1E9-0379-E582-213B2F887DE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921895"/>
            <a:ext cx="8382000" cy="3783456"/>
          </a:xfrm>
        </p:spPr>
        <p:txBody>
          <a:bodyPr wrap="square">
            <a:normAutofit fontScale="92500"/>
          </a:bodyPr>
          <a:lstStyle/>
          <a:p>
            <a:r>
              <a:rPr lang="en-US" dirty="0"/>
              <a:t>AI coding agent: </a:t>
            </a:r>
            <a:r>
              <a:rPr lang="en-US" i="1" dirty="0"/>
              <a:t>Claude Code </a:t>
            </a:r>
            <a:r>
              <a:rPr lang="en-US" dirty="0"/>
              <a:t>by Anthropic (</a:t>
            </a:r>
            <a:r>
              <a:rPr lang="en-US" dirty="0">
                <a:hlinkClick r:id="rId2"/>
              </a:rPr>
              <a:t>https://claude.com/product/claude-code</a:t>
            </a:r>
            <a:r>
              <a:rPr lang="en-US" dirty="0"/>
              <a:t>)</a:t>
            </a:r>
          </a:p>
          <a:p>
            <a:r>
              <a:rPr lang="en-US" i="1" dirty="0"/>
              <a:t>Automated Problem-to-Solution Generation for PDE-Based Simulation Science</a:t>
            </a:r>
            <a:r>
              <a:rPr lang="en-US" dirty="0"/>
              <a:t>, Dr Lois Curfman McInnes, Dr </a:t>
            </a:r>
            <a:r>
              <a:rPr lang="en-US" dirty="0" err="1"/>
              <a:t>Junchao</a:t>
            </a:r>
            <a:r>
              <a:rPr lang="en-US" dirty="0"/>
              <a:t> Zhang, Dr Matthew Knepley, et al (2026).</a:t>
            </a:r>
          </a:p>
          <a:p>
            <a:r>
              <a:rPr lang="en-US" i="1" dirty="0" err="1"/>
              <a:t>PETSc</a:t>
            </a:r>
            <a:r>
              <a:rPr lang="en-US" i="1" dirty="0"/>
              <a:t> MCP Servers</a:t>
            </a:r>
            <a:r>
              <a:rPr lang="en-US" dirty="0"/>
              <a:t>, Barry Smith (2026): </a:t>
            </a:r>
            <a:r>
              <a:rPr lang="en-US" dirty="0">
                <a:hlinkClick r:id="rId3"/>
              </a:rPr>
              <a:t>https://gitlab.com/petsc/petsc_mcp_servers</a:t>
            </a:r>
            <a:endParaRPr lang="en-US" dirty="0"/>
          </a:p>
          <a:p>
            <a:r>
              <a:rPr lang="en-US" i="1" dirty="0"/>
              <a:t>Grad-</a:t>
            </a:r>
            <a:r>
              <a:rPr lang="en-US" i="1" dirty="0" err="1"/>
              <a:t>Shafronov</a:t>
            </a:r>
            <a:r>
              <a:rPr lang="en-US" i="1" dirty="0"/>
              <a:t> equation </a:t>
            </a:r>
            <a:r>
              <a:rPr lang="en-US" dirty="0"/>
              <a:t>(</a:t>
            </a:r>
            <a:r>
              <a:rPr lang="en-US" dirty="0">
                <a:hlinkClick r:id="rId4"/>
              </a:rPr>
              <a:t>https://en.wikipedia.org/wiki/Grad-Shafranov_equation</a:t>
            </a:r>
            <a:r>
              <a:rPr lang="en-US" dirty="0"/>
              <a:t>).</a:t>
            </a:r>
          </a:p>
          <a:p>
            <a:r>
              <a:rPr lang="en-US" dirty="0"/>
              <a:t>DoE Explains… Tokamaks: </a:t>
            </a:r>
            <a:r>
              <a:rPr lang="en-US" dirty="0">
                <a:hlinkClick r:id="rId5"/>
              </a:rPr>
              <a:t>https://www.energy.gov/science/doe-explainstokamaks</a:t>
            </a:r>
            <a:endParaRPr lang="en-US" dirty="0"/>
          </a:p>
          <a:p>
            <a:r>
              <a:rPr lang="en-US" dirty="0" err="1"/>
              <a:t>PETSc</a:t>
            </a:r>
            <a:r>
              <a:rPr lang="en-US" dirty="0"/>
              <a:t> AI: </a:t>
            </a:r>
            <a:r>
              <a:rPr lang="en-US" dirty="0">
                <a:hlinkClick r:id="rId6" tooltip="Original URL: https://petsc-ai.org/. Click or tap if you trust this link."/>
              </a:rPr>
              <a:t>https://petsc-ai.org</a:t>
            </a:r>
            <a:endParaRPr lang="en-US" dirty="0"/>
          </a:p>
          <a:p>
            <a:r>
              <a:rPr lang="en-US" i="1" dirty="0"/>
              <a:t>Improving Usability and Productivity of </a:t>
            </a:r>
            <a:r>
              <a:rPr lang="en-US" i="1" dirty="0" err="1"/>
              <a:t>PETSc</a:t>
            </a:r>
            <a:r>
              <a:rPr lang="en-US" i="1" dirty="0"/>
              <a:t> with Agent-Based Workflows</a:t>
            </a:r>
            <a:r>
              <a:rPr lang="en-US" dirty="0"/>
              <a:t>, Dr Barry Smith, et al (2026).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515482-03AA-C409-5822-A539DC17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66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9A71-0AA4-4468-1EF7-046390621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73116-B422-B011-4056-8DFA3EF6B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7650"/>
            <a:ext cx="8382000" cy="483065"/>
          </a:xfrm>
        </p:spPr>
        <p:txBody>
          <a:bodyPr/>
          <a:lstStyle/>
          <a:p>
            <a:r>
              <a:rPr lang="en-US" sz="2500" cap="none" dirty="0"/>
              <a:t>Acknowledgements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97DE39-4504-75D5-AC82-3FCA27F399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921895"/>
            <a:ext cx="8382000" cy="3783456"/>
          </a:xfrm>
        </p:spPr>
        <p:txBody>
          <a:bodyPr wrap="square">
            <a:normAutofit/>
          </a:bodyPr>
          <a:lstStyle/>
          <a:p>
            <a:r>
              <a:rPr lang="en-US" dirty="0"/>
              <a:t>This work was partially supported by the U.S. Department of Energy (DOE) Office of Science “Distinguished Scientist Fellows” Program. </a:t>
            </a:r>
          </a:p>
          <a:p>
            <a:r>
              <a:rPr lang="en-US" dirty="0"/>
              <a:t>This work used ANL CELS General Computing Environment: </a:t>
            </a:r>
            <a:r>
              <a:rPr lang="en-US" dirty="0">
                <a:hlinkClick r:id="rId2"/>
              </a:rPr>
              <a:t>https://help.cels.anl.gov/docs/linux/</a:t>
            </a:r>
            <a:endParaRPr lang="en-US" dirty="0"/>
          </a:p>
          <a:p>
            <a:pPr marL="0" indent="0">
              <a:buNone/>
            </a:pPr>
            <a:endParaRPr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DC68B-0569-577E-F48E-C72701698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EF28-261C-FD41-A360-1A380056DD1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0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rgonne">
      <a:dk1>
        <a:srgbClr val="000000"/>
      </a:dk1>
      <a:lt1>
        <a:srgbClr val="FFFFFF"/>
      </a:lt1>
      <a:dk2>
        <a:srgbClr val="0082CA"/>
      </a:dk2>
      <a:lt2>
        <a:srgbClr val="F8B200"/>
      </a:lt2>
      <a:accent1>
        <a:srgbClr val="77B300"/>
      </a:accent1>
      <a:accent2>
        <a:srgbClr val="00609C"/>
      </a:accent2>
      <a:accent3>
        <a:srgbClr val="5B0091"/>
      </a:accent3>
      <a:accent4>
        <a:srgbClr val="FF7900"/>
      </a:accent4>
      <a:accent5>
        <a:srgbClr val="00A19C"/>
      </a:accent5>
      <a:accent6>
        <a:srgbClr val="CD202C"/>
      </a:accent6>
      <a:hlink>
        <a:srgbClr val="000000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1517</TotalTime>
  <Words>1541</Words>
  <Application>Microsoft Office PowerPoint</Application>
  <PresentationFormat>On-screen Show (16:9)</PresentationFormat>
  <Paragraphs>147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Cambria Math</vt:lpstr>
      <vt:lpstr>Consolas</vt:lpstr>
      <vt:lpstr>System Font Regular</vt:lpstr>
      <vt:lpstr>Wingdings</vt:lpstr>
      <vt:lpstr>Office Theme</vt:lpstr>
      <vt:lpstr>Multi-Agent AI System for PETSc Simulation of Plasma in a Tokamak (for Nuclear Fusion Energy)</vt:lpstr>
      <vt:lpstr>Contents</vt:lpstr>
      <vt:lpstr>Why nuclear fusion energy needs trustworthy simulation</vt:lpstr>
      <vt:lpstr>Why nuclear fusion energy needs trustworthy simulation (continued)</vt:lpstr>
      <vt:lpstr>PowerPoint Presentation</vt:lpstr>
      <vt:lpstr>The modeling challenge</vt:lpstr>
      <vt:lpstr>The problem: Grad-Shafranov equilibrium</vt:lpstr>
      <vt:lpstr>The AI system: multi-agent AI pipeline</vt:lpstr>
      <vt:lpstr>PowerPoint Presentation</vt:lpstr>
      <vt:lpstr>The AI pipeline in action</vt:lpstr>
      <vt:lpstr>AI-agent-generated PETSc solver (excerpt)</vt:lpstr>
      <vt:lpstr>Verification</vt:lpstr>
      <vt:lpstr>Decision-gate metrics</vt:lpstr>
      <vt:lpstr>Fully autonomous: the built-in AI orchestrator</vt:lpstr>
      <vt:lpstr>What we built and contributed</vt:lpstr>
      <vt:lpstr>Takeaways and next steps</vt:lpstr>
      <vt:lpstr>References</vt:lpstr>
      <vt:lpstr>Acknowledgements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Sharma-Sarthak_RA_MCS presentation</dc:title>
  <dc:creator>Soroko, Sonya</dc:creator>
  <cp:lastModifiedBy>Sharma, Sarthak</cp:lastModifiedBy>
  <cp:revision>61</cp:revision>
  <dcterms:created xsi:type="dcterms:W3CDTF">2024-02-05T17:42:20Z</dcterms:created>
  <dcterms:modified xsi:type="dcterms:W3CDTF">2026-07-29T19:42:08Z</dcterms:modified>
</cp:coreProperties>
</file>