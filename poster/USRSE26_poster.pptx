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53035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2428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</a:rPr>
              <a:t>Automated Problem-to-Solution Generation for a Tokamak Fusion-Plasma Simulation</a:t>
            </a:r>
          </a:p>
          <a:p>
            <a:pPr algn="l">
              <a:spcAft>
                <a:spcPts val="600"/>
              </a:spcAft>
            </a:pPr>
            <a:r>
              <a:rPr sz="3400" b="0">
                <a:solidFill>
                  <a:srgbClr val="CFE6EA"/>
                </a:solidFill>
              </a:rPr>
              <a:t>A hierarchical multi-agent PETSc system: from a plain-language prompt to a verified Grad-Shafranov solver</a:t>
            </a:r>
          </a:p>
          <a:p>
            <a:pPr algn="l">
              <a:spcAft>
                <a:spcPts val="600"/>
              </a:spcAft>
            </a:pPr>
            <a:r>
              <a:rPr sz="2700" b="0">
                <a:solidFill>
                  <a:srgbClr val="FFFFFF"/>
                </a:solidFill>
              </a:rPr>
              <a:t>[PRESENTER NAME], &lt;email&gt;, ORCID  ·  Mathematics and Computer Science Division, Argonne National Laboratory  ·  US-RSE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5852160"/>
            <a:ext cx="13624560" cy="7680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852160"/>
            <a:ext cx="13624560" cy="1143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4000" b="1">
                <a:solidFill>
                  <a:srgbClr val="FFFFFF"/>
                </a:solidFill>
              </a:rPr>
              <a:t>1 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178040"/>
            <a:ext cx="13075920" cy="6126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Correct, fast HPC simulation code still demands scarce, implicit expertise in numerical methods and library APIs.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Can a multi-agent AI system automate the path from a plain-language idea to VERIFIED code for a real fusion problem?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We apply the open PETSc multi-agent system to the tokamak Grad-Shafranov equilibrium.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990320"/>
            <a:ext cx="13624560" cy="7680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990320"/>
            <a:ext cx="13624560" cy="1143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4000" b="1">
                <a:solidFill>
                  <a:srgbClr val="FFFFFF"/>
                </a:solidFill>
              </a:rPr>
              <a:t>2 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316200"/>
            <a:ext cx="13075920" cy="6126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Axisymmetric ideal-MHD force balance for the poloidal flux psi(R,Z):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07D8A"/>
                </a:solidFill>
              </a:rPr>
              <a:t>Δ*psi = -μ₀R² p'(psi) - F F'(psi)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Gives the flux surfaces, magnetic axis, and safety factor q.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Elliptic, nonlinear → PETSc SNES; verifiable vs an exact 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128480"/>
            <a:ext cx="13624560" cy="1024127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128480"/>
            <a:ext cx="13624560" cy="1143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4000" b="1">
                <a:solidFill>
                  <a:srgbClr val="FFFFFF"/>
                </a:solidFill>
              </a:rPr>
              <a:t>3  The multi-agent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454360"/>
            <a:ext cx="13075920" cy="8686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Three layers of specialist agents (MCP servers):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• Modeling → PDE identity &amp; strong/weak forms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• Numerical Analysis → grid, discretization, solver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• HPC Code Generation → writes, compiles &amp; runs PETSc C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• Driver → records every artifact (provenance)</a:t>
            </a:r>
          </a:p>
          <a:p>
            <a:pPr algn="l">
              <a:spcAft>
                <a:spcPts val="600"/>
              </a:spcAft>
            </a:pPr>
            <a:r>
              <a:rPr sz="2700" b="0">
                <a:solidFill>
                  <a:srgbClr val="4A4A4A"/>
                </a:solidFill>
              </a:rPr>
              <a:t>All agents run on ANL's Argo gateway (Claude Opus 4.8).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767559" y="5852160"/>
            <a:ext cx="13624560" cy="7680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767559" y="5852160"/>
            <a:ext cx="13624560" cy="1143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4000" b="1">
                <a:solidFill>
                  <a:srgbClr val="FFFFFF"/>
                </a:solidFill>
              </a:rPr>
              <a:t>4  The pipeline in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41880" y="7178040"/>
            <a:ext cx="13075920" cy="6126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1F1F"/>
                </a:solidFill>
              </a:rPr>
              <a:t>Prompt: “the Grad-Shafranov equilibrium for the plasma in a tokamak.”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Modeling → ‘Grad-Shafranov equation’, steady.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Numerical Analysis → nonlinear ⇒ SNES.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Code Generation → 267-line PETSc DMDA+SNES solver.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007D8A"/>
                </a:solidFill>
              </a:rPr>
              <a:t>Compiled &amp; ran on 1 and 4 MPI ranks — no human edits.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767559" y="13990320"/>
            <a:ext cx="13624560" cy="7680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767559" y="13990320"/>
            <a:ext cx="13624560" cy="1143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4000" b="1">
                <a:solidFill>
                  <a:srgbClr val="FFFFFF"/>
                </a:solidFill>
              </a:rPr>
              <a:t>5  Generated solver (excerpt)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1880" y="15316200"/>
            <a:ext cx="13075920" cy="6126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4A4A4A"/>
                </a:solidFill>
                <a:latin typeface="Consolas"/>
              </a:rPr>
              <a:t>/* residual: Delta*_h psi - f */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F1F1F"/>
                </a:solidFill>
                <a:latin typeface="Consolas"/>
              </a:rPr>
              <a:t>dRR=(x[j][i+1]-2x[j][i]+x[j][i-1])/hR2;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F1F1F"/>
                </a:solidFill>
                <a:latin typeface="Consolas"/>
              </a:rPr>
              <a:t>dZZ=(x[j+1][i]-2x[j][i]+x[j-1][i])/hZ2;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F1F1F"/>
                </a:solidFill>
                <a:latin typeface="Consolas"/>
              </a:rPr>
              <a:t>f[j][i]=dRR-dR/R+dZZ-ForcingF(u,R,Z);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F1F1F"/>
                </a:solidFill>
                <a:latin typeface="Consolas"/>
              </a:rPr>
              <a:t>SNESSetJacobian(snes,J,J,FormJacobian,&amp;u);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F1F1F"/>
                </a:solidFill>
                <a:latin typeface="Consolas"/>
              </a:rPr>
              <a:t>SNESSolve(snes,NULL,x);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95039" y="17282160"/>
            <a:ext cx="13624560" cy="7680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95039" y="17282160"/>
            <a:ext cx="13624560" cy="1143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4000" b="1">
                <a:solidFill>
                  <a:srgbClr val="FFFFFF"/>
                </a:solidFill>
              </a:rPr>
              <a:t>7  Decision-gate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0" y="18608039"/>
            <a:ext cx="13075920" cy="6126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Model identified ✓   Compiled &amp; ran ✓   SNES converged ✓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Second-order: p = 2.00, 2.00, 2.00  (error 8.4e-04 → 1.3e-05, 33→257).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Human effort: 0 solver lines written; 267 generated.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Efficiency: ~450.8 s wall-clock; ~23 LLM completions.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95039" y="25420319"/>
            <a:ext cx="13624560" cy="6949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895039" y="25420319"/>
            <a:ext cx="13624560" cy="1143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4000" b="1">
                <a:solidFill>
                  <a:srgbClr val="FFFFFF"/>
                </a:solidFill>
              </a:rPr>
              <a:t>8  Contributions &amp; conclusions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69360" y="26746199"/>
            <a:ext cx="130759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A verified PETSc fusion-MHD solver produced from a prompt.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1F1F1F"/>
                </a:solidFill>
              </a:rPr>
              <a:t>Verification-driven: exact-solution + convergence checks.</a:t>
            </a:r>
          </a:p>
          <a:p>
            <a:pPr algn="l">
              <a:spcAft>
                <a:spcPts val="600"/>
              </a:spcAft>
            </a:pPr>
            <a:r>
              <a:rPr sz="2700" b="0">
                <a:solidFill>
                  <a:srgbClr val="1F1F1F"/>
                </a:solidFill>
              </a:rPr>
              <a:t>Upstream fixes: CWD-independent servers; graceful no-docs/RAG; reliable capture.</a:t>
            </a:r>
          </a:p>
          <a:p>
            <a:pPr algn="l">
              <a:spcAft>
                <a:spcPts val="600"/>
              </a:spcAft>
            </a:pPr>
            <a:r>
              <a:rPr sz="2700" b="0">
                <a:solidFill>
                  <a:srgbClr val="007D8A"/>
                </a:solidFill>
              </a:rPr>
              <a:t>github.com/engineer-scientist/petsc_mcp_servers_tokamak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767559" y="22128480"/>
            <a:ext cx="13624560" cy="1024127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gs_flux_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6925" y="22448520"/>
            <a:ext cx="7445828" cy="868679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041880" y="31135319"/>
            <a:ext cx="1307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0">
                <a:solidFill>
                  <a:srgbClr val="4A4A4A"/>
                </a:solidFill>
              </a:rPr>
              <a:t>Fig. 1  Poloidal flux surfaces psi(R,Z) of the verified equilibrium.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95039" y="5852160"/>
            <a:ext cx="13624560" cy="10972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895039" y="5852160"/>
            <a:ext cx="13624560" cy="1143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4000" b="1">
                <a:solidFill>
                  <a:srgbClr val="FFFFFF"/>
                </a:solidFill>
              </a:rPr>
              <a:t>6  Verification</a:t>
            </a:r>
          </a:p>
        </p:txBody>
      </p:sp>
      <p:pic>
        <p:nvPicPr>
          <p:cNvPr id="30" name="Picture 29" descr="gs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9480" y="7223760"/>
            <a:ext cx="11155679" cy="836675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9169360" y="15590519"/>
            <a:ext cx="1307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0">
                <a:solidFill>
                  <a:srgbClr val="4A4A4A"/>
                </a:solidFill>
              </a:rPr>
              <a:t>Fig. 2  Error vs grid spacing tracks h² → observed order p = 2.00, 2.00, 2.00.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