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40" d="100"/>
          <a:sy n="40" d="100"/>
        </p:scale>
        <p:origin x="-230" y="-493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2026-08-06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hyperlink" Target="https://petsc-ai.org/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hyperlink" Target="https://help.cels.anl.gov/docs/linux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3891200" cy="402336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42428160" cy="35548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7000" b="1" dirty="0">
                <a:solidFill>
                  <a:srgbClr val="FFFFFF"/>
                </a:solidFill>
              </a:rPr>
              <a:t>A System of Multiple AI Agents for Automating Tokamak-Plasma Simulation for Nuclear Fusion Energy</a:t>
            </a:r>
            <a:r>
              <a:rPr lang="en-US" sz="7000" b="1" dirty="0">
                <a:solidFill>
                  <a:srgbClr val="FFFFFF"/>
                </a:solidFill>
              </a:rPr>
              <a:t>.</a:t>
            </a:r>
            <a:endParaRPr sz="7000" b="1" dirty="0">
              <a:solidFill>
                <a:srgbClr val="FFFFFF"/>
              </a:solidFill>
            </a:endParaRPr>
          </a:p>
          <a:p>
            <a:pPr algn="l">
              <a:spcAft>
                <a:spcPts val="600"/>
              </a:spcAft>
            </a:pPr>
            <a:r>
              <a:rPr sz="6000" b="0" dirty="0">
                <a:solidFill>
                  <a:srgbClr val="CFE6EA"/>
                </a:solidFill>
              </a:rPr>
              <a:t>A hierarchical multi-agent </a:t>
            </a:r>
            <a:r>
              <a:rPr sz="6000" b="0" dirty="0" err="1">
                <a:solidFill>
                  <a:srgbClr val="CFE6EA"/>
                </a:solidFill>
              </a:rPr>
              <a:t>PETSc</a:t>
            </a:r>
            <a:r>
              <a:rPr sz="6000" b="0" dirty="0">
                <a:solidFill>
                  <a:srgbClr val="CFE6EA"/>
                </a:solidFill>
              </a:rPr>
              <a:t> system: from a plain-language prompt to verified, real-machine Grad-</a:t>
            </a:r>
            <a:r>
              <a:rPr sz="6000" b="0" dirty="0" err="1">
                <a:solidFill>
                  <a:srgbClr val="CFE6EA"/>
                </a:solidFill>
              </a:rPr>
              <a:t>Shafranov</a:t>
            </a:r>
            <a:r>
              <a:rPr sz="6000" b="0" dirty="0">
                <a:solidFill>
                  <a:srgbClr val="CFE6EA"/>
                </a:solidFill>
              </a:rPr>
              <a:t> equilibria</a:t>
            </a:r>
            <a:r>
              <a:rPr lang="en-US" sz="6000" b="0" dirty="0">
                <a:solidFill>
                  <a:srgbClr val="CFE6EA"/>
                </a:solidFill>
              </a:rPr>
              <a:t>.</a:t>
            </a:r>
            <a:endParaRPr sz="6000" b="0" dirty="0">
              <a:solidFill>
                <a:srgbClr val="CFE6EA"/>
              </a:solidFill>
            </a:endParaRPr>
          </a:p>
          <a:p>
            <a:pPr>
              <a:spcAft>
                <a:spcPts val="600"/>
              </a:spcAft>
            </a:pPr>
            <a:r>
              <a:rPr sz="4000" b="0" dirty="0">
                <a:solidFill>
                  <a:srgbClr val="FFFFFF"/>
                </a:solidFill>
              </a:rPr>
              <a:t>Sarthak Sharma¹  ·  Dr </a:t>
            </a:r>
            <a:r>
              <a:rPr sz="4000" b="0" dirty="0" err="1">
                <a:solidFill>
                  <a:srgbClr val="FFFFFF"/>
                </a:solidFill>
              </a:rPr>
              <a:t>Junchao</a:t>
            </a:r>
            <a:r>
              <a:rPr sz="4000" b="0" dirty="0">
                <a:solidFill>
                  <a:srgbClr val="FFFFFF"/>
                </a:solidFill>
              </a:rPr>
              <a:t> Zhang²  </a:t>
            </a:r>
            <a:r>
              <a:rPr lang="en-US" sz="4000" dirty="0">
                <a:solidFill>
                  <a:srgbClr val="FFFFFF"/>
                </a:solidFill>
              </a:rPr>
              <a:t>·  Dr Lois Curfman McInnes²  </a:t>
            </a:r>
            <a:r>
              <a:rPr sz="4000" b="0" dirty="0">
                <a:solidFill>
                  <a:srgbClr val="FFFFFF"/>
                </a:solidFill>
              </a:rPr>
              <a:t>·  </a:t>
            </a:r>
            <a:r>
              <a:rPr lang="en-US" sz="4000" dirty="0">
                <a:solidFill>
                  <a:srgbClr val="FFFFFF"/>
                </a:solidFill>
              </a:rPr>
              <a:t>Prof Matthew Knepley¹</a:t>
            </a:r>
            <a:r>
              <a:rPr sz="4000" b="0" dirty="0">
                <a:solidFill>
                  <a:srgbClr val="FFFFFF"/>
                </a:solidFill>
              </a:rPr>
              <a:t>  </a:t>
            </a:r>
            <a:r>
              <a:rPr lang="en-US" sz="4000" dirty="0">
                <a:solidFill>
                  <a:srgbClr val="FFFFFF"/>
                </a:solidFill>
              </a:rPr>
              <a:t>																											</a:t>
            </a:r>
            <a:r>
              <a:rPr sz="4000" b="0" dirty="0">
                <a:solidFill>
                  <a:srgbClr val="FFFFFF"/>
                </a:solidFill>
              </a:rPr>
              <a:t>US</a:t>
            </a:r>
            <a:r>
              <a:rPr lang="en-US" sz="4000" b="0" dirty="0">
                <a:solidFill>
                  <a:srgbClr val="FFFFFF"/>
                </a:solidFill>
              </a:rPr>
              <a:t> </a:t>
            </a:r>
            <a:r>
              <a:rPr sz="4000" b="0" dirty="0">
                <a:solidFill>
                  <a:srgbClr val="FFFFFF"/>
                </a:solidFill>
              </a:rPr>
              <a:t>R</a:t>
            </a:r>
            <a:r>
              <a:rPr lang="en-US" sz="4000" b="0" dirty="0">
                <a:solidFill>
                  <a:srgbClr val="FFFFFF"/>
                </a:solidFill>
              </a:rPr>
              <a:t>esearch </a:t>
            </a:r>
            <a:r>
              <a:rPr sz="4000" b="0" dirty="0">
                <a:solidFill>
                  <a:srgbClr val="FFFFFF"/>
                </a:solidFill>
              </a:rPr>
              <a:t>S</a:t>
            </a:r>
            <a:r>
              <a:rPr lang="en-US" sz="4000" b="0" dirty="0">
                <a:solidFill>
                  <a:srgbClr val="FFFFFF"/>
                </a:solidFill>
              </a:rPr>
              <a:t>oftware </a:t>
            </a:r>
            <a:r>
              <a:rPr sz="4000" b="0" dirty="0">
                <a:solidFill>
                  <a:srgbClr val="FFFFFF"/>
                </a:solidFill>
              </a:rPr>
              <a:t>E</a:t>
            </a:r>
            <a:r>
              <a:rPr lang="en-US" sz="4000" b="0" dirty="0">
                <a:solidFill>
                  <a:srgbClr val="FFFFFF"/>
                </a:solidFill>
              </a:rPr>
              <a:t>ngineering Conference</a:t>
            </a:r>
            <a:r>
              <a:rPr sz="4000" b="0" dirty="0">
                <a:solidFill>
                  <a:srgbClr val="FFFFFF"/>
                </a:solidFill>
              </a:rPr>
              <a:t> 2026</a:t>
            </a:r>
          </a:p>
          <a:p>
            <a:pPr algn="l">
              <a:spcAft>
                <a:spcPts val="600"/>
              </a:spcAft>
            </a:pPr>
            <a:r>
              <a:rPr sz="4000" b="0" dirty="0">
                <a:solidFill>
                  <a:srgbClr val="CFE6EA"/>
                </a:solidFill>
              </a:rPr>
              <a:t>¹ Computational and Data Sciences, State University of New York at Buffalo </a:t>
            </a:r>
            <a:r>
              <a:rPr lang="en-US" sz="4000" b="0" dirty="0">
                <a:solidFill>
                  <a:srgbClr val="CFE6EA"/>
                </a:solidFill>
              </a:rPr>
              <a:t>			</a:t>
            </a:r>
            <a:r>
              <a:rPr sz="4000" b="0" dirty="0">
                <a:solidFill>
                  <a:srgbClr val="CFE6EA"/>
                </a:solidFill>
              </a:rPr>
              <a:t>² Division of Mathematics and Computer Science, Argonne National Laboratory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4572000"/>
            <a:ext cx="13624560" cy="548903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457200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1</a:t>
            </a:r>
            <a:r>
              <a:rPr lang="en-US" sz="4000" b="1" dirty="0">
                <a:solidFill>
                  <a:srgbClr val="FFFFFF"/>
                </a:solidFill>
              </a:rPr>
              <a:t>.</a:t>
            </a:r>
            <a:r>
              <a:rPr sz="4000" b="1" dirty="0">
                <a:solidFill>
                  <a:srgbClr val="FFFFFF"/>
                </a:solidFill>
              </a:rPr>
              <a:t> 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3075920" cy="40164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500" b="0" dirty="0">
                <a:solidFill>
                  <a:srgbClr val="1F1F1F"/>
                </a:solidFill>
              </a:rPr>
              <a:t>Building correct, fast HPC simulation code demands scarce, implicit expertise. Can a system of multiple AI agents automate the path from a plain-language idea to </a:t>
            </a:r>
            <a:r>
              <a:rPr lang="en-US" sz="3500" b="0" dirty="0">
                <a:solidFill>
                  <a:srgbClr val="1F1F1F"/>
                </a:solidFill>
              </a:rPr>
              <a:t>verified</a:t>
            </a:r>
            <a:r>
              <a:rPr sz="3500" b="0" dirty="0">
                <a:solidFill>
                  <a:srgbClr val="1F1F1F"/>
                </a:solidFill>
              </a:rPr>
              <a:t> code for a real fusion problem?</a:t>
            </a:r>
          </a:p>
          <a:p>
            <a:pPr algn="l">
              <a:spcAft>
                <a:spcPts val="600"/>
              </a:spcAft>
            </a:pPr>
            <a:r>
              <a:rPr sz="3500" b="1" dirty="0">
                <a:solidFill>
                  <a:srgbClr val="007D8A"/>
                </a:solidFill>
              </a:rPr>
              <a:t>We answer yes for the tokamak Grad-</a:t>
            </a:r>
            <a:r>
              <a:rPr sz="3500" b="1" dirty="0" err="1">
                <a:solidFill>
                  <a:srgbClr val="007D8A"/>
                </a:solidFill>
              </a:rPr>
              <a:t>Shafranov</a:t>
            </a:r>
            <a:r>
              <a:rPr sz="3500" b="1" dirty="0">
                <a:solidFill>
                  <a:srgbClr val="007D8A"/>
                </a:solidFill>
              </a:rPr>
              <a:t> equilibrium</a:t>
            </a:r>
            <a:r>
              <a:rPr lang="en-US" sz="3500" b="1" dirty="0">
                <a:solidFill>
                  <a:srgbClr val="007D8A"/>
                </a:solidFill>
              </a:rPr>
              <a:t>,</a:t>
            </a:r>
            <a:r>
              <a:rPr sz="3500" b="1" dirty="0">
                <a:solidFill>
                  <a:srgbClr val="007D8A"/>
                </a:solidFill>
              </a:rPr>
              <a:t> with verification as a first-class deliverable.</a:t>
            </a:r>
            <a:endParaRPr lang="en-US" sz="3500" b="1" dirty="0">
              <a:solidFill>
                <a:srgbClr val="007D8A"/>
              </a:solidFill>
            </a:endParaRPr>
          </a:p>
          <a:p>
            <a:pPr algn="l">
              <a:spcAft>
                <a:spcPts val="600"/>
              </a:spcAft>
            </a:pPr>
            <a:r>
              <a:rPr lang="en-US" sz="3500" dirty="0"/>
              <a:t>HPC library used is </a:t>
            </a:r>
            <a:r>
              <a:rPr lang="en-US" sz="3500" dirty="0" err="1"/>
              <a:t>PETSc</a:t>
            </a:r>
            <a:r>
              <a:rPr lang="en-US" sz="3500" dirty="0"/>
              <a:t> (Portable, Extensible Toolkit for Scientific Computation).</a:t>
            </a:r>
            <a:endParaRPr sz="3500" dirty="0"/>
          </a:p>
        </p:txBody>
      </p:sp>
      <p:sp>
        <p:nvSpPr>
          <p:cNvPr id="7" name="Rounded Rectangle 6"/>
          <p:cNvSpPr/>
          <p:nvPr/>
        </p:nvSpPr>
        <p:spPr>
          <a:xfrm>
            <a:off x="640080" y="10659418"/>
            <a:ext cx="13624560" cy="6593386"/>
          </a:xfrm>
          <a:prstGeom prst="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0659418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2</a:t>
            </a:r>
            <a:r>
              <a:rPr lang="en-US" sz="4000" b="1" dirty="0">
                <a:solidFill>
                  <a:srgbClr val="FFFFFF"/>
                </a:solidFill>
              </a:rPr>
              <a:t>.</a:t>
            </a:r>
            <a:r>
              <a:rPr sz="4000" b="1" dirty="0">
                <a:solidFill>
                  <a:srgbClr val="FFFFFF"/>
                </a:solidFill>
              </a:rPr>
              <a:t>  The problem</a:t>
            </a:r>
            <a:r>
              <a:rPr lang="en-US" sz="4000" b="1" dirty="0">
                <a:solidFill>
                  <a:srgbClr val="FFFFFF"/>
                </a:solidFill>
              </a:rPr>
              <a:t> being solved</a:t>
            </a:r>
            <a:endParaRPr sz="4000" b="1" dirty="0">
              <a:solidFill>
                <a:srgbClr val="FFFFFF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/>
              <p:cNvSpPr txBox="1"/>
              <p:nvPr/>
            </p:nvSpPr>
            <p:spPr>
              <a:xfrm>
                <a:off x="914400" y="11985298"/>
                <a:ext cx="13075920" cy="534184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600"/>
                  </a:spcAft>
                </a:pPr>
                <a:r>
                  <a:rPr lang="en-US" sz="3500" b="0" dirty="0">
                    <a:solidFill>
                      <a:srgbClr val="1F1F1F"/>
                    </a:solidFill>
                  </a:rPr>
                  <a:t>Axisymmetric ideal-magnetohydrodynamics force balance for the poloidal magnetic flux </a:t>
                </a:r>
                <a14:m>
                  <m:oMath xmlns:m="http://schemas.openxmlformats.org/officeDocument/2006/math"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𝜓</m:t>
                    </m:r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500" b="0" dirty="0">
                    <a:solidFill>
                      <a:srgbClr val="1F1F1F"/>
                    </a:solidFill>
                  </a:rPr>
                  <a:t>:</a:t>
                </a:r>
              </a:p>
              <a:p>
                <a:pPr algn="ctr"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ar-AE" sz="3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3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𝜓</m:t>
                          </m:r>
                        </m:num>
                        <m:den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ar-AE" sz="3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ar-AE" sz="3500" i="1">
                          <a:latin typeface="Cambria Math" panose="02040503050406030204" pitchFamily="18" charset="0"/>
                        </a:rPr>
                        <m:t>  −  </m:t>
                      </m:r>
                      <m:f>
                        <m:fPr>
                          <m:ctrlPr>
                            <a:rPr lang="ar-AE" sz="3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ar-AE" sz="35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ar-AE" sz="3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𝜕𝜓</m:t>
                          </m:r>
                        </m:num>
                        <m:den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𝑟</m:t>
                          </m:r>
                        </m:den>
                      </m:f>
                      <m:r>
                        <a:rPr lang="ar-AE" sz="3500" i="1">
                          <a:latin typeface="Cambria Math" panose="02040503050406030204" pitchFamily="18" charset="0"/>
                        </a:rPr>
                        <m:t>  +  </m:t>
                      </m:r>
                      <m:f>
                        <m:fPr>
                          <m:ctrlPr>
                            <a:rPr lang="ar-AE" sz="3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ar-AE" sz="3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</m:e>
                            <m:sup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𝜓</m:t>
                          </m:r>
                        </m:num>
                        <m:den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ar-AE" sz="3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p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ar-AE" sz="3500" i="1">
                          <a:latin typeface="Cambria Math" panose="02040503050406030204" pitchFamily="18" charset="0"/>
                        </a:rPr>
                        <m:t>   =   − </m:t>
                      </m:r>
                      <m:sSub>
                        <m:sSubPr>
                          <m:ctrlPr>
                            <a:rPr lang="ar-AE" sz="3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 sz="3500" i="1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ar-AE" sz="35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ar-AE" sz="35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ar-AE" sz="3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𝑑𝑝</m:t>
                          </m:r>
                        </m:num>
                        <m:den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𝜓</m:t>
                          </m:r>
                        </m:den>
                      </m:f>
                      <m:r>
                        <a:rPr lang="ar-AE" sz="3500" i="1">
                          <a:latin typeface="Cambria Math" panose="02040503050406030204" pitchFamily="18" charset="0"/>
                        </a:rPr>
                        <m:t>  −  </m:t>
                      </m:r>
                      <m:f>
                        <m:fPr>
                          <m:ctrlPr>
                            <a:rPr lang="ar-AE" sz="3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ar-AE" sz="35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ar-AE" sz="3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p>
                            <m:sSupPr>
                              <m:ctrlPr>
                                <a:rPr lang="ar-AE" sz="3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p>
                              <m:r>
                                <a:rPr lang="ar-AE" sz="35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ar-AE" sz="3500" i="1">
                              <a:latin typeface="Cambria Math" panose="02040503050406030204" pitchFamily="18" charset="0"/>
                            </a:rPr>
                            <m:t>𝜓</m:t>
                          </m:r>
                        </m:den>
                      </m:f>
                      <m:r>
                        <a:rPr lang="ar-AE" sz="35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3500" dirty="0"/>
              </a:p>
              <a:p>
                <a:pPr algn="just">
                  <a:spcAft>
                    <a:spcPts val="600"/>
                  </a:spcAft>
                </a:pPr>
                <a:r>
                  <a:rPr lang="en-US" sz="3500" dirty="0"/>
                  <a:t>where </a:t>
                </a:r>
                <a14:m>
                  <m:oMath xmlns:m="http://schemas.openxmlformats.org/officeDocument/2006/math"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3500" dirty="0"/>
                  <a:t> is plasma pressure,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500" i="1" dirty="0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sz="35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3500" dirty="0"/>
                  <a:t> is magnetic permeability, </a:t>
                </a:r>
                <a14:m>
                  <m:oMath xmlns:m="http://schemas.openxmlformats.org/officeDocument/2006/math"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𝑟</m:t>
                    </m:r>
                    <m:sSub>
                      <m:sSubPr>
                        <m:ctrlPr>
                          <a:rPr lang="en-US" sz="35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5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3500" i="1" dirty="0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sz="3500" dirty="0"/>
                  <a:t>, </a:t>
                </a:r>
                <a14:m>
                  <m:oMath xmlns:m="http://schemas.openxmlformats.org/officeDocument/2006/math"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3500" dirty="0"/>
                  <a:t> is magnetic field, and </a:t>
                </a:r>
                <a14:m>
                  <m:oMath xmlns:m="http://schemas.openxmlformats.org/officeDocument/2006/math"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35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3500" dirty="0"/>
                  <a:t>are cylindrical coordinates. </a:t>
                </a:r>
              </a:p>
              <a:p>
                <a:pPr algn="just">
                  <a:spcAft>
                    <a:spcPts val="600"/>
                  </a:spcAft>
                </a:pPr>
                <a:r>
                  <a:rPr lang="en-US" sz="3500" b="0" dirty="0">
                    <a:solidFill>
                      <a:srgbClr val="1F1F1F"/>
                    </a:solidFill>
                  </a:rPr>
                  <a:t>Sets the flux surfaces, magnetic axis, plasma shape, and safety factor </a:t>
                </a:r>
                <a14:m>
                  <m:oMath xmlns:m="http://schemas.openxmlformats.org/officeDocument/2006/math"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500" b="0" dirty="0">
                    <a:solidFill>
                      <a:srgbClr val="1F1F1F"/>
                    </a:solidFill>
                  </a:rPr>
                  <a:t>.</a:t>
                </a:r>
              </a:p>
              <a:p>
                <a:pPr algn="l">
                  <a:spcAft>
                    <a:spcPts val="600"/>
                  </a:spcAft>
                </a:pPr>
                <a:r>
                  <a:rPr lang="en-US" sz="3500" b="0" dirty="0" err="1">
                    <a:solidFill>
                      <a:srgbClr val="1F1F1F"/>
                    </a:solidFill>
                  </a:rPr>
                  <a:t>Solov'ev</a:t>
                </a:r>
                <a:r>
                  <a:rPr lang="en-US" sz="3500" b="0" dirty="0">
                    <a:solidFill>
                      <a:srgbClr val="1F1F1F"/>
                    </a:solidFill>
                  </a:rPr>
                  <a:t> profiles admit an exact solution → a rigorous verification anchor.</a:t>
                </a:r>
                <a:endParaRPr sz="3500" b="0" dirty="0">
                  <a:solidFill>
                    <a:srgbClr val="1F1F1F"/>
                  </a:solidFill>
                </a:endParaRPr>
              </a:p>
            </p:txBody>
          </p:sp>
        </mc:Choice>
        <mc:Fallback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11985298"/>
                <a:ext cx="13075920" cy="5341847"/>
              </a:xfrm>
              <a:prstGeom prst="rect">
                <a:avLst/>
              </a:prstGeom>
              <a:blipFill>
                <a:blip r:embed="rId2"/>
                <a:stretch>
                  <a:fillRect l="-1352" t="-1712" r="-1352" b="-3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/>
          <p:cNvSpPr/>
          <p:nvPr/>
        </p:nvSpPr>
        <p:spPr>
          <a:xfrm>
            <a:off x="14767559" y="4572000"/>
            <a:ext cx="13624560" cy="5720851"/>
          </a:xfrm>
          <a:prstGeom prst="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4767559" y="457200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4</a:t>
            </a:r>
            <a:r>
              <a:rPr lang="en-US" sz="4000" b="1" dirty="0">
                <a:solidFill>
                  <a:srgbClr val="FFFFFF"/>
                </a:solidFill>
              </a:rPr>
              <a:t>.</a:t>
            </a:r>
            <a:r>
              <a:rPr sz="4000" b="1" dirty="0">
                <a:solidFill>
                  <a:srgbClr val="FFFFFF"/>
                </a:solidFill>
              </a:rPr>
              <a:t>  The pipeline in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41880" y="5897880"/>
            <a:ext cx="13075920" cy="36317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500" b="1" dirty="0">
                <a:solidFill>
                  <a:srgbClr val="1F1F1F"/>
                </a:solidFill>
              </a:rPr>
              <a:t>Prompt: “the Grad-</a:t>
            </a:r>
            <a:r>
              <a:rPr sz="3500" b="1" dirty="0" err="1">
                <a:solidFill>
                  <a:srgbClr val="1F1F1F"/>
                </a:solidFill>
              </a:rPr>
              <a:t>Shafranov</a:t>
            </a:r>
            <a:r>
              <a:rPr sz="3500" b="1" dirty="0">
                <a:solidFill>
                  <a:srgbClr val="1F1F1F"/>
                </a:solidFill>
              </a:rPr>
              <a:t> equilibrium for a tokamak plasma.”</a:t>
            </a:r>
          </a:p>
          <a:p>
            <a:pPr algn="l">
              <a:spcAft>
                <a:spcPts val="600"/>
              </a:spcAft>
            </a:pPr>
            <a:r>
              <a:rPr sz="3500" b="0" dirty="0">
                <a:solidFill>
                  <a:srgbClr val="1F1F1F"/>
                </a:solidFill>
              </a:rPr>
              <a:t>Modeling → ‘Grad-</a:t>
            </a:r>
            <a:r>
              <a:rPr sz="3500" b="0" dirty="0" err="1">
                <a:solidFill>
                  <a:srgbClr val="1F1F1F"/>
                </a:solidFill>
              </a:rPr>
              <a:t>Shafranov</a:t>
            </a:r>
            <a:r>
              <a:rPr sz="3500" b="0" dirty="0">
                <a:solidFill>
                  <a:srgbClr val="1F1F1F"/>
                </a:solidFill>
              </a:rPr>
              <a:t> equation’, steady.</a:t>
            </a:r>
          </a:p>
          <a:p>
            <a:pPr>
              <a:spcAft>
                <a:spcPts val="600"/>
              </a:spcAft>
            </a:pPr>
            <a:r>
              <a:rPr sz="3500" b="0" dirty="0">
                <a:solidFill>
                  <a:srgbClr val="1F1F1F"/>
                </a:solidFill>
              </a:rPr>
              <a:t>Numerical Analysis → non</a:t>
            </a:r>
            <a:r>
              <a:rPr lang="en-US" sz="3500" b="0" dirty="0">
                <a:solidFill>
                  <a:srgbClr val="1F1F1F"/>
                </a:solidFill>
              </a:rPr>
              <a:t>-</a:t>
            </a:r>
            <a:r>
              <a:rPr sz="3500" b="0" dirty="0">
                <a:solidFill>
                  <a:srgbClr val="1F1F1F"/>
                </a:solidFill>
              </a:rPr>
              <a:t>linear ⇒ SNES </a:t>
            </a:r>
            <a:r>
              <a:rPr lang="en-US" sz="3500" b="0" dirty="0">
                <a:solidFill>
                  <a:srgbClr val="1F1F1F"/>
                </a:solidFill>
              </a:rPr>
              <a:t>(Scalable Nonlinear Equations Solvers) </a:t>
            </a:r>
            <a:r>
              <a:rPr sz="3500" b="0" dirty="0">
                <a:solidFill>
                  <a:srgbClr val="1F1F1F"/>
                </a:solidFill>
              </a:rPr>
              <a:t>on a DMDA</a:t>
            </a:r>
            <a:r>
              <a:rPr lang="en-US" sz="3500" b="0" dirty="0">
                <a:solidFill>
                  <a:srgbClr val="1F1F1F"/>
                </a:solidFill>
              </a:rPr>
              <a:t> (</a:t>
            </a:r>
            <a:r>
              <a:rPr lang="en-US" sz="3600" dirty="0"/>
              <a:t>Distributed Management Distributed Array)</a:t>
            </a:r>
            <a:r>
              <a:rPr sz="3500" b="0" dirty="0">
                <a:solidFill>
                  <a:srgbClr val="1F1F1F"/>
                </a:solidFill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3500" b="0" dirty="0">
                <a:solidFill>
                  <a:srgbClr val="1F1F1F"/>
                </a:solidFill>
              </a:rPr>
              <a:t>Code Generation → </a:t>
            </a:r>
            <a:r>
              <a:rPr lang="en-US" sz="3500" b="0" dirty="0">
                <a:solidFill>
                  <a:srgbClr val="1F1F1F"/>
                </a:solidFill>
              </a:rPr>
              <a:t>one</a:t>
            </a:r>
            <a:r>
              <a:rPr sz="3500" b="0" dirty="0">
                <a:solidFill>
                  <a:srgbClr val="1F1F1F"/>
                </a:solidFill>
              </a:rPr>
              <a:t> 252-line parametrized </a:t>
            </a:r>
            <a:r>
              <a:rPr sz="3500" b="0" dirty="0" err="1">
                <a:solidFill>
                  <a:srgbClr val="1F1F1F"/>
                </a:solidFill>
              </a:rPr>
              <a:t>PETSc</a:t>
            </a:r>
            <a:r>
              <a:rPr sz="3500" b="0" dirty="0">
                <a:solidFill>
                  <a:srgbClr val="1F1F1F"/>
                </a:solidFill>
              </a:rPr>
              <a:t> solver.</a:t>
            </a:r>
          </a:p>
          <a:p>
            <a:pPr algn="l">
              <a:spcAft>
                <a:spcPts val="600"/>
              </a:spcAft>
            </a:pPr>
            <a:r>
              <a:rPr sz="3500" b="1" dirty="0">
                <a:solidFill>
                  <a:srgbClr val="007D8A"/>
                </a:solidFill>
              </a:rPr>
              <a:t>Compiled </a:t>
            </a:r>
            <a:r>
              <a:rPr lang="en-US" sz="3500" b="1" dirty="0">
                <a:solidFill>
                  <a:srgbClr val="007D8A"/>
                </a:solidFill>
              </a:rPr>
              <a:t>and</a:t>
            </a:r>
            <a:r>
              <a:rPr sz="3500" b="1" dirty="0">
                <a:solidFill>
                  <a:srgbClr val="007D8A"/>
                </a:solidFill>
              </a:rPr>
              <a:t> ran on 1 and 4 MPI ranks </a:t>
            </a:r>
            <a:r>
              <a:rPr lang="en-US" sz="3500" b="1" dirty="0">
                <a:solidFill>
                  <a:srgbClr val="007D8A"/>
                </a:solidFill>
              </a:rPr>
              <a:t>without any</a:t>
            </a:r>
            <a:r>
              <a:rPr sz="3500" b="1" dirty="0">
                <a:solidFill>
                  <a:srgbClr val="007D8A"/>
                </a:solidFill>
              </a:rPr>
              <a:t> human edits.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767559" y="11298691"/>
            <a:ext cx="13624560" cy="7115311"/>
          </a:xfrm>
          <a:prstGeom prst="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4767559" y="11298691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5</a:t>
            </a:r>
            <a:r>
              <a:rPr lang="en-US" sz="4000" b="1" dirty="0">
                <a:solidFill>
                  <a:srgbClr val="FFFFFF"/>
                </a:solidFill>
              </a:rPr>
              <a:t>.</a:t>
            </a:r>
            <a:r>
              <a:rPr sz="4000" b="1" dirty="0">
                <a:solidFill>
                  <a:srgbClr val="FFFFFF"/>
                </a:solidFill>
              </a:rPr>
              <a:t>  Generated solver (excerpt)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41880" y="12624571"/>
            <a:ext cx="13075920" cy="48628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 dirty="0">
                <a:solidFill>
                  <a:srgbClr val="4A4A4A"/>
                </a:solidFill>
                <a:latin typeface="Consolas"/>
              </a:rPr>
              <a:t>/* GS operator (normalized x=R/R0), 2nd-order FD */</a:t>
            </a:r>
          </a:p>
          <a:p>
            <a:pPr algn="l">
              <a:spcAft>
                <a:spcPts val="600"/>
              </a:spcAft>
            </a:pPr>
            <a:r>
              <a:rPr sz="3000" b="0" dirty="0">
                <a:solidFill>
                  <a:srgbClr val="1F1F1F"/>
                </a:solidFill>
                <a:latin typeface="Consolas"/>
              </a:rPr>
              <a:t>DMDACreate2d(...,DMDA_STENCIL_STAR,...,&amp;da);</a:t>
            </a:r>
          </a:p>
          <a:p>
            <a:pPr algn="l">
              <a:spcAft>
                <a:spcPts val="600"/>
              </a:spcAft>
            </a:pPr>
            <a:r>
              <a:rPr sz="3000" b="0" dirty="0">
                <a:solidFill>
                  <a:srgbClr val="1F1F1F"/>
                </a:solidFill>
                <a:latin typeface="Consolas"/>
              </a:rPr>
              <a:t>dxx=(u[j][i+1]-2*u[j][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i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]+u[j][i-1])/hx2;</a:t>
            </a:r>
          </a:p>
          <a:p>
            <a:pPr algn="l">
              <a:spcAft>
                <a:spcPts val="600"/>
              </a:spcAft>
            </a:pPr>
            <a:r>
              <a:rPr sz="3000" b="0" dirty="0" err="1">
                <a:solidFill>
                  <a:srgbClr val="1F1F1F"/>
                </a:solidFill>
                <a:latin typeface="Consolas"/>
              </a:rPr>
              <a:t>dyy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=(u[j+1][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i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]-2*u[j][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i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]+u[j-1][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i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])/hy2;</a:t>
            </a:r>
          </a:p>
          <a:p>
            <a:pPr algn="l">
              <a:spcAft>
                <a:spcPts val="600"/>
              </a:spcAft>
            </a:pPr>
            <a:r>
              <a:rPr sz="3000" b="0" dirty="0">
                <a:solidFill>
                  <a:srgbClr val="1F1F1F"/>
                </a:solidFill>
                <a:latin typeface="Consolas"/>
              </a:rPr>
              <a:t>f[j][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i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]=dxx-dx/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x+dyy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-((1-A)*x*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x+A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);</a:t>
            </a:r>
          </a:p>
          <a:p>
            <a:pPr algn="l">
              <a:spcAft>
                <a:spcPts val="600"/>
              </a:spcAft>
            </a:pPr>
            <a:r>
              <a:rPr sz="3000" b="0" dirty="0">
                <a:solidFill>
                  <a:srgbClr val="4A4A4A"/>
                </a:solidFill>
                <a:latin typeface="Consolas"/>
              </a:rPr>
              <a:t>/* Dirichlet BC = analytic CF psi (nonzero) */</a:t>
            </a:r>
          </a:p>
          <a:p>
            <a:pPr algn="l">
              <a:spcAft>
                <a:spcPts val="600"/>
              </a:spcAft>
            </a:pPr>
            <a:r>
              <a:rPr sz="3000" b="0" dirty="0">
                <a:solidFill>
                  <a:srgbClr val="1F1F1F"/>
                </a:solidFill>
                <a:latin typeface="Consolas"/>
              </a:rPr>
              <a:t>f[b]=u[b]-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PsiExact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(&amp;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u,x,y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);</a:t>
            </a:r>
          </a:p>
          <a:p>
            <a:pPr algn="l">
              <a:spcAft>
                <a:spcPts val="600"/>
              </a:spcAft>
            </a:pPr>
            <a:r>
              <a:rPr sz="3000" b="0" dirty="0" err="1">
                <a:solidFill>
                  <a:srgbClr val="1F1F1F"/>
                </a:solidFill>
                <a:latin typeface="Consolas"/>
              </a:rPr>
              <a:t>SNESSetJacobian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(snes,J,J,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FormJacobian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,&amp;u);</a:t>
            </a:r>
          </a:p>
          <a:p>
            <a:pPr algn="l">
              <a:spcAft>
                <a:spcPts val="600"/>
              </a:spcAft>
            </a:pPr>
            <a:r>
              <a:rPr sz="3000" b="0" dirty="0" err="1">
                <a:solidFill>
                  <a:srgbClr val="1F1F1F"/>
                </a:solidFill>
                <a:latin typeface="Consolas"/>
              </a:rPr>
              <a:t>SNESSolve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(</a:t>
            </a:r>
            <a:r>
              <a:rPr sz="3000" b="0" dirty="0" err="1">
                <a:solidFill>
                  <a:srgbClr val="1F1F1F"/>
                </a:solidFill>
                <a:latin typeface="Consolas"/>
              </a:rPr>
              <a:t>snes,NULL,X</a:t>
            </a:r>
            <a:r>
              <a:rPr sz="3000" b="0" dirty="0">
                <a:solidFill>
                  <a:srgbClr val="1F1F1F"/>
                </a:solidFill>
                <a:latin typeface="Consolas"/>
              </a:rPr>
              <a:t>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95039" y="17899380"/>
            <a:ext cx="13624560" cy="4896612"/>
          </a:xfrm>
          <a:prstGeom prst="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8895039" y="1789938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8</a:t>
            </a:r>
            <a:r>
              <a:rPr lang="en-US" sz="4000" b="1" dirty="0">
                <a:solidFill>
                  <a:srgbClr val="FFFFFF"/>
                </a:solidFill>
              </a:rPr>
              <a:t>.</a:t>
            </a:r>
            <a:r>
              <a:rPr sz="4000" b="1" dirty="0">
                <a:solidFill>
                  <a:srgbClr val="FFFFFF"/>
                </a:solidFill>
              </a:rPr>
              <a:t>  Safety </a:t>
            </a:r>
            <a:r>
              <a:rPr sz="4000" b="1">
                <a:solidFill>
                  <a:srgbClr val="FFFFFF"/>
                </a:solidFill>
              </a:rPr>
              <a:t>factor </a:t>
            </a:r>
            <a:r>
              <a:rPr lang="en-US" sz="4000" b="1">
                <a:solidFill>
                  <a:srgbClr val="FFFFFF"/>
                </a:solidFill>
              </a:rPr>
              <a:t>and</a:t>
            </a:r>
            <a:r>
              <a:rPr sz="4000" b="1">
                <a:solidFill>
                  <a:srgbClr val="FFFFFF"/>
                </a:solidFill>
              </a:rPr>
              <a:t> </a:t>
            </a:r>
            <a:r>
              <a:rPr sz="4000" b="1" dirty="0" err="1">
                <a:solidFill>
                  <a:srgbClr val="FFFFFF"/>
                </a:solidFill>
              </a:rPr>
              <a:t>FreeGS</a:t>
            </a:r>
            <a:r>
              <a:rPr sz="4000" b="1" dirty="0">
                <a:solidFill>
                  <a:srgbClr val="FFFFFF"/>
                </a:solidFill>
              </a:rPr>
              <a:t> cross-check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29169360" y="19225260"/>
                <a:ext cx="13075920" cy="301621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600"/>
                  </a:spcAft>
                </a:pPr>
                <a:r>
                  <a:rPr lang="en-US" sz="3500" b="0" dirty="0">
                    <a:solidFill>
                      <a:srgbClr val="1F1F1F"/>
                    </a:solidFill>
                  </a:rPr>
                  <a:t>Safety-factor </a:t>
                </a:r>
                <a14:m>
                  <m:oMath xmlns:m="http://schemas.openxmlformats.org/officeDocument/2006/math"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3500" b="0" i="1" dirty="0" err="1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3500" b="0" i="1" dirty="0" err="1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𝜓</m:t>
                        </m:r>
                      </m:e>
                      <m:sub>
                        <m:r>
                          <a:rPr lang="ar-AE" sz="3500" b="0" i="1" dirty="0" err="1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ar-AE" sz="3500" b="0" i="1" dirty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ar-AE" sz="3500" b="0" dirty="0">
                    <a:solidFill>
                      <a:srgbClr val="1F1F1F"/>
                    </a:solidFill>
                  </a:rPr>
                  <a:t> </a:t>
                </a:r>
                <a:r>
                  <a:rPr lang="en-US" sz="3500" b="0" dirty="0">
                    <a:solidFill>
                      <a:srgbClr val="1F1F1F"/>
                    </a:solidFill>
                  </a:rPr>
                  <a:t>computed from the verified flux surfaces:</a:t>
                </a:r>
              </a:p>
              <a:p>
                <a:pPr algn="l">
                  <a:spcAft>
                    <a:spcPts val="600"/>
                  </a:spcAft>
                </a:pPr>
                <a:r>
                  <a:rPr lang="en-US" sz="3500" b="1" dirty="0">
                    <a:solidFill>
                      <a:srgbClr val="007D8A"/>
                    </a:solidFill>
                  </a:rPr>
                  <a:t>ITER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500" b="1" i="1" dirty="0" smtClean="0">
                            <a:solidFill>
                              <a:srgbClr val="007D8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500" b="1" i="1" dirty="0" smtClean="0">
                            <a:solidFill>
                              <a:srgbClr val="007D8A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3500" b="1" i="1" dirty="0" smtClean="0">
                            <a:solidFill>
                              <a:srgbClr val="007D8A"/>
                            </a:solidFill>
                            <a:latin typeface="Cambria Math" panose="02040503050406030204" pitchFamily="18" charset="0"/>
                          </a:rPr>
                          <m:t>𝟗𝟓</m:t>
                        </m:r>
                      </m:sub>
                    </m:sSub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𝟐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𝟗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500" b="1" dirty="0">
                    <a:solidFill>
                      <a:srgbClr val="007D8A"/>
                    </a:solidFill>
                  </a:rPr>
                  <a:t> ·  NSTX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500" b="1" i="1" dirty="0" smtClean="0">
                            <a:solidFill>
                              <a:srgbClr val="007D8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500" b="1" i="1" dirty="0" smtClean="0">
                            <a:solidFill>
                              <a:srgbClr val="007D8A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3500" b="1" i="1" dirty="0" smtClean="0">
                            <a:solidFill>
                              <a:srgbClr val="007D8A"/>
                            </a:solidFill>
                            <a:latin typeface="Cambria Math" panose="02040503050406030204" pitchFamily="18" charset="0"/>
                          </a:rPr>
                          <m:t>𝟗𝟓</m:t>
                        </m:r>
                      </m:sub>
                    </m:sSub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𝟏𝟐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𝟒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500" b="1" dirty="0">
                    <a:solidFill>
                      <a:srgbClr val="007D8A"/>
                    </a:solidFill>
                  </a:rPr>
                  <a:t> ·  X-point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500" b="1" i="1" dirty="0" smtClean="0">
                            <a:solidFill>
                              <a:srgbClr val="007D8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3500" b="1" i="1" dirty="0" smtClean="0">
                            <a:solidFill>
                              <a:srgbClr val="007D8A"/>
                            </a:solidFill>
                            <a:latin typeface="Cambria Math" panose="02040503050406030204" pitchFamily="18" charset="0"/>
                          </a:rPr>
                          <m:t>𝒒</m:t>
                        </m:r>
                      </m:e>
                      <m:sub>
                        <m:r>
                          <a:rPr lang="en-US" sz="3500" b="1" i="1" dirty="0" smtClean="0">
                            <a:solidFill>
                              <a:srgbClr val="007D8A"/>
                            </a:solidFill>
                            <a:latin typeface="Cambria Math" panose="02040503050406030204" pitchFamily="18" charset="0"/>
                          </a:rPr>
                          <m:t>𝟗𝟓</m:t>
                        </m:r>
                      </m:sub>
                    </m:sSub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3500" b="1" i="1" dirty="0" smtClean="0">
                        <a:solidFill>
                          <a:srgbClr val="007D8A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sz="3500" b="1" dirty="0">
                  <a:solidFill>
                    <a:srgbClr val="007D8A"/>
                  </a:solidFill>
                </a:endParaRPr>
              </a:p>
              <a:p>
                <a:pPr algn="l">
                  <a:spcAft>
                    <a:spcPts val="600"/>
                  </a:spcAft>
                </a:pPr>
                <a:r>
                  <a:rPr lang="en-US" sz="3500" b="0" dirty="0">
                    <a:solidFill>
                      <a:srgbClr val="1F1F1F"/>
                    </a:solidFill>
                  </a:rPr>
                  <a:t>Cross-checked vs </a:t>
                </a:r>
                <a:r>
                  <a:rPr lang="en-US" sz="3500" b="0" dirty="0" err="1">
                    <a:solidFill>
                      <a:srgbClr val="1F1F1F"/>
                    </a:solidFill>
                  </a:rPr>
                  <a:t>FreeGS’s</a:t>
                </a:r>
                <a:r>
                  <a:rPr lang="en-US" sz="3500" b="0" dirty="0">
                    <a:solidFill>
                      <a:srgbClr val="1F1F1F"/>
                    </a:solidFill>
                  </a:rPr>
                  <a:t> independent </a:t>
                </a:r>
                <a14:m>
                  <m:oMath xmlns:m="http://schemas.openxmlformats.org/officeDocument/2006/math"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3500" b="0" dirty="0">
                    <a:solidFill>
                      <a:srgbClr val="1F1F1F"/>
                    </a:solidFill>
                  </a:rPr>
                  <a:t> on the SAME field → agree to less than 0.2 %.</a:t>
                </a:r>
              </a:p>
              <a:p>
                <a:pPr algn="l">
                  <a:spcAft>
                    <a:spcPts val="600"/>
                  </a:spcAft>
                </a:pPr>
                <a:r>
                  <a:rPr lang="en-US" sz="3500" b="0" dirty="0">
                    <a:solidFill>
                      <a:srgbClr val="1F1F1F"/>
                    </a:solidFill>
                  </a:rPr>
                  <a:t>Measured </a:t>
                </a:r>
                <a14:m>
                  <m:oMath xmlns:m="http://schemas.openxmlformats.org/officeDocument/2006/math">
                    <m:r>
                      <a:rPr lang="el-GR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𝜅</m:t>
                    </m:r>
                  </m:oMath>
                </a14:m>
                <a:r>
                  <a:rPr lang="el-GR" sz="3500" b="0" dirty="0">
                    <a:solidFill>
                      <a:srgbClr val="1F1F1F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l-GR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l-GR" sz="3500" b="0" dirty="0">
                    <a:solidFill>
                      <a:srgbClr val="1F1F1F"/>
                    </a:solidFill>
                  </a:rPr>
                  <a:t> </a:t>
                </a:r>
                <a:r>
                  <a:rPr lang="en-US" sz="3500" b="0" dirty="0">
                    <a:solidFill>
                      <a:srgbClr val="1F1F1F"/>
                    </a:solidFill>
                  </a:rPr>
                  <a:t>match the input shaping to </a:t>
                </a:r>
                <a:r>
                  <a:rPr lang="en-US" sz="3500" dirty="0">
                    <a:solidFill>
                      <a:srgbClr val="1F1F1F"/>
                    </a:solidFill>
                  </a:rPr>
                  <a:t>around </a:t>
                </a:r>
                <a:r>
                  <a:rPr lang="en-US" sz="3500" b="0" dirty="0">
                    <a:solidFill>
                      <a:srgbClr val="1F1F1F"/>
                    </a:solidFill>
                  </a:rPr>
                  <a:t>1 to 2 %.</a:t>
                </a:r>
                <a:endParaRPr sz="3500" b="0" dirty="0">
                  <a:solidFill>
                    <a:srgbClr val="1F1F1F"/>
                  </a:solidFill>
                </a:endParaRPr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0" y="19225260"/>
                <a:ext cx="13075920" cy="3016210"/>
              </a:xfrm>
              <a:prstGeom prst="rect">
                <a:avLst/>
              </a:prstGeom>
              <a:blipFill>
                <a:blip r:embed="rId3"/>
                <a:stretch>
                  <a:fillRect l="-1352" t="-3636" r="-1911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ounded Rectangle 18"/>
          <p:cNvSpPr/>
          <p:nvPr/>
        </p:nvSpPr>
        <p:spPr>
          <a:xfrm>
            <a:off x="28895039" y="23801832"/>
            <a:ext cx="13624560" cy="6464808"/>
          </a:xfrm>
          <a:prstGeom prst="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8895039" y="23801832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9</a:t>
            </a:r>
            <a:r>
              <a:rPr lang="en-US" sz="4000" b="1" dirty="0">
                <a:solidFill>
                  <a:srgbClr val="FFFFFF"/>
                </a:solidFill>
              </a:rPr>
              <a:t>.</a:t>
            </a:r>
            <a:r>
              <a:rPr sz="4000" b="1" dirty="0">
                <a:solidFill>
                  <a:srgbClr val="FFFFFF"/>
                </a:solidFill>
              </a:rPr>
              <a:t>  Results </a:t>
            </a:r>
            <a:r>
              <a:rPr lang="en-US" sz="4000" b="1" dirty="0">
                <a:solidFill>
                  <a:srgbClr val="FFFFFF"/>
                </a:solidFill>
              </a:rPr>
              <a:t>and</a:t>
            </a:r>
            <a:r>
              <a:rPr sz="4000" b="1" dirty="0">
                <a:solidFill>
                  <a:srgbClr val="FFFFFF"/>
                </a:solidFill>
              </a:rPr>
              <a:t> conclusions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29169360" y="25127712"/>
                <a:ext cx="13075920" cy="4708981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600"/>
                  </a:spcAft>
                </a:pPr>
                <a:r>
                  <a:rPr sz="3500" b="0" dirty="0">
                    <a:solidFill>
                      <a:srgbClr val="1F1F1F"/>
                    </a:solidFill>
                  </a:rPr>
                  <a:t>One 252-line solver, 0 hand-written, verified on 3 real-machine equilibria.</a:t>
                </a:r>
              </a:p>
              <a:p>
                <a:pPr algn="l">
                  <a:spcAft>
                    <a:spcPts val="600"/>
                  </a:spcAft>
                </a:pPr>
                <a:r>
                  <a:rPr lang="en-US" sz="3500" dirty="0">
                    <a:solidFill>
                      <a:srgbClr val="1F1F1F"/>
                    </a:solidFill>
                  </a:rPr>
                  <a:t>Second</a:t>
                </a:r>
                <a:r>
                  <a:rPr sz="3500" b="0" dirty="0">
                    <a:solidFill>
                      <a:srgbClr val="1F1F1F"/>
                    </a:solidFill>
                  </a:rPr>
                  <a:t>-order accurate </a:t>
                </a:r>
                <a14:m>
                  <m:oMath xmlns:m="http://schemas.openxmlformats.org/officeDocument/2006/math"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=2.00) </m:t>
                    </m:r>
                  </m:oMath>
                </a14:m>
                <a:r>
                  <a:rPr sz="3500" b="0" dirty="0">
                    <a:solidFill>
                      <a:srgbClr val="1F1F1F"/>
                    </a:solidFill>
                  </a:rPr>
                  <a:t>on every case; runs on 1 </a:t>
                </a:r>
                <a:r>
                  <a:rPr lang="en-US" sz="3500" b="0" dirty="0">
                    <a:solidFill>
                      <a:srgbClr val="1F1F1F"/>
                    </a:solidFill>
                  </a:rPr>
                  <a:t>and</a:t>
                </a:r>
                <a:r>
                  <a:rPr sz="3500" b="0" dirty="0">
                    <a:solidFill>
                      <a:srgbClr val="1F1F1F"/>
                    </a:solidFill>
                  </a:rPr>
                  <a:t> 4 MPI ranks.</a:t>
                </a:r>
              </a:p>
              <a:p>
                <a:pPr>
                  <a:spcAft>
                    <a:spcPts val="600"/>
                  </a:spcAft>
                </a:pPr>
                <a:r>
                  <a:rPr sz="3500" b="0" dirty="0">
                    <a:solidFill>
                      <a:srgbClr val="1F1F1F"/>
                    </a:solidFill>
                  </a:rPr>
                  <a:t>Efficiency: </a:t>
                </a:r>
                <a:r>
                  <a:rPr lang="en-US" sz="3500" dirty="0">
                    <a:solidFill>
                      <a:srgbClr val="1F1F1F"/>
                    </a:solidFill>
                  </a:rPr>
                  <a:t>wall-clock time of </a:t>
                </a:r>
                <a:r>
                  <a:rPr sz="3500" b="0" dirty="0">
                    <a:solidFill>
                      <a:srgbClr val="1F1F1F"/>
                    </a:solidFill>
                  </a:rPr>
                  <a:t>311.4 s; </a:t>
                </a:r>
                <a:r>
                  <a:rPr lang="en-US" sz="3500" dirty="0">
                    <a:solidFill>
                      <a:srgbClr val="1F1F1F"/>
                    </a:solidFill>
                  </a:rPr>
                  <a:t>around </a:t>
                </a:r>
                <a:r>
                  <a:rPr sz="3500" b="0" dirty="0">
                    <a:solidFill>
                      <a:srgbClr val="1F1F1F"/>
                    </a:solidFill>
                  </a:rPr>
                  <a:t>27 LLM completions.</a:t>
                </a:r>
              </a:p>
              <a:p>
                <a:pPr algn="l">
                  <a:spcAft>
                    <a:spcPts val="600"/>
                  </a:spcAft>
                </a:pPr>
                <a:r>
                  <a:rPr sz="3500" b="0" dirty="0">
                    <a:solidFill>
                      <a:srgbClr val="1F1F1F"/>
                    </a:solidFill>
                  </a:rPr>
                  <a:t>Verification-driven: exact-solution convergence + independent </a:t>
                </a:r>
                <a14:m>
                  <m:oMath xmlns:m="http://schemas.openxmlformats.org/officeDocument/2006/math">
                    <m:r>
                      <a:rPr lang="en-US" sz="3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sz="3500" b="0" dirty="0">
                    <a:solidFill>
                      <a:srgbClr val="1F1F1F"/>
                    </a:solidFill>
                  </a:rPr>
                  <a:t> cross-check.</a:t>
                </a:r>
              </a:p>
              <a:p>
                <a:pPr algn="l">
                  <a:spcAft>
                    <a:spcPts val="600"/>
                  </a:spcAft>
                </a:pPr>
                <a:r>
                  <a:rPr sz="3500" b="0" dirty="0">
                    <a:solidFill>
                      <a:srgbClr val="007D8A"/>
                    </a:solidFill>
                  </a:rPr>
                  <a:t>github.com/engineer-scientist/</a:t>
                </a:r>
                <a:r>
                  <a:rPr sz="3500" b="0" dirty="0" err="1">
                    <a:solidFill>
                      <a:srgbClr val="007D8A"/>
                    </a:solidFill>
                  </a:rPr>
                  <a:t>petsc_mcp_servers_tokamak</a:t>
                </a:r>
                <a:endParaRPr sz="3500" b="0" dirty="0">
                  <a:solidFill>
                    <a:srgbClr val="007D8A"/>
                  </a:solidFill>
                </a:endParaRPr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0" y="25127712"/>
                <a:ext cx="13075920" cy="4708981"/>
              </a:xfrm>
              <a:prstGeom prst="rect">
                <a:avLst/>
              </a:prstGeom>
              <a:blipFill>
                <a:blip r:embed="rId4"/>
                <a:stretch>
                  <a:fillRect l="-1352" t="-1943" r="-47" b="-40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ounded Rectangle 21"/>
          <p:cNvSpPr/>
          <p:nvPr/>
        </p:nvSpPr>
        <p:spPr>
          <a:xfrm>
            <a:off x="640080" y="17636852"/>
            <a:ext cx="13624560" cy="12629787"/>
          </a:xfrm>
          <a:prstGeom prst="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17636852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3</a:t>
            </a:r>
            <a:r>
              <a:rPr lang="en-US" sz="4000" b="1" dirty="0">
                <a:solidFill>
                  <a:srgbClr val="FFFFFF"/>
                </a:solidFill>
              </a:rPr>
              <a:t>.</a:t>
            </a:r>
            <a:r>
              <a:rPr sz="4000" b="1" dirty="0">
                <a:solidFill>
                  <a:srgbClr val="FFFFFF"/>
                </a:solidFill>
              </a:rPr>
              <a:t>  The </a:t>
            </a:r>
            <a:r>
              <a:rPr lang="en-US" sz="4000" b="1" dirty="0">
                <a:solidFill>
                  <a:srgbClr val="FFFFFF"/>
                </a:solidFill>
              </a:rPr>
              <a:t>system of </a:t>
            </a:r>
            <a:r>
              <a:rPr sz="4000" b="1" dirty="0">
                <a:solidFill>
                  <a:srgbClr val="FFFFFF"/>
                </a:solidFill>
              </a:rPr>
              <a:t>multi</a:t>
            </a:r>
            <a:r>
              <a:rPr lang="en-US" sz="4000" b="1" dirty="0">
                <a:solidFill>
                  <a:srgbClr val="FFFFFF"/>
                </a:solidFill>
              </a:rPr>
              <a:t>ple AI </a:t>
            </a:r>
            <a:r>
              <a:rPr sz="4000" b="1" dirty="0">
                <a:solidFill>
                  <a:srgbClr val="FFFFFF"/>
                </a:solidFill>
              </a:rPr>
              <a:t>agent</a:t>
            </a:r>
            <a:r>
              <a:rPr lang="en-US" sz="4000" b="1" dirty="0">
                <a:solidFill>
                  <a:srgbClr val="FFFFFF"/>
                </a:solidFill>
              </a:rPr>
              <a:t>s</a:t>
            </a:r>
            <a:endParaRPr sz="4000" b="1" dirty="0">
              <a:solidFill>
                <a:srgbClr val="FFFFFF"/>
              </a:solidFill>
            </a:endParaRPr>
          </a:p>
        </p:txBody>
      </p:sp>
      <p:pic>
        <p:nvPicPr>
          <p:cNvPr id="24" name="Picture 23" descr="system_of_multiple_AI_agents_to_automate_simulati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9008452"/>
            <a:ext cx="12710160" cy="98408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4400" y="29032200"/>
            <a:ext cx="13075920" cy="13388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0" i="1" dirty="0">
                <a:solidFill>
                  <a:srgbClr val="4A4A4A"/>
                </a:solidFill>
              </a:rPr>
              <a:t>Fig</a:t>
            </a:r>
            <a:r>
              <a:rPr lang="en-US" sz="2700" b="0" i="1" dirty="0">
                <a:solidFill>
                  <a:srgbClr val="4A4A4A"/>
                </a:solidFill>
              </a:rPr>
              <a:t>ure</a:t>
            </a:r>
            <a:r>
              <a:rPr sz="2700" b="0" i="1" dirty="0">
                <a:solidFill>
                  <a:srgbClr val="4A4A4A"/>
                </a:solidFill>
              </a:rPr>
              <a:t> 1</a:t>
            </a:r>
            <a:r>
              <a:rPr lang="en-US" sz="2700" b="0" i="1" dirty="0">
                <a:solidFill>
                  <a:srgbClr val="4A4A4A"/>
                </a:solidFill>
              </a:rPr>
              <a:t>:</a:t>
            </a:r>
            <a:r>
              <a:rPr sz="2700" b="0" i="1" dirty="0">
                <a:solidFill>
                  <a:srgbClr val="4A4A4A"/>
                </a:solidFill>
              </a:rPr>
              <a:t>  A Problem-Definition layer, an Orchestrator agent + shared</a:t>
            </a:r>
            <a:r>
              <a:rPr lang="en-US" sz="2700" b="0" i="1" dirty="0">
                <a:solidFill>
                  <a:srgbClr val="4A4A4A"/>
                </a:solidFill>
              </a:rPr>
              <a:t> </a:t>
            </a:r>
            <a:r>
              <a:rPr sz="2700" b="0" i="1" dirty="0">
                <a:solidFill>
                  <a:srgbClr val="4A4A4A"/>
                </a:solidFill>
              </a:rPr>
              <a:t>/</a:t>
            </a:r>
            <a:r>
              <a:rPr lang="en-US" sz="2700" b="0" i="1" dirty="0">
                <a:solidFill>
                  <a:srgbClr val="4A4A4A"/>
                </a:solidFill>
              </a:rPr>
              <a:t> </a:t>
            </a:r>
            <a:r>
              <a:rPr sz="2700" b="0" i="1" dirty="0">
                <a:solidFill>
                  <a:srgbClr val="4A4A4A"/>
                </a:solidFill>
              </a:rPr>
              <a:t>persistent memory (Workflow Control), and specialist Modeling / Numerical-Analysis / Code-Generation / Visualization agents (Agent Execution).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767559" y="19419843"/>
            <a:ext cx="13624560" cy="10846796"/>
          </a:xfrm>
          <a:prstGeom prst="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4767559" y="19419843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6</a:t>
            </a:r>
            <a:r>
              <a:rPr lang="en-US" sz="4000" b="1" dirty="0">
                <a:solidFill>
                  <a:srgbClr val="FFFFFF"/>
                </a:solidFill>
              </a:rPr>
              <a:t>.</a:t>
            </a:r>
            <a:r>
              <a:rPr sz="4000" b="1" dirty="0">
                <a:solidFill>
                  <a:srgbClr val="FFFFFF"/>
                </a:solidFill>
              </a:rPr>
              <a:t>  Real-machine equilibria</a:t>
            </a:r>
          </a:p>
        </p:txBody>
      </p:sp>
      <p:pic>
        <p:nvPicPr>
          <p:cNvPr id="28" name="Picture 27" descr="shaped_equilibri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24759" y="20791443"/>
            <a:ext cx="12710159" cy="80578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041880" y="29032200"/>
            <a:ext cx="13075920" cy="923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0" i="1" dirty="0">
                <a:solidFill>
                  <a:srgbClr val="4A4A4A"/>
                </a:solidFill>
              </a:rPr>
              <a:t>Fig</a:t>
            </a:r>
            <a:r>
              <a:rPr lang="en-US" sz="2700" b="0" i="1" dirty="0">
                <a:solidFill>
                  <a:srgbClr val="4A4A4A"/>
                </a:solidFill>
              </a:rPr>
              <a:t>ure</a:t>
            </a:r>
            <a:r>
              <a:rPr sz="2700" b="0" i="1" dirty="0">
                <a:solidFill>
                  <a:srgbClr val="4A4A4A"/>
                </a:solidFill>
              </a:rPr>
              <a:t> 2</a:t>
            </a:r>
            <a:r>
              <a:rPr lang="en-US" sz="2700" b="0" i="1" dirty="0">
                <a:solidFill>
                  <a:srgbClr val="4A4A4A"/>
                </a:solidFill>
              </a:rPr>
              <a:t>:</a:t>
            </a:r>
            <a:r>
              <a:rPr sz="2700" b="0" i="1" dirty="0">
                <a:solidFill>
                  <a:srgbClr val="4A4A4A"/>
                </a:solidFill>
              </a:rPr>
              <a:t>  One agent-generated solver → ITER, spherical-tokamak (NSTX-like) and diverted double-null (X-point) equilibria. Red = separatrix; × = X-points.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95039" y="4572000"/>
            <a:ext cx="13624560" cy="123215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8895039" y="457200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/>
          <a:p>
            <a:pPr algn="ctr"/>
            <a:r>
              <a:rPr sz="4000" b="1" dirty="0">
                <a:solidFill>
                  <a:srgbClr val="FFFFFF"/>
                </a:solidFill>
              </a:rPr>
              <a:t>7</a:t>
            </a:r>
            <a:r>
              <a:rPr lang="en-US" sz="4000" b="1" dirty="0">
                <a:solidFill>
                  <a:srgbClr val="FFFFFF"/>
                </a:solidFill>
              </a:rPr>
              <a:t>.</a:t>
            </a:r>
            <a:r>
              <a:rPr sz="4000" b="1" dirty="0">
                <a:solidFill>
                  <a:srgbClr val="FFFFFF"/>
                </a:solidFill>
              </a:rPr>
              <a:t>  Verification: </a:t>
            </a:r>
            <a:r>
              <a:rPr lang="en-US" sz="4000" b="1" dirty="0">
                <a:solidFill>
                  <a:srgbClr val="FFFFFF"/>
                </a:solidFill>
              </a:rPr>
              <a:t>second</a:t>
            </a:r>
            <a:r>
              <a:rPr sz="4000" b="1" dirty="0">
                <a:solidFill>
                  <a:srgbClr val="FFFFFF"/>
                </a:solidFill>
              </a:rPr>
              <a:t> order</a:t>
            </a:r>
          </a:p>
        </p:txBody>
      </p:sp>
      <p:pic>
        <p:nvPicPr>
          <p:cNvPr id="32" name="Picture 31" descr="shaped_convergenc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52239" y="5943600"/>
            <a:ext cx="12710159" cy="953261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/>
              <p:cNvSpPr txBox="1"/>
              <p:nvPr/>
            </p:nvSpPr>
            <p:spPr>
              <a:xfrm>
                <a:off x="29169360" y="15659100"/>
                <a:ext cx="13075920" cy="923330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600"/>
                  </a:spcAft>
                </a:pPr>
                <a:r>
                  <a:rPr sz="2700" b="0" i="1" dirty="0">
                    <a:solidFill>
                      <a:srgbClr val="4A4A4A"/>
                    </a:solidFill>
                  </a:rPr>
                  <a:t>Fig</a:t>
                </a:r>
                <a:r>
                  <a:rPr lang="en-US" sz="2700" b="0" i="1" dirty="0">
                    <a:solidFill>
                      <a:srgbClr val="4A4A4A"/>
                    </a:solidFill>
                  </a:rPr>
                  <a:t>ure</a:t>
                </a:r>
                <a:r>
                  <a:rPr sz="2700" b="0" i="1" dirty="0">
                    <a:solidFill>
                      <a:srgbClr val="4A4A4A"/>
                    </a:solidFill>
                  </a:rPr>
                  <a:t> 3</a:t>
                </a:r>
                <a:r>
                  <a:rPr lang="en-US" sz="2700" b="0" i="1" dirty="0">
                    <a:solidFill>
                      <a:srgbClr val="4A4A4A"/>
                    </a:solidFill>
                  </a:rPr>
                  <a:t>:</a:t>
                </a:r>
                <a:r>
                  <a:rPr sz="2700" b="0" i="1" dirty="0">
                    <a:solidFill>
                      <a:srgbClr val="4A4A4A"/>
                    </a:solidFill>
                  </a:rPr>
                  <a:t>  Method of manufactured solutions vs the exact </a:t>
                </a:r>
                <a:r>
                  <a:rPr sz="2700" b="0" i="1" dirty="0" err="1">
                    <a:solidFill>
                      <a:srgbClr val="4A4A4A"/>
                    </a:solidFill>
                  </a:rPr>
                  <a:t>Cerfon-Freidberg</a:t>
                </a:r>
                <a:r>
                  <a:rPr sz="2700" b="0" i="1" dirty="0">
                    <a:solidFill>
                      <a:srgbClr val="4A4A4A"/>
                    </a:solidFill>
                  </a:rPr>
                  <a:t> solution: observed order </a:t>
                </a:r>
                <a14:m>
                  <m:oMath xmlns:m="http://schemas.openxmlformats.org/officeDocument/2006/math">
                    <m:r>
                      <a:rPr lang="en-US" sz="2700" b="0" i="1" dirty="0" smtClean="0">
                        <a:solidFill>
                          <a:srgbClr val="4A4A4A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700" b="0" i="1" dirty="0" smtClean="0">
                        <a:solidFill>
                          <a:srgbClr val="4A4A4A"/>
                        </a:solidFill>
                        <a:latin typeface="Cambria Math" panose="02040503050406030204" pitchFamily="18" charset="0"/>
                      </a:rPr>
                      <m:t>=2.00 </m:t>
                    </m:r>
                  </m:oMath>
                </a14:m>
                <a:r>
                  <a:rPr sz="2700" b="0" i="1" dirty="0">
                    <a:solidFill>
                      <a:srgbClr val="4A4A4A"/>
                    </a:solidFill>
                  </a:rPr>
                  <a:t>for all three machines.</a:t>
                </a:r>
              </a:p>
            </p:txBody>
          </p:sp>
        </mc:Choice>
        <mc:Fallback>
          <p:sp>
            <p:nvSpPr>
              <p:cNvPr id="33" name="TextBox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0" y="15659100"/>
                <a:ext cx="13075920" cy="923330"/>
              </a:xfrm>
              <a:prstGeom prst="rect">
                <a:avLst/>
              </a:prstGeom>
              <a:blipFill>
                <a:blip r:embed="rId8"/>
                <a:stretch>
                  <a:fillRect l="-886" t="-5960" b="-16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/>
          <p:cNvSpPr/>
          <p:nvPr/>
        </p:nvSpPr>
        <p:spPr>
          <a:xfrm>
            <a:off x="640080" y="30403800"/>
            <a:ext cx="42611040" cy="27432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ANL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2007" y="30815280"/>
            <a:ext cx="4562721" cy="1371600"/>
          </a:xfrm>
          <a:prstGeom prst="rect">
            <a:avLst/>
          </a:prstGeom>
        </p:spPr>
      </p:pic>
      <p:pic>
        <p:nvPicPr>
          <p:cNvPr id="36" name="Picture 35" descr="PETSc_TAO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2518" y="30815280"/>
            <a:ext cx="8922827" cy="1371600"/>
          </a:xfrm>
          <a:prstGeom prst="rect">
            <a:avLst/>
          </a:prstGeom>
        </p:spPr>
      </p:pic>
      <p:pic>
        <p:nvPicPr>
          <p:cNvPr id="37" name="Picture 36" descr="SUNY_Buffalo_logo_rg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675535" y="30815280"/>
            <a:ext cx="4530157" cy="13716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6FA6BCF0-8BBC-C6AF-BE37-1CDF5332C6A5}"/>
              </a:ext>
            </a:extLst>
          </p:cNvPr>
          <p:cNvSpPr txBox="1"/>
          <p:nvPr/>
        </p:nvSpPr>
        <p:spPr>
          <a:xfrm>
            <a:off x="23602950" y="30815280"/>
            <a:ext cx="192024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This work was partially supported by the US Department of Energy’s Office of Science “Distinguished Scientist Fellows” Program. </a:t>
            </a:r>
          </a:p>
          <a:p>
            <a:r>
              <a:rPr lang="en-US" sz="2800" dirty="0"/>
              <a:t>This work used ANL CELS General Computing Environment: </a:t>
            </a:r>
            <a:r>
              <a:rPr lang="en-US" sz="2800" dirty="0">
                <a:hlinkClick r:id="rId12"/>
              </a:rPr>
              <a:t>https://help.cels.anl.gov/docs/linux/</a:t>
            </a:r>
            <a:endParaRPr lang="en-US" sz="2800" dirty="0"/>
          </a:p>
          <a:p>
            <a:r>
              <a:rPr lang="en-US" sz="2800" dirty="0" err="1"/>
              <a:t>PETSc</a:t>
            </a:r>
            <a:r>
              <a:rPr lang="en-US" sz="2800" dirty="0"/>
              <a:t> AI website: </a:t>
            </a:r>
            <a:r>
              <a:rPr lang="en-US" sz="2800" dirty="0">
                <a:hlinkClick r:id="rId13"/>
              </a:rPr>
              <a:t>https://petsc-ai.org/</a:t>
            </a:r>
            <a:r>
              <a:rPr lang="en-US" sz="2800" dirty="0"/>
              <a:t>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801</Words>
  <Application>Microsoft Office PowerPoint</Application>
  <PresentationFormat>Custom</PresentationFormat>
  <Paragraphs>50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Cambria Math</vt:lpstr>
      <vt:lpstr>Consolas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System of Multiple AI Agents for Automating Tokamak-Plasma Simulation for Nuclear Fusion Energy.</dc:title>
  <dc:subject/>
  <dc:creator>Sarthak Sharma</dc:creator>
  <cp:keywords/>
  <dc:description>generated using python-pptx</dc:description>
  <cp:lastModifiedBy>Sarthak Sharma</cp:lastModifiedBy>
  <cp:revision>4</cp:revision>
  <dcterms:created xsi:type="dcterms:W3CDTF">2013-01-27T09:14:16Z</dcterms:created>
  <dcterms:modified xsi:type="dcterms:W3CDTF">2026-08-06T08:24:16Z</dcterms:modified>
  <cp:category/>
</cp:coreProperties>
</file>